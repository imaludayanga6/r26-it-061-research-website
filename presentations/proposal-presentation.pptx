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4" r:id="rId4"/>
  </p:sldMasterIdLst>
  <p:notesMasterIdLst>
    <p:notesMasterId r:id="rId63"/>
  </p:notesMasterIdLst>
  <p:handoutMasterIdLst>
    <p:handoutMasterId r:id="rId64"/>
  </p:handoutMasterIdLst>
  <p:sldIdLst>
    <p:sldId id="277" r:id="rId5"/>
    <p:sldId id="292" r:id="rId6"/>
    <p:sldId id="293" r:id="rId7"/>
    <p:sldId id="371" r:id="rId8"/>
    <p:sldId id="360" r:id="rId9"/>
    <p:sldId id="297" r:id="rId10"/>
    <p:sldId id="370" r:id="rId11"/>
    <p:sldId id="294" r:id="rId12"/>
    <p:sldId id="362" r:id="rId13"/>
    <p:sldId id="363" r:id="rId14"/>
    <p:sldId id="296" r:id="rId15"/>
    <p:sldId id="264" r:id="rId16"/>
    <p:sldId id="351" r:id="rId17"/>
    <p:sldId id="372" r:id="rId18"/>
    <p:sldId id="373" r:id="rId19"/>
    <p:sldId id="374" r:id="rId20"/>
    <p:sldId id="375" r:id="rId21"/>
    <p:sldId id="376" r:id="rId22"/>
    <p:sldId id="377" r:id="rId23"/>
    <p:sldId id="365" r:id="rId24"/>
    <p:sldId id="366" r:id="rId25"/>
    <p:sldId id="407" r:id="rId26"/>
    <p:sldId id="320" r:id="rId27"/>
    <p:sldId id="356" r:id="rId28"/>
    <p:sldId id="378" r:id="rId29"/>
    <p:sldId id="384" r:id="rId30"/>
    <p:sldId id="379" r:id="rId31"/>
    <p:sldId id="380" r:id="rId32"/>
    <p:sldId id="381" r:id="rId33"/>
    <p:sldId id="382" r:id="rId34"/>
    <p:sldId id="383" r:id="rId35"/>
    <p:sldId id="408" r:id="rId36"/>
    <p:sldId id="334" r:id="rId37"/>
    <p:sldId id="385" r:id="rId38"/>
    <p:sldId id="386" r:id="rId39"/>
    <p:sldId id="387" r:id="rId40"/>
    <p:sldId id="388" r:id="rId41"/>
    <p:sldId id="389" r:id="rId42"/>
    <p:sldId id="390" r:id="rId43"/>
    <p:sldId id="391" r:id="rId44"/>
    <p:sldId id="392" r:id="rId45"/>
    <p:sldId id="409" r:id="rId46"/>
    <p:sldId id="393" r:id="rId47"/>
    <p:sldId id="394" r:id="rId48"/>
    <p:sldId id="395" r:id="rId49"/>
    <p:sldId id="396" r:id="rId50"/>
    <p:sldId id="397" r:id="rId51"/>
    <p:sldId id="398" r:id="rId52"/>
    <p:sldId id="399" r:id="rId53"/>
    <p:sldId id="400" r:id="rId54"/>
    <p:sldId id="410" r:id="rId55"/>
    <p:sldId id="332" r:id="rId56"/>
    <p:sldId id="402" r:id="rId57"/>
    <p:sldId id="403" r:id="rId58"/>
    <p:sldId id="404" r:id="rId59"/>
    <p:sldId id="405" r:id="rId60"/>
    <p:sldId id="406" r:id="rId61"/>
    <p:sldId id="349"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7A5C"/>
    <a:srgbClr val="134F12"/>
    <a:srgbClr val="0878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AAE38-79BE-4082-9A4D-2BEC47341C04}" type="datetimeFigureOut">
              <a:rPr lang="en-US" smtClean="0"/>
              <a:t>3/16/2026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F15613-D24F-46B4-9010-BD7B318E3C30}" type="slidenum">
              <a:rPr lang="en-US" smtClean="0"/>
              <a:t>‹#›</a:t>
            </a:fld>
            <a:endParaRPr lang="en-US"/>
          </a:p>
        </p:txBody>
      </p:sp>
    </p:spTree>
    <p:extLst>
      <p:ext uri="{BB962C8B-B14F-4D97-AF65-F5344CB8AC3E}">
        <p14:creationId xmlns:p14="http://schemas.microsoft.com/office/powerpoint/2010/main" val="2864050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BCF22-2D75-4779-9C8B-6270AA3FA919}"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B8AC8-E212-48B2-9917-7448FC83DD17}" type="slidenum">
              <a:rPr lang="en-US" smtClean="0"/>
              <a:t>‹#›</a:t>
            </a:fld>
            <a:endParaRPr lang="en-US"/>
          </a:p>
        </p:txBody>
      </p:sp>
    </p:spTree>
    <p:extLst>
      <p:ext uri="{BB962C8B-B14F-4D97-AF65-F5344CB8AC3E}">
        <p14:creationId xmlns:p14="http://schemas.microsoft.com/office/powerpoint/2010/main" val="178659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0B8AC8-E212-48B2-9917-7448FC83DD17}" type="slidenum">
              <a:rPr lang="en-US" smtClean="0"/>
              <a:t>34</a:t>
            </a:fld>
            <a:endParaRPr lang="en-US"/>
          </a:p>
        </p:txBody>
      </p:sp>
    </p:spTree>
    <p:extLst>
      <p:ext uri="{BB962C8B-B14F-4D97-AF65-F5344CB8AC3E}">
        <p14:creationId xmlns:p14="http://schemas.microsoft.com/office/powerpoint/2010/main" val="2240321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0B8AC8-E212-48B2-9917-7448FC83DD17}" type="slidenum">
              <a:rPr lang="en-US" smtClean="0"/>
              <a:t>56</a:t>
            </a:fld>
            <a:endParaRPr lang="en-US"/>
          </a:p>
        </p:txBody>
      </p:sp>
    </p:spTree>
    <p:extLst>
      <p:ext uri="{BB962C8B-B14F-4D97-AF65-F5344CB8AC3E}">
        <p14:creationId xmlns:p14="http://schemas.microsoft.com/office/powerpoint/2010/main" val="1841044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8D4F4-5AE0-690F-90E8-61E79E9126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9F685D-99CB-1142-5826-B32BDF6A07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9AE992-F34B-C393-2025-FDD2D668A7C2}"/>
              </a:ext>
            </a:extLst>
          </p:cNvPr>
          <p:cNvSpPr>
            <a:spLocks noGrp="1"/>
          </p:cNvSpPr>
          <p:nvPr>
            <p:ph type="dt" sz="half" idx="10"/>
          </p:nvPr>
        </p:nvSpPr>
        <p:spPr/>
        <p:txBody>
          <a:bodyPr/>
          <a:lstStyle/>
          <a:p>
            <a:fld id="{B6BA776B-B867-41B2-BC1F-3B6B77FE71FB}" type="datetimeFigureOut">
              <a:rPr lang="en-US" smtClean="0"/>
              <a:t>3/16/2026</a:t>
            </a:fld>
            <a:endParaRPr lang="en-US"/>
          </a:p>
        </p:txBody>
      </p:sp>
      <p:sp>
        <p:nvSpPr>
          <p:cNvPr id="5" name="Footer Placeholder 4">
            <a:extLst>
              <a:ext uri="{FF2B5EF4-FFF2-40B4-BE49-F238E27FC236}">
                <a16:creationId xmlns:a16="http://schemas.microsoft.com/office/drawing/2014/main" id="{B68A214B-8034-62F6-DDDD-D2CD47579D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121AF3-8B80-0806-D3EA-F1769AD39CA5}"/>
              </a:ext>
            </a:extLst>
          </p:cNvPr>
          <p:cNvSpPr>
            <a:spLocks noGrp="1"/>
          </p:cNvSpPr>
          <p:nvPr>
            <p:ph type="sldNum" sz="quarter" idx="12"/>
          </p:nvPr>
        </p:nvSpPr>
        <p:spPr/>
        <p:txBody>
          <a:bodyPr/>
          <a:lstStyle/>
          <a:p>
            <a:fld id="{3492B72E-B18F-4181-810B-2EF1E5D9D01F}" type="slidenum">
              <a:rPr lang="en-US" smtClean="0"/>
              <a:t>‹#›</a:t>
            </a:fld>
            <a:endParaRPr lang="en-US"/>
          </a:p>
        </p:txBody>
      </p:sp>
    </p:spTree>
    <p:extLst>
      <p:ext uri="{BB962C8B-B14F-4D97-AF65-F5344CB8AC3E}">
        <p14:creationId xmlns:p14="http://schemas.microsoft.com/office/powerpoint/2010/main" val="2044065343"/>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D8B38-ED20-B8FF-0B16-B97E7032BF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EF5D80-21E2-0F67-6A40-F2DF5AD0BD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23628-6BFC-EDC0-FED3-58A36CC8E79B}"/>
              </a:ext>
            </a:extLst>
          </p:cNvPr>
          <p:cNvSpPr>
            <a:spLocks noGrp="1"/>
          </p:cNvSpPr>
          <p:nvPr>
            <p:ph type="dt" sz="half" idx="10"/>
          </p:nvPr>
        </p:nvSpPr>
        <p:spPr/>
        <p:txBody>
          <a:bodyPr/>
          <a:lstStyle/>
          <a:p>
            <a:fld id="{B6BA776B-B867-41B2-BC1F-3B6B77FE71FB}" type="datetimeFigureOut">
              <a:rPr lang="en-US" smtClean="0"/>
              <a:t>3/16/2026</a:t>
            </a:fld>
            <a:endParaRPr lang="en-US"/>
          </a:p>
        </p:txBody>
      </p:sp>
      <p:sp>
        <p:nvSpPr>
          <p:cNvPr id="5" name="Footer Placeholder 4">
            <a:extLst>
              <a:ext uri="{FF2B5EF4-FFF2-40B4-BE49-F238E27FC236}">
                <a16:creationId xmlns:a16="http://schemas.microsoft.com/office/drawing/2014/main" id="{508E7033-3A9E-5639-811F-AC79351DC3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AC938D-7256-9030-ED3D-50E5DFB59256}"/>
              </a:ext>
            </a:extLst>
          </p:cNvPr>
          <p:cNvSpPr>
            <a:spLocks noGrp="1"/>
          </p:cNvSpPr>
          <p:nvPr>
            <p:ph type="sldNum" sz="quarter" idx="12"/>
          </p:nvPr>
        </p:nvSpPr>
        <p:spPr/>
        <p:txBody>
          <a:bodyPr/>
          <a:lstStyle/>
          <a:p>
            <a:fld id="{3492B72E-B18F-4181-810B-2EF1E5D9D01F}" type="slidenum">
              <a:rPr lang="en-US" smtClean="0"/>
              <a:t>‹#›</a:t>
            </a:fld>
            <a:endParaRPr lang="en-US"/>
          </a:p>
        </p:txBody>
      </p:sp>
    </p:spTree>
    <p:extLst>
      <p:ext uri="{BB962C8B-B14F-4D97-AF65-F5344CB8AC3E}">
        <p14:creationId xmlns:p14="http://schemas.microsoft.com/office/powerpoint/2010/main" val="1401524051"/>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9E528-7486-E9D9-52A0-7CD72EC764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F75066-ADC4-59FE-36CF-8D69916B06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90A3A9-4EF8-AD12-3EFA-2FDB87BC35D3}"/>
              </a:ext>
            </a:extLst>
          </p:cNvPr>
          <p:cNvSpPr>
            <a:spLocks noGrp="1"/>
          </p:cNvSpPr>
          <p:nvPr>
            <p:ph type="dt" sz="half" idx="10"/>
          </p:nvPr>
        </p:nvSpPr>
        <p:spPr/>
        <p:txBody>
          <a:bodyPr/>
          <a:lstStyle/>
          <a:p>
            <a:fld id="{B6BA776B-B867-41B2-BC1F-3B6B77FE71FB}" type="datetimeFigureOut">
              <a:rPr lang="en-US" smtClean="0"/>
              <a:t>3/16/2026</a:t>
            </a:fld>
            <a:endParaRPr lang="en-US"/>
          </a:p>
        </p:txBody>
      </p:sp>
      <p:sp>
        <p:nvSpPr>
          <p:cNvPr id="5" name="Footer Placeholder 4">
            <a:extLst>
              <a:ext uri="{FF2B5EF4-FFF2-40B4-BE49-F238E27FC236}">
                <a16:creationId xmlns:a16="http://schemas.microsoft.com/office/drawing/2014/main" id="{0CBA801F-D186-49F4-61F8-0E5624506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FE1D81-0CC6-495F-16A4-02331ADEDF2E}"/>
              </a:ext>
            </a:extLst>
          </p:cNvPr>
          <p:cNvSpPr>
            <a:spLocks noGrp="1"/>
          </p:cNvSpPr>
          <p:nvPr>
            <p:ph type="sldNum" sz="quarter" idx="12"/>
          </p:nvPr>
        </p:nvSpPr>
        <p:spPr/>
        <p:txBody>
          <a:bodyPr/>
          <a:lstStyle/>
          <a:p>
            <a:fld id="{3492B72E-B18F-4181-810B-2EF1E5D9D01F}" type="slidenum">
              <a:rPr lang="en-US" smtClean="0"/>
              <a:t>‹#›</a:t>
            </a:fld>
            <a:endParaRPr lang="en-US"/>
          </a:p>
        </p:txBody>
      </p:sp>
      <p:sp>
        <p:nvSpPr>
          <p:cNvPr id="7" name="Rectangle 6">
            <a:extLst>
              <a:ext uri="{FF2B5EF4-FFF2-40B4-BE49-F238E27FC236}">
                <a16:creationId xmlns:a16="http://schemas.microsoft.com/office/drawing/2014/main" id="{FB6B92C1-3921-843A-B019-BBDF9696BA0C}"/>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ITXXXXXXXX</a:t>
            </a:r>
            <a:r>
              <a:rPr lang="en-US" sz="1800">
                <a:solidFill>
                  <a:schemeClr val="tx1"/>
                </a:solidFill>
              </a:rPr>
              <a:t>   |   &lt;</a:t>
            </a:r>
            <a:r>
              <a:rPr lang="en-US" sz="1800" b="1">
                <a:solidFill>
                  <a:schemeClr val="tx1"/>
                </a:solidFill>
              </a:rPr>
              <a:t>&lt;Student Name&gt;&gt;   </a:t>
            </a:r>
            <a:r>
              <a:rPr lang="en-US" sz="1800">
                <a:solidFill>
                  <a:schemeClr val="tx1"/>
                </a:solidFill>
              </a:rPr>
              <a:t>|   </a:t>
            </a:r>
            <a:r>
              <a:rPr lang="en-US" sz="1800" b="0">
                <a:solidFill>
                  <a:schemeClr val="tx1"/>
                </a:solidFill>
              </a:rPr>
              <a:t>&lt;&lt;Project ID&gt;&gt;</a:t>
            </a:r>
          </a:p>
        </p:txBody>
      </p:sp>
    </p:spTree>
    <p:extLst>
      <p:ext uri="{BB962C8B-B14F-4D97-AF65-F5344CB8AC3E}">
        <p14:creationId xmlns:p14="http://schemas.microsoft.com/office/powerpoint/2010/main" val="2993624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A21F-115E-451C-B508-72418D5E6D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AEF77B-26EC-CFEA-5BD5-AAC3464238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4BA67F-DEF9-C026-7DE2-9785A885BE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F0B877-D61A-4054-C027-3665A07B3351}"/>
              </a:ext>
            </a:extLst>
          </p:cNvPr>
          <p:cNvSpPr>
            <a:spLocks noGrp="1"/>
          </p:cNvSpPr>
          <p:nvPr>
            <p:ph type="dt" sz="half" idx="10"/>
          </p:nvPr>
        </p:nvSpPr>
        <p:spPr/>
        <p:txBody>
          <a:bodyPr/>
          <a:lstStyle/>
          <a:p>
            <a:fld id="{B6BA776B-B867-41B2-BC1F-3B6B77FE71FB}" type="datetimeFigureOut">
              <a:rPr lang="en-US" smtClean="0"/>
              <a:t>3/16/2026</a:t>
            </a:fld>
            <a:endParaRPr lang="en-US"/>
          </a:p>
        </p:txBody>
      </p:sp>
      <p:sp>
        <p:nvSpPr>
          <p:cNvPr id="6" name="Footer Placeholder 5">
            <a:extLst>
              <a:ext uri="{FF2B5EF4-FFF2-40B4-BE49-F238E27FC236}">
                <a16:creationId xmlns:a16="http://schemas.microsoft.com/office/drawing/2014/main" id="{9B78E71E-EC17-10F8-57D6-D721618D9F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45F6EE-ACB4-F25F-C4FC-526A77158B6C}"/>
              </a:ext>
            </a:extLst>
          </p:cNvPr>
          <p:cNvSpPr>
            <a:spLocks noGrp="1"/>
          </p:cNvSpPr>
          <p:nvPr>
            <p:ph type="sldNum" sz="quarter" idx="12"/>
          </p:nvPr>
        </p:nvSpPr>
        <p:spPr/>
        <p:txBody>
          <a:bodyPr/>
          <a:lstStyle/>
          <a:p>
            <a:fld id="{3492B72E-B18F-4181-810B-2EF1E5D9D01F}" type="slidenum">
              <a:rPr lang="en-US" smtClean="0"/>
              <a:t>‹#›</a:t>
            </a:fld>
            <a:endParaRPr lang="en-US"/>
          </a:p>
        </p:txBody>
      </p:sp>
    </p:spTree>
    <p:extLst>
      <p:ext uri="{BB962C8B-B14F-4D97-AF65-F5344CB8AC3E}">
        <p14:creationId xmlns:p14="http://schemas.microsoft.com/office/powerpoint/2010/main" val="3847263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8A82-5B7F-939E-1310-E3E60ECB02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27EED9-13F7-80E0-9F49-01F0F591D9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A2A20D-2155-D1D0-73BD-4D4AA2EA0C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7883FB-7863-E81E-5043-4D09C8D9A7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14CAA7-326A-E7EA-589C-E5F21DB5A2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DCD065-B5E1-6AA4-90E9-8035C2324D91}"/>
              </a:ext>
            </a:extLst>
          </p:cNvPr>
          <p:cNvSpPr>
            <a:spLocks noGrp="1"/>
          </p:cNvSpPr>
          <p:nvPr>
            <p:ph type="dt" sz="half" idx="10"/>
          </p:nvPr>
        </p:nvSpPr>
        <p:spPr/>
        <p:txBody>
          <a:bodyPr/>
          <a:lstStyle/>
          <a:p>
            <a:fld id="{B6BA776B-B867-41B2-BC1F-3B6B77FE71FB}" type="datetimeFigureOut">
              <a:rPr lang="en-US" smtClean="0"/>
              <a:t>3/16/2026</a:t>
            </a:fld>
            <a:endParaRPr lang="en-US"/>
          </a:p>
        </p:txBody>
      </p:sp>
      <p:sp>
        <p:nvSpPr>
          <p:cNvPr id="8" name="Footer Placeholder 7">
            <a:extLst>
              <a:ext uri="{FF2B5EF4-FFF2-40B4-BE49-F238E27FC236}">
                <a16:creationId xmlns:a16="http://schemas.microsoft.com/office/drawing/2014/main" id="{F49D8A67-9218-D414-A1D6-53E6F1B8F4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272029-1060-6B40-6C67-98BD25B5A0EB}"/>
              </a:ext>
            </a:extLst>
          </p:cNvPr>
          <p:cNvSpPr>
            <a:spLocks noGrp="1"/>
          </p:cNvSpPr>
          <p:nvPr>
            <p:ph type="sldNum" sz="quarter" idx="12"/>
          </p:nvPr>
        </p:nvSpPr>
        <p:spPr/>
        <p:txBody>
          <a:bodyPr/>
          <a:lstStyle/>
          <a:p>
            <a:fld id="{3492B72E-B18F-4181-810B-2EF1E5D9D01F}" type="slidenum">
              <a:rPr lang="en-US" smtClean="0"/>
              <a:t>‹#›</a:t>
            </a:fld>
            <a:endParaRPr lang="en-US"/>
          </a:p>
        </p:txBody>
      </p:sp>
    </p:spTree>
    <p:extLst>
      <p:ext uri="{BB962C8B-B14F-4D97-AF65-F5344CB8AC3E}">
        <p14:creationId xmlns:p14="http://schemas.microsoft.com/office/powerpoint/2010/main" val="2819078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374C5-D2EB-BCF2-4E17-D753CC0305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39DC3A-E9B6-FF3A-CB13-8C1B84DE4299}"/>
              </a:ext>
            </a:extLst>
          </p:cNvPr>
          <p:cNvSpPr>
            <a:spLocks noGrp="1"/>
          </p:cNvSpPr>
          <p:nvPr>
            <p:ph type="dt" sz="half" idx="10"/>
          </p:nvPr>
        </p:nvSpPr>
        <p:spPr/>
        <p:txBody>
          <a:bodyPr/>
          <a:lstStyle/>
          <a:p>
            <a:fld id="{B6BA776B-B867-41B2-BC1F-3B6B77FE71FB}" type="datetimeFigureOut">
              <a:rPr lang="en-US" smtClean="0"/>
              <a:t>3/16/2026</a:t>
            </a:fld>
            <a:endParaRPr lang="en-US"/>
          </a:p>
        </p:txBody>
      </p:sp>
      <p:sp>
        <p:nvSpPr>
          <p:cNvPr id="4" name="Footer Placeholder 3">
            <a:extLst>
              <a:ext uri="{FF2B5EF4-FFF2-40B4-BE49-F238E27FC236}">
                <a16:creationId xmlns:a16="http://schemas.microsoft.com/office/drawing/2014/main" id="{F8531B55-AED7-572E-3021-4E53776D3B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BB3D75-6816-66B4-7272-85B3781CBE88}"/>
              </a:ext>
            </a:extLst>
          </p:cNvPr>
          <p:cNvSpPr>
            <a:spLocks noGrp="1"/>
          </p:cNvSpPr>
          <p:nvPr>
            <p:ph type="sldNum" sz="quarter" idx="12"/>
          </p:nvPr>
        </p:nvSpPr>
        <p:spPr/>
        <p:txBody>
          <a:bodyPr/>
          <a:lstStyle/>
          <a:p>
            <a:fld id="{3492B72E-B18F-4181-810B-2EF1E5D9D01F}" type="slidenum">
              <a:rPr lang="en-US" smtClean="0"/>
              <a:t>‹#›</a:t>
            </a:fld>
            <a:endParaRPr lang="en-US"/>
          </a:p>
        </p:txBody>
      </p:sp>
    </p:spTree>
    <p:extLst>
      <p:ext uri="{BB962C8B-B14F-4D97-AF65-F5344CB8AC3E}">
        <p14:creationId xmlns:p14="http://schemas.microsoft.com/office/powerpoint/2010/main" val="1930544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02C172-A97A-5FEB-5B46-9EDD3103CF71}"/>
              </a:ext>
            </a:extLst>
          </p:cNvPr>
          <p:cNvSpPr>
            <a:spLocks noGrp="1"/>
          </p:cNvSpPr>
          <p:nvPr>
            <p:ph type="dt" sz="half" idx="10"/>
          </p:nvPr>
        </p:nvSpPr>
        <p:spPr/>
        <p:txBody>
          <a:bodyPr/>
          <a:lstStyle/>
          <a:p>
            <a:fld id="{B6BA776B-B867-41B2-BC1F-3B6B77FE71FB}" type="datetimeFigureOut">
              <a:rPr lang="en-US" smtClean="0"/>
              <a:t>3/16/2026</a:t>
            </a:fld>
            <a:endParaRPr lang="en-US"/>
          </a:p>
        </p:txBody>
      </p:sp>
      <p:sp>
        <p:nvSpPr>
          <p:cNvPr id="3" name="Footer Placeholder 2">
            <a:extLst>
              <a:ext uri="{FF2B5EF4-FFF2-40B4-BE49-F238E27FC236}">
                <a16:creationId xmlns:a16="http://schemas.microsoft.com/office/drawing/2014/main" id="{AC7D1592-6C4D-D030-97ED-E703D60E2A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98926A-EFE2-136D-2FB8-80F4458597E5}"/>
              </a:ext>
            </a:extLst>
          </p:cNvPr>
          <p:cNvSpPr>
            <a:spLocks noGrp="1"/>
          </p:cNvSpPr>
          <p:nvPr>
            <p:ph type="sldNum" sz="quarter" idx="12"/>
          </p:nvPr>
        </p:nvSpPr>
        <p:spPr/>
        <p:txBody>
          <a:bodyPr/>
          <a:lstStyle/>
          <a:p>
            <a:fld id="{3492B72E-B18F-4181-810B-2EF1E5D9D01F}" type="slidenum">
              <a:rPr lang="en-US" smtClean="0"/>
              <a:t>‹#›</a:t>
            </a:fld>
            <a:endParaRPr lang="en-US"/>
          </a:p>
        </p:txBody>
      </p:sp>
      <p:sp>
        <p:nvSpPr>
          <p:cNvPr id="5" name="二等辺三角形 9">
            <a:extLst>
              <a:ext uri="{FF2B5EF4-FFF2-40B4-BE49-F238E27FC236}">
                <a16:creationId xmlns:a16="http://schemas.microsoft.com/office/drawing/2014/main" id="{0E401FCB-848D-4F53-9175-980131BEDAB0}"/>
              </a:ext>
            </a:extLst>
          </p:cNvPr>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6" name="二等辺三角形 10">
            <a:extLst>
              <a:ext uri="{FF2B5EF4-FFF2-40B4-BE49-F238E27FC236}">
                <a16:creationId xmlns:a16="http://schemas.microsoft.com/office/drawing/2014/main" id="{3C2F3CDD-CE6A-07B1-1EE8-C4DD59488CDB}"/>
              </a:ext>
            </a:extLst>
          </p:cNvPr>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7" name="Slide Number Placeholder 5">
            <a:extLst>
              <a:ext uri="{FF2B5EF4-FFF2-40B4-BE49-F238E27FC236}">
                <a16:creationId xmlns:a16="http://schemas.microsoft.com/office/drawing/2014/main" id="{E8F10AAD-AD72-9D9F-2B7F-AA95A7B0479F}"/>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spTree>
    <p:extLst>
      <p:ext uri="{BB962C8B-B14F-4D97-AF65-F5344CB8AC3E}">
        <p14:creationId xmlns:p14="http://schemas.microsoft.com/office/powerpoint/2010/main" val="1062328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30080-D89E-2E22-E9AB-91C606943D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670E26-E02D-E52E-6036-58EB819980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F07A1E-75F5-B07E-75FC-85337E4942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193E39-8037-BF0E-4CF1-C3E26C87F7E2}"/>
              </a:ext>
            </a:extLst>
          </p:cNvPr>
          <p:cNvSpPr>
            <a:spLocks noGrp="1"/>
          </p:cNvSpPr>
          <p:nvPr>
            <p:ph type="dt" sz="half" idx="10"/>
          </p:nvPr>
        </p:nvSpPr>
        <p:spPr/>
        <p:txBody>
          <a:bodyPr/>
          <a:lstStyle/>
          <a:p>
            <a:fld id="{B6BA776B-B867-41B2-BC1F-3B6B77FE71FB}" type="datetimeFigureOut">
              <a:rPr lang="en-US" smtClean="0"/>
              <a:t>3/16/2026</a:t>
            </a:fld>
            <a:endParaRPr lang="en-US"/>
          </a:p>
        </p:txBody>
      </p:sp>
      <p:sp>
        <p:nvSpPr>
          <p:cNvPr id="6" name="Footer Placeholder 5">
            <a:extLst>
              <a:ext uri="{FF2B5EF4-FFF2-40B4-BE49-F238E27FC236}">
                <a16:creationId xmlns:a16="http://schemas.microsoft.com/office/drawing/2014/main" id="{3FEEAC65-8A25-2940-9D75-0A2F6A282F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73C290-2B2A-06A6-133A-51A4103A6977}"/>
              </a:ext>
            </a:extLst>
          </p:cNvPr>
          <p:cNvSpPr>
            <a:spLocks noGrp="1"/>
          </p:cNvSpPr>
          <p:nvPr>
            <p:ph type="sldNum" sz="quarter" idx="12"/>
          </p:nvPr>
        </p:nvSpPr>
        <p:spPr/>
        <p:txBody>
          <a:bodyPr/>
          <a:lstStyle/>
          <a:p>
            <a:fld id="{3492B72E-B18F-4181-810B-2EF1E5D9D01F}" type="slidenum">
              <a:rPr lang="en-US" smtClean="0"/>
              <a:t>‹#›</a:t>
            </a:fld>
            <a:endParaRPr lang="en-US"/>
          </a:p>
        </p:txBody>
      </p:sp>
      <p:sp>
        <p:nvSpPr>
          <p:cNvPr id="8" name="二等辺三角形 11">
            <a:extLst>
              <a:ext uri="{FF2B5EF4-FFF2-40B4-BE49-F238E27FC236}">
                <a16:creationId xmlns:a16="http://schemas.microsoft.com/office/drawing/2014/main" id="{A4DB24B7-FCD1-3B65-F89B-2AD1336D356D}"/>
              </a:ext>
            </a:extLst>
          </p:cNvPr>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9" name="二等辺三角形 9">
            <a:extLst>
              <a:ext uri="{FF2B5EF4-FFF2-40B4-BE49-F238E27FC236}">
                <a16:creationId xmlns:a16="http://schemas.microsoft.com/office/drawing/2014/main" id="{754912CA-5C48-F4FF-5FB2-4E4EF707A4E6}"/>
              </a:ext>
            </a:extLst>
          </p:cNvPr>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0" name="二等辺三角形 10">
            <a:extLst>
              <a:ext uri="{FF2B5EF4-FFF2-40B4-BE49-F238E27FC236}">
                <a16:creationId xmlns:a16="http://schemas.microsoft.com/office/drawing/2014/main" id="{30720471-98C9-E06F-FDDC-40A81E13597F}"/>
              </a:ext>
            </a:extLst>
          </p:cNvPr>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18465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1B5E8-3EC5-4486-DE53-4B5767DCD0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6CD30F-4D1E-CE9F-94B0-AE03AEC5B8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61C04A-D35B-0FC2-B5BA-B4A06B7A58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991C17-BA00-0411-E8A3-6B3FA5F58B5B}"/>
              </a:ext>
            </a:extLst>
          </p:cNvPr>
          <p:cNvSpPr>
            <a:spLocks noGrp="1"/>
          </p:cNvSpPr>
          <p:nvPr>
            <p:ph type="dt" sz="half" idx="10"/>
          </p:nvPr>
        </p:nvSpPr>
        <p:spPr/>
        <p:txBody>
          <a:bodyPr/>
          <a:lstStyle/>
          <a:p>
            <a:fld id="{B6BA776B-B867-41B2-BC1F-3B6B77FE71FB}" type="datetimeFigureOut">
              <a:rPr lang="en-US" smtClean="0"/>
              <a:t>3/16/2026</a:t>
            </a:fld>
            <a:endParaRPr lang="en-US"/>
          </a:p>
        </p:txBody>
      </p:sp>
      <p:sp>
        <p:nvSpPr>
          <p:cNvPr id="6" name="Footer Placeholder 5">
            <a:extLst>
              <a:ext uri="{FF2B5EF4-FFF2-40B4-BE49-F238E27FC236}">
                <a16:creationId xmlns:a16="http://schemas.microsoft.com/office/drawing/2014/main" id="{94D4E45D-2FE0-7B08-DFB5-59D9E10D61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09586D-75E3-EC93-B87C-5D707D0A1C2C}"/>
              </a:ext>
            </a:extLst>
          </p:cNvPr>
          <p:cNvSpPr>
            <a:spLocks noGrp="1"/>
          </p:cNvSpPr>
          <p:nvPr>
            <p:ph type="sldNum" sz="quarter" idx="12"/>
          </p:nvPr>
        </p:nvSpPr>
        <p:spPr/>
        <p:txBody>
          <a:bodyPr/>
          <a:lstStyle/>
          <a:p>
            <a:fld id="{3492B72E-B18F-4181-810B-2EF1E5D9D01F}" type="slidenum">
              <a:rPr lang="en-US" smtClean="0"/>
              <a:t>‹#›</a:t>
            </a:fld>
            <a:endParaRPr lang="en-US"/>
          </a:p>
        </p:txBody>
      </p:sp>
      <p:sp>
        <p:nvSpPr>
          <p:cNvPr id="8" name="二等辺三角形 10">
            <a:extLst>
              <a:ext uri="{FF2B5EF4-FFF2-40B4-BE49-F238E27FC236}">
                <a16:creationId xmlns:a16="http://schemas.microsoft.com/office/drawing/2014/main" id="{736F1C48-2C41-BBC3-9D85-E898873ED97B}"/>
              </a:ext>
            </a:extLst>
          </p:cNvPr>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2007452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0C24F-87B5-ED94-380A-ACE69E9587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68F70B-FA09-6347-93CE-B13579B106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E82E9B-21E6-205D-C59B-07AC8516FD44}"/>
              </a:ext>
            </a:extLst>
          </p:cNvPr>
          <p:cNvSpPr>
            <a:spLocks noGrp="1"/>
          </p:cNvSpPr>
          <p:nvPr>
            <p:ph type="dt" sz="half" idx="10"/>
          </p:nvPr>
        </p:nvSpPr>
        <p:spPr/>
        <p:txBody>
          <a:bodyPr/>
          <a:lstStyle/>
          <a:p>
            <a:fld id="{B6BA776B-B867-41B2-BC1F-3B6B77FE71FB}" type="datetimeFigureOut">
              <a:rPr lang="en-US" smtClean="0"/>
              <a:t>3/16/2026</a:t>
            </a:fld>
            <a:endParaRPr lang="en-US"/>
          </a:p>
        </p:txBody>
      </p:sp>
      <p:sp>
        <p:nvSpPr>
          <p:cNvPr id="5" name="Footer Placeholder 4">
            <a:extLst>
              <a:ext uri="{FF2B5EF4-FFF2-40B4-BE49-F238E27FC236}">
                <a16:creationId xmlns:a16="http://schemas.microsoft.com/office/drawing/2014/main" id="{BAADD3CF-C799-9E76-4C8D-EBBB0B5276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74F62A-0135-D0FE-4246-BD9FC9F4FFB7}"/>
              </a:ext>
            </a:extLst>
          </p:cNvPr>
          <p:cNvSpPr>
            <a:spLocks noGrp="1"/>
          </p:cNvSpPr>
          <p:nvPr>
            <p:ph type="sldNum" sz="quarter" idx="12"/>
          </p:nvPr>
        </p:nvSpPr>
        <p:spPr/>
        <p:txBody>
          <a:bodyPr/>
          <a:lstStyle/>
          <a:p>
            <a:fld id="{3492B72E-B18F-4181-810B-2EF1E5D9D01F}" type="slidenum">
              <a:rPr lang="en-US" smtClean="0"/>
              <a:t>‹#›</a:t>
            </a:fld>
            <a:endParaRPr lang="en-US"/>
          </a:p>
        </p:txBody>
      </p:sp>
      <p:sp>
        <p:nvSpPr>
          <p:cNvPr id="7" name="二等辺三角形 10">
            <a:extLst>
              <a:ext uri="{FF2B5EF4-FFF2-40B4-BE49-F238E27FC236}">
                <a16:creationId xmlns:a16="http://schemas.microsoft.com/office/drawing/2014/main" id="{6395173E-8D52-B554-CF5E-32E02E2112CF}"/>
              </a:ext>
            </a:extLst>
          </p:cNvPr>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1536512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7B5292-9AB4-C310-7537-75E2D795BB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5F3B28-2467-F191-34D6-1786F549F3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72BB21-B4CC-5378-5F4B-3A2A30149355}"/>
              </a:ext>
            </a:extLst>
          </p:cNvPr>
          <p:cNvSpPr>
            <a:spLocks noGrp="1"/>
          </p:cNvSpPr>
          <p:nvPr>
            <p:ph type="dt" sz="half" idx="10"/>
          </p:nvPr>
        </p:nvSpPr>
        <p:spPr/>
        <p:txBody>
          <a:bodyPr/>
          <a:lstStyle/>
          <a:p>
            <a:fld id="{B6BA776B-B867-41B2-BC1F-3B6B77FE71FB}" type="datetimeFigureOut">
              <a:rPr lang="en-US" smtClean="0"/>
              <a:t>3/16/2026</a:t>
            </a:fld>
            <a:endParaRPr lang="en-US"/>
          </a:p>
        </p:txBody>
      </p:sp>
      <p:sp>
        <p:nvSpPr>
          <p:cNvPr id="5" name="Footer Placeholder 4">
            <a:extLst>
              <a:ext uri="{FF2B5EF4-FFF2-40B4-BE49-F238E27FC236}">
                <a16:creationId xmlns:a16="http://schemas.microsoft.com/office/drawing/2014/main" id="{99B9D4DD-3A82-4BF3-BEA2-B97D1E9406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7BE56B-1415-B196-8EBE-043EF524042C}"/>
              </a:ext>
            </a:extLst>
          </p:cNvPr>
          <p:cNvSpPr>
            <a:spLocks noGrp="1"/>
          </p:cNvSpPr>
          <p:nvPr>
            <p:ph type="sldNum" sz="quarter" idx="12"/>
          </p:nvPr>
        </p:nvSpPr>
        <p:spPr/>
        <p:txBody>
          <a:bodyPr/>
          <a:lstStyle/>
          <a:p>
            <a:fld id="{3492B72E-B18F-4181-810B-2EF1E5D9D01F}" type="slidenum">
              <a:rPr lang="en-US" smtClean="0"/>
              <a:t>‹#›</a:t>
            </a:fld>
            <a:endParaRPr lang="en-US"/>
          </a:p>
        </p:txBody>
      </p:sp>
      <p:sp>
        <p:nvSpPr>
          <p:cNvPr id="7" name="二等辺三角形 9">
            <a:extLst>
              <a:ext uri="{FF2B5EF4-FFF2-40B4-BE49-F238E27FC236}">
                <a16:creationId xmlns:a16="http://schemas.microsoft.com/office/drawing/2014/main" id="{8DC07778-AA85-9241-E890-2F46EAC66627}"/>
              </a:ext>
            </a:extLst>
          </p:cNvPr>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8" name="二等辺三角形 10">
            <a:extLst>
              <a:ext uri="{FF2B5EF4-FFF2-40B4-BE49-F238E27FC236}">
                <a16:creationId xmlns:a16="http://schemas.microsoft.com/office/drawing/2014/main" id="{7DDBA8D1-5B78-659F-7C81-B8A24AF4A353}"/>
              </a:ext>
            </a:extLst>
          </p:cNvPr>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700351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238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4980D5-23C5-83C5-CA06-D14CFA3434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A8FEBB-BCFD-81B5-392B-C60BE83B9A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634778-9E71-978F-F285-936D44BD05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BA776B-B867-41B2-BC1F-3B6B77FE71FB}" type="datetimeFigureOut">
              <a:rPr lang="en-US" smtClean="0"/>
              <a:t>3/16/2026</a:t>
            </a:fld>
            <a:endParaRPr lang="en-US"/>
          </a:p>
        </p:txBody>
      </p:sp>
      <p:sp>
        <p:nvSpPr>
          <p:cNvPr id="5" name="Footer Placeholder 4">
            <a:extLst>
              <a:ext uri="{FF2B5EF4-FFF2-40B4-BE49-F238E27FC236}">
                <a16:creationId xmlns:a16="http://schemas.microsoft.com/office/drawing/2014/main" id="{E1880AD4-5343-A2B6-B675-9149959C40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8F9D0E-B247-5FE3-CEEE-CDE45A4C2B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92B72E-B18F-4181-810B-2EF1E5D9D01F}" type="slidenum">
              <a:rPr lang="en-US" smtClean="0"/>
              <a:t>‹#›</a:t>
            </a:fld>
            <a:endParaRPr lang="en-US"/>
          </a:p>
        </p:txBody>
      </p:sp>
      <p:sp>
        <p:nvSpPr>
          <p:cNvPr id="7" name="Slide Number Placeholder 5">
            <a:extLst>
              <a:ext uri="{FF2B5EF4-FFF2-40B4-BE49-F238E27FC236}">
                <a16:creationId xmlns:a16="http://schemas.microsoft.com/office/drawing/2014/main" id="{0DE4A31F-96E4-AF5E-CA71-0B2C07572C9D}"/>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pic>
        <p:nvPicPr>
          <p:cNvPr id="8" name="Picture 7" descr="A picture containing photo, table, person, monitor&#10;&#10;Description automatically generated">
            <a:extLst>
              <a:ext uri="{FF2B5EF4-FFF2-40B4-BE49-F238E27FC236}">
                <a16:creationId xmlns:a16="http://schemas.microsoft.com/office/drawing/2014/main" id="{46FF5159-6B0B-6DE4-50B4-B5874CF735DB}"/>
              </a:ext>
            </a:extLst>
          </p:cNvPr>
          <p:cNvPicPr>
            <a:picLocks noChangeAspect="1"/>
          </p:cNvPicPr>
          <p:nvPr userDrawn="1"/>
        </p:nvPicPr>
        <p:blipFill rotWithShape="1">
          <a:blip r:embed="rId14"/>
          <a:srcRect t="90286" r="71976"/>
          <a:stretch/>
        </p:blipFill>
        <p:spPr>
          <a:xfrm>
            <a:off x="0" y="6373302"/>
            <a:ext cx="2514600" cy="490308"/>
          </a:xfrm>
          <a:prstGeom prst="rect">
            <a:avLst/>
          </a:prstGeom>
        </p:spPr>
      </p:pic>
      <p:sp>
        <p:nvSpPr>
          <p:cNvPr id="9" name="TextBox 8">
            <a:extLst>
              <a:ext uri="{FF2B5EF4-FFF2-40B4-BE49-F238E27FC236}">
                <a16:creationId xmlns:a16="http://schemas.microsoft.com/office/drawing/2014/main" id="{B2888D9F-3A7E-B44C-CA00-776BEB665407}"/>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3/16/2026</a:t>
            </a:fld>
            <a:endParaRPr lang="en-US" sz="1200" b="1"/>
          </a:p>
        </p:txBody>
      </p:sp>
    </p:spTree>
    <p:extLst>
      <p:ext uri="{BB962C8B-B14F-4D97-AF65-F5344CB8AC3E}">
        <p14:creationId xmlns:p14="http://schemas.microsoft.com/office/powerpoint/2010/main" val="969166483"/>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62"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gi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 Id="rId4" Type="http://schemas.openxmlformats.org/officeDocument/2006/relationships/image" Target="../media/image53.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75E098-F3D0-453C-BBF5-A7C840F21FD8}"/>
              </a:ext>
            </a:extLst>
          </p:cNvPr>
          <p:cNvSpPr>
            <a:spLocks noGrp="1"/>
          </p:cNvSpPr>
          <p:nvPr>
            <p:ph type="ctrTitle"/>
          </p:nvPr>
        </p:nvSpPr>
        <p:spPr>
          <a:xfrm>
            <a:off x="0" y="1198771"/>
            <a:ext cx="8441958" cy="2432508"/>
          </a:xfrm>
        </p:spPr>
        <p:txBody>
          <a:bodyPr>
            <a:normAutofit/>
          </a:bodyPr>
          <a:lstStyle/>
          <a:p>
            <a:r>
              <a:rPr lang="en-US" sz="3600" b="1" dirty="0">
                <a:latin typeface="+mn-lt"/>
              </a:rPr>
              <a:t>Machine Learning-Based Dengue Outbreak Prediction System for Colombo District</a:t>
            </a:r>
            <a:endParaRPr lang="en-US" sz="3600" b="1" dirty="0">
              <a:solidFill>
                <a:schemeClr val="tx1">
                  <a:lumMod val="65000"/>
                  <a:lumOff val="35000"/>
                </a:schemeClr>
              </a:solidFill>
              <a:latin typeface="+mn-lt"/>
            </a:endParaRPr>
          </a:p>
        </p:txBody>
      </p:sp>
      <p:sp>
        <p:nvSpPr>
          <p:cNvPr id="5" name="Subtitle 4">
            <a:extLst>
              <a:ext uri="{FF2B5EF4-FFF2-40B4-BE49-F238E27FC236}">
                <a16:creationId xmlns:a16="http://schemas.microsoft.com/office/drawing/2014/main" id="{288F3F03-40A0-499D-BDCC-A8E886D9D7C4}"/>
              </a:ext>
            </a:extLst>
          </p:cNvPr>
          <p:cNvSpPr>
            <a:spLocks noGrp="1"/>
          </p:cNvSpPr>
          <p:nvPr>
            <p:ph type="subTitle" idx="1"/>
          </p:nvPr>
        </p:nvSpPr>
        <p:spPr>
          <a:xfrm>
            <a:off x="1994938" y="3800308"/>
            <a:ext cx="4202289" cy="454378"/>
          </a:xfrm>
        </p:spPr>
        <p:txBody>
          <a:bodyPr vert="horz" lIns="91440" tIns="45720" rIns="91440" bIns="45720" rtlCol="0" anchor="t">
            <a:normAutofit/>
          </a:bodyPr>
          <a:lstStyle/>
          <a:p>
            <a:r>
              <a:rPr lang="en-US" sz="2000" b="1" dirty="0">
                <a:solidFill>
                  <a:schemeClr val="tx1"/>
                </a:solidFill>
              </a:rPr>
              <a:t>Project ID: R26-IT-061 | Year: 2026 </a:t>
            </a:r>
          </a:p>
          <a:p>
            <a:endParaRPr lang="en-US" sz="2000" b="1" dirty="0">
              <a:solidFill>
                <a:schemeClr val="tx1"/>
              </a:solidFill>
              <a:latin typeface="Verdana Pro"/>
            </a:endParaRPr>
          </a:p>
        </p:txBody>
      </p:sp>
      <p:pic>
        <p:nvPicPr>
          <p:cNvPr id="6" name="Picture 5">
            <a:extLst>
              <a:ext uri="{FF2B5EF4-FFF2-40B4-BE49-F238E27FC236}">
                <a16:creationId xmlns:a16="http://schemas.microsoft.com/office/drawing/2014/main" id="{C5CEFEF2-7754-760B-7222-6275513D05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0767" y="1841379"/>
            <a:ext cx="3656960" cy="3342055"/>
          </a:xfrm>
          <a:prstGeom prst="rect">
            <a:avLst/>
          </a:prstGeom>
        </p:spPr>
      </p:pic>
    </p:spTree>
    <p:extLst>
      <p:ext uri="{BB962C8B-B14F-4D97-AF65-F5344CB8AC3E}">
        <p14:creationId xmlns:p14="http://schemas.microsoft.com/office/powerpoint/2010/main" val="381388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cartoon characters holding a large rectangular object&#10;&#10;Description automatically generated">
            <a:extLst>
              <a:ext uri="{FF2B5EF4-FFF2-40B4-BE49-F238E27FC236}">
                <a16:creationId xmlns:a16="http://schemas.microsoft.com/office/drawing/2014/main" id="{C70C6721-1CA6-7761-BAA6-CA4E62523624}"/>
              </a:ext>
            </a:extLst>
          </p:cNvPr>
          <p:cNvPicPr>
            <a:picLocks noChangeAspect="1"/>
          </p:cNvPicPr>
          <p:nvPr/>
        </p:nvPicPr>
        <p:blipFill>
          <a:blip r:embed="rId2"/>
          <a:stretch>
            <a:fillRect/>
          </a:stretch>
        </p:blipFill>
        <p:spPr>
          <a:xfrm>
            <a:off x="80513" y="849703"/>
            <a:ext cx="4871050" cy="5503652"/>
          </a:xfrm>
          <a:prstGeom prst="rect">
            <a:avLst/>
          </a:prstGeom>
        </p:spPr>
      </p:pic>
      <p:sp>
        <p:nvSpPr>
          <p:cNvPr id="6" name="TextBox 3">
            <a:extLst>
              <a:ext uri="{FF2B5EF4-FFF2-40B4-BE49-F238E27FC236}">
                <a16:creationId xmlns:a16="http://schemas.microsoft.com/office/drawing/2014/main" id="{FB39C400-99C6-24B2-932D-A83AE76B3A30}"/>
              </a:ext>
            </a:extLst>
          </p:cNvPr>
          <p:cNvSpPr txBox="1"/>
          <p:nvPr/>
        </p:nvSpPr>
        <p:spPr>
          <a:xfrm>
            <a:off x="3537143" y="255979"/>
            <a:ext cx="5115464"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400" b="1" dirty="0">
                <a:ea typeface="Cambria"/>
              </a:rPr>
              <a:t>Team Members</a:t>
            </a:r>
            <a:endParaRPr lang="en-US" sz="4400" b="1" dirty="0"/>
          </a:p>
        </p:txBody>
      </p:sp>
      <p:graphicFrame>
        <p:nvGraphicFramePr>
          <p:cNvPr id="8" name="Table 7">
            <a:extLst>
              <a:ext uri="{FF2B5EF4-FFF2-40B4-BE49-F238E27FC236}">
                <a16:creationId xmlns:a16="http://schemas.microsoft.com/office/drawing/2014/main" id="{77136E9E-28A4-050F-A4CB-EF99B6A0FEE8}"/>
              </a:ext>
            </a:extLst>
          </p:cNvPr>
          <p:cNvGraphicFramePr>
            <a:graphicFrameLocks noGrp="1"/>
          </p:cNvGraphicFramePr>
          <p:nvPr>
            <p:extLst>
              <p:ext uri="{D42A27DB-BD31-4B8C-83A1-F6EECF244321}">
                <p14:modId xmlns:p14="http://schemas.microsoft.com/office/powerpoint/2010/main" val="1249472634"/>
              </p:ext>
            </p:extLst>
          </p:nvPr>
        </p:nvGraphicFramePr>
        <p:xfrm>
          <a:off x="4942936" y="2925523"/>
          <a:ext cx="6705600" cy="2962275"/>
        </p:xfrm>
        <a:graphic>
          <a:graphicData uri="http://schemas.openxmlformats.org/drawingml/2006/table">
            <a:tbl>
              <a:tblPr firstRow="1" bandRow="1">
                <a:tableStyleId>{9D7B26C5-4107-4FEC-AEDC-1716B250A1EF}</a:tableStyleId>
              </a:tblPr>
              <a:tblGrid>
                <a:gridCol w="4029075">
                  <a:extLst>
                    <a:ext uri="{9D8B030D-6E8A-4147-A177-3AD203B41FA5}">
                      <a16:colId xmlns:a16="http://schemas.microsoft.com/office/drawing/2014/main" val="1238157451"/>
                    </a:ext>
                  </a:extLst>
                </a:gridCol>
                <a:gridCol w="2676525">
                  <a:extLst>
                    <a:ext uri="{9D8B030D-6E8A-4147-A177-3AD203B41FA5}">
                      <a16:colId xmlns:a16="http://schemas.microsoft.com/office/drawing/2014/main" val="2332309213"/>
                    </a:ext>
                  </a:extLst>
                </a:gridCol>
              </a:tblGrid>
              <a:tr h="485775">
                <a:tc>
                  <a:txBody>
                    <a:bodyPr/>
                    <a:lstStyle/>
                    <a:p>
                      <a:pPr algn="ctr" fontAlgn="base"/>
                      <a:r>
                        <a:rPr lang="en-US" sz="2100" dirty="0">
                          <a:effectLst/>
                          <a:latin typeface="+mn-lt"/>
                        </a:rPr>
                        <a:t>Student Name​</a:t>
                      </a:r>
                      <a:endParaRPr lang="en-US" dirty="0">
                        <a:effectLst/>
                        <a:latin typeface="+mn-lt"/>
                      </a:endParaRPr>
                    </a:p>
                  </a:txBody>
                  <a:tcPr anchor="ctr"/>
                </a:tc>
                <a:tc>
                  <a:txBody>
                    <a:bodyPr/>
                    <a:lstStyle/>
                    <a:p>
                      <a:pPr algn="ctr" fontAlgn="base"/>
                      <a:r>
                        <a:rPr lang="en-US" sz="2100">
                          <a:effectLst/>
                          <a:latin typeface="+mn-lt"/>
                        </a:rPr>
                        <a:t>Student ID​</a:t>
                      </a:r>
                      <a:endParaRPr lang="en-US">
                        <a:effectLst/>
                        <a:latin typeface="+mn-lt"/>
                      </a:endParaRPr>
                    </a:p>
                  </a:txBody>
                  <a:tcPr anchor="ctr"/>
                </a:tc>
                <a:extLst>
                  <a:ext uri="{0D108BD9-81ED-4DB2-BD59-A6C34878D82A}">
                    <a16:rowId xmlns:a16="http://schemas.microsoft.com/office/drawing/2014/main" val="935242004"/>
                  </a:ext>
                </a:extLst>
              </a:tr>
              <a:tr h="619125">
                <a:tc>
                  <a:txBody>
                    <a:bodyPr/>
                    <a:lstStyle/>
                    <a:p>
                      <a:pPr fontAlgn="base"/>
                      <a:r>
                        <a:rPr lang="en-GB" dirty="0">
                          <a:effectLst/>
                          <a:latin typeface="+mn-lt"/>
                        </a:rPr>
                        <a:t>Wickramarachchi T.T.</a:t>
                      </a:r>
                    </a:p>
                  </a:txBody>
                  <a:tcPr anchor="ctr"/>
                </a:tc>
                <a:tc>
                  <a:txBody>
                    <a:bodyPr/>
                    <a:lstStyle/>
                    <a:p>
                      <a:pPr fontAlgn="base"/>
                      <a:r>
                        <a:rPr lang="en-GB" dirty="0">
                          <a:effectLst/>
                          <a:latin typeface="+mn-lt"/>
                        </a:rPr>
                        <a:t>IT22243980</a:t>
                      </a:r>
                    </a:p>
                  </a:txBody>
                  <a:tcPr anchor="ctr"/>
                </a:tc>
                <a:extLst>
                  <a:ext uri="{0D108BD9-81ED-4DB2-BD59-A6C34878D82A}">
                    <a16:rowId xmlns:a16="http://schemas.microsoft.com/office/drawing/2014/main" val="2404563496"/>
                  </a:ext>
                </a:extLst>
              </a:tr>
              <a:tr h="619125">
                <a:tc>
                  <a:txBody>
                    <a:bodyPr/>
                    <a:lstStyle/>
                    <a:p>
                      <a:pPr fontAlgn="base"/>
                      <a:r>
                        <a:rPr lang="en-GB" dirty="0">
                          <a:effectLst/>
                          <a:latin typeface="+mn-lt"/>
                        </a:rPr>
                        <a:t>Hettiarachchi A.T.</a:t>
                      </a:r>
                    </a:p>
                  </a:txBody>
                  <a:tcPr anchor="ctr"/>
                </a:tc>
                <a:tc>
                  <a:txBody>
                    <a:bodyPr/>
                    <a:lstStyle/>
                    <a:p>
                      <a:pPr fontAlgn="base"/>
                      <a:r>
                        <a:rPr lang="en-GB" dirty="0">
                          <a:effectLst/>
                          <a:latin typeface="+mn-lt"/>
                        </a:rPr>
                        <a:t>IT22165848</a:t>
                      </a:r>
                    </a:p>
                  </a:txBody>
                  <a:tcPr anchor="ctr"/>
                </a:tc>
                <a:extLst>
                  <a:ext uri="{0D108BD9-81ED-4DB2-BD59-A6C34878D82A}">
                    <a16:rowId xmlns:a16="http://schemas.microsoft.com/office/drawing/2014/main" val="632989868"/>
                  </a:ext>
                </a:extLst>
              </a:tr>
              <a:tr h="619125">
                <a:tc>
                  <a:txBody>
                    <a:bodyPr/>
                    <a:lstStyle/>
                    <a:p>
                      <a:pPr fontAlgn="base"/>
                      <a:r>
                        <a:rPr lang="en-GB" dirty="0" err="1">
                          <a:effectLst/>
                          <a:latin typeface="+mn-lt"/>
                        </a:rPr>
                        <a:t>Keenavinna</a:t>
                      </a:r>
                      <a:r>
                        <a:rPr lang="en-GB" dirty="0">
                          <a:effectLst/>
                          <a:latin typeface="+mn-lt"/>
                        </a:rPr>
                        <a:t> K.A.I.U.</a:t>
                      </a:r>
                    </a:p>
                  </a:txBody>
                  <a:tcPr anchor="ctr"/>
                </a:tc>
                <a:tc>
                  <a:txBody>
                    <a:bodyPr/>
                    <a:lstStyle/>
                    <a:p>
                      <a:pPr fontAlgn="base"/>
                      <a:r>
                        <a:rPr lang="en-US" dirty="0">
                          <a:latin typeface="+mn-lt"/>
                        </a:rPr>
                        <a:t>IT22214034</a:t>
                      </a:r>
                      <a:endParaRPr lang="en-GB" dirty="0">
                        <a:effectLst/>
                        <a:latin typeface="+mn-lt"/>
                      </a:endParaRPr>
                    </a:p>
                  </a:txBody>
                  <a:tcPr anchor="ctr"/>
                </a:tc>
                <a:extLst>
                  <a:ext uri="{0D108BD9-81ED-4DB2-BD59-A6C34878D82A}">
                    <a16:rowId xmlns:a16="http://schemas.microsoft.com/office/drawing/2014/main" val="460994748"/>
                  </a:ext>
                </a:extLst>
              </a:tr>
              <a:tr h="619125">
                <a:tc>
                  <a:txBody>
                    <a:bodyPr/>
                    <a:lstStyle/>
                    <a:p>
                      <a:pPr fontAlgn="base"/>
                      <a:r>
                        <a:rPr lang="en-US" dirty="0">
                          <a:latin typeface="+mn-lt"/>
                        </a:rPr>
                        <a:t>Adithya A.A.H.</a:t>
                      </a:r>
                      <a:endParaRPr lang="en-GB" dirty="0">
                        <a:effectLst/>
                        <a:latin typeface="+mn-lt"/>
                      </a:endParaRPr>
                    </a:p>
                  </a:txBody>
                  <a:tcPr anchor="ctr"/>
                </a:tc>
                <a:tc>
                  <a:txBody>
                    <a:bodyPr/>
                    <a:lstStyle/>
                    <a:p>
                      <a:pPr fontAlgn="base"/>
                      <a:r>
                        <a:rPr lang="en-US" dirty="0">
                          <a:latin typeface="+mn-lt"/>
                        </a:rPr>
                        <a:t>IT22281982</a:t>
                      </a:r>
                      <a:endParaRPr lang="en-GB" dirty="0">
                        <a:effectLst/>
                        <a:latin typeface="+mn-lt"/>
                      </a:endParaRPr>
                    </a:p>
                  </a:txBody>
                  <a:tcPr anchor="ctr"/>
                </a:tc>
                <a:extLst>
                  <a:ext uri="{0D108BD9-81ED-4DB2-BD59-A6C34878D82A}">
                    <a16:rowId xmlns:a16="http://schemas.microsoft.com/office/drawing/2014/main" val="563958713"/>
                  </a:ext>
                </a:extLst>
              </a:tr>
            </a:tbl>
          </a:graphicData>
        </a:graphic>
      </p:graphicFrame>
      <p:sp>
        <p:nvSpPr>
          <p:cNvPr id="9" name="TextBox 8">
            <a:extLst>
              <a:ext uri="{FF2B5EF4-FFF2-40B4-BE49-F238E27FC236}">
                <a16:creationId xmlns:a16="http://schemas.microsoft.com/office/drawing/2014/main" id="{C55FBB8B-11D9-BDF6-570A-0A631E0BC90A}"/>
              </a:ext>
            </a:extLst>
          </p:cNvPr>
          <p:cNvSpPr txBox="1"/>
          <p:nvPr/>
        </p:nvSpPr>
        <p:spPr>
          <a:xfrm>
            <a:off x="4945755" y="1664052"/>
            <a:ext cx="699709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dirty="0">
                <a:solidFill>
                  <a:schemeClr val="tx1">
                    <a:lumMod val="65000"/>
                    <a:lumOff val="35000"/>
                  </a:schemeClr>
                </a:solidFill>
                <a:ea typeface="Cambria"/>
              </a:rPr>
              <a:t>Supervisor : </a:t>
            </a:r>
            <a:r>
              <a:rPr lang="en-GB" sz="2000" b="1" dirty="0" err="1">
                <a:solidFill>
                  <a:schemeClr val="tx1">
                    <a:lumMod val="65000"/>
                    <a:lumOff val="35000"/>
                  </a:schemeClr>
                </a:solidFill>
                <a:ea typeface="Cambria"/>
              </a:rPr>
              <a:t>MS.Shashika</a:t>
            </a:r>
            <a:r>
              <a:rPr lang="en-GB" sz="2000" b="1" dirty="0">
                <a:solidFill>
                  <a:schemeClr val="tx1">
                    <a:lumMod val="65000"/>
                    <a:lumOff val="35000"/>
                  </a:schemeClr>
                </a:solidFill>
                <a:ea typeface="Cambria"/>
              </a:rPr>
              <a:t> </a:t>
            </a:r>
            <a:r>
              <a:rPr lang="en-GB" sz="2000" b="1" dirty="0" err="1">
                <a:solidFill>
                  <a:schemeClr val="tx1">
                    <a:lumMod val="65000"/>
                    <a:lumOff val="35000"/>
                  </a:schemeClr>
                </a:solidFill>
                <a:ea typeface="Cambria"/>
              </a:rPr>
              <a:t>Lokuliyana</a:t>
            </a:r>
            <a:endParaRPr lang="en-US" sz="2000" b="1" dirty="0">
              <a:solidFill>
                <a:schemeClr val="tx1">
                  <a:lumMod val="65000"/>
                  <a:lumOff val="35000"/>
                </a:schemeClr>
              </a:solidFill>
              <a:ea typeface="Cambria"/>
            </a:endParaRPr>
          </a:p>
          <a:p>
            <a:r>
              <a:rPr lang="en-GB" sz="2000" b="1" dirty="0">
                <a:solidFill>
                  <a:schemeClr val="tx1">
                    <a:lumMod val="65000"/>
                    <a:lumOff val="35000"/>
                  </a:schemeClr>
                </a:solidFill>
                <a:ea typeface="Cambria"/>
              </a:rPr>
              <a:t>Co-Supervisor: Ms. Narmada Gamage</a:t>
            </a:r>
            <a:endParaRPr lang="en-US" sz="2000" b="1" dirty="0">
              <a:solidFill>
                <a:schemeClr val="tx1">
                  <a:lumMod val="65000"/>
                  <a:lumOff val="35000"/>
                </a:schemeClr>
              </a:solidFill>
            </a:endParaRPr>
          </a:p>
        </p:txBody>
      </p:sp>
    </p:spTree>
    <p:extLst>
      <p:ext uri="{BB962C8B-B14F-4D97-AF65-F5344CB8AC3E}">
        <p14:creationId xmlns:p14="http://schemas.microsoft.com/office/powerpoint/2010/main" val="30933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3756F5F-D1E1-6EEE-7990-B29B2D45FE8A}"/>
              </a:ext>
            </a:extLst>
          </p:cNvPr>
          <p:cNvSpPr txBox="1">
            <a:spLocks/>
          </p:cNvSpPr>
          <p:nvPr/>
        </p:nvSpPr>
        <p:spPr>
          <a:xfrm>
            <a:off x="915465" y="162325"/>
            <a:ext cx="10377311" cy="736248"/>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r>
              <a:rPr lang="en-US" sz="4800" b="1" dirty="0">
                <a:solidFill>
                  <a:schemeClr val="tx1">
                    <a:lumMod val="75000"/>
                    <a:lumOff val="25000"/>
                  </a:schemeClr>
                </a:solidFill>
                <a:latin typeface="+mn-lt"/>
                <a:ea typeface="Cambria"/>
              </a:rPr>
              <a:t>Introduction</a:t>
            </a:r>
            <a:endParaRPr lang="en-US" sz="4800" dirty="0">
              <a:solidFill>
                <a:schemeClr val="tx1">
                  <a:lumMod val="75000"/>
                  <a:lumOff val="25000"/>
                </a:schemeClr>
              </a:solidFill>
              <a:latin typeface="+mn-lt"/>
            </a:endParaRPr>
          </a:p>
        </p:txBody>
      </p:sp>
      <p:pic>
        <p:nvPicPr>
          <p:cNvPr id="3" name="Picture 2">
            <a:extLst>
              <a:ext uri="{FF2B5EF4-FFF2-40B4-BE49-F238E27FC236}">
                <a16:creationId xmlns:a16="http://schemas.microsoft.com/office/drawing/2014/main" id="{9BE0D54C-AEBC-51F6-EF3E-222864D67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7437" y="1891885"/>
            <a:ext cx="3429000" cy="3429000"/>
          </a:xfrm>
          <a:prstGeom prst="rect">
            <a:avLst/>
          </a:prstGeom>
        </p:spPr>
      </p:pic>
      <p:sp>
        <p:nvSpPr>
          <p:cNvPr id="5" name="TextBox 4">
            <a:extLst>
              <a:ext uri="{FF2B5EF4-FFF2-40B4-BE49-F238E27FC236}">
                <a16:creationId xmlns:a16="http://schemas.microsoft.com/office/drawing/2014/main" id="{A7EA59D5-48CC-B4EF-B55E-F5764D84670E}"/>
              </a:ext>
            </a:extLst>
          </p:cNvPr>
          <p:cNvSpPr txBox="1"/>
          <p:nvPr/>
        </p:nvSpPr>
        <p:spPr>
          <a:xfrm>
            <a:off x="617858" y="1291721"/>
            <a:ext cx="7383141" cy="1200329"/>
          </a:xfrm>
          <a:prstGeom prst="rect">
            <a:avLst/>
          </a:prstGeom>
          <a:noFill/>
        </p:spPr>
        <p:txBody>
          <a:bodyPr wrap="square">
            <a:spAutoFit/>
          </a:bodyPr>
          <a:lstStyle/>
          <a:p>
            <a:r>
              <a:rPr lang="en-US" sz="2400" dirty="0"/>
              <a:t>Dengue fever is a major public health problem in many tropical countries, including Sri Lanka.</a:t>
            </a:r>
            <a:br>
              <a:rPr lang="en-US" sz="2400" dirty="0"/>
            </a:br>
            <a:r>
              <a:rPr lang="en-US" sz="2400" dirty="0"/>
              <a:t>It continues to affect thousands of people every year.</a:t>
            </a:r>
          </a:p>
        </p:txBody>
      </p:sp>
      <p:sp>
        <p:nvSpPr>
          <p:cNvPr id="7" name="TextBox 6">
            <a:extLst>
              <a:ext uri="{FF2B5EF4-FFF2-40B4-BE49-F238E27FC236}">
                <a16:creationId xmlns:a16="http://schemas.microsoft.com/office/drawing/2014/main" id="{BC867DAE-EB22-110E-3383-181BE0A1681D}"/>
              </a:ext>
            </a:extLst>
          </p:cNvPr>
          <p:cNvSpPr txBox="1"/>
          <p:nvPr/>
        </p:nvSpPr>
        <p:spPr>
          <a:xfrm>
            <a:off x="617858" y="2885198"/>
            <a:ext cx="7307826" cy="1200329"/>
          </a:xfrm>
          <a:prstGeom prst="rect">
            <a:avLst/>
          </a:prstGeom>
          <a:noFill/>
        </p:spPr>
        <p:txBody>
          <a:bodyPr wrap="square">
            <a:spAutoFit/>
          </a:bodyPr>
          <a:lstStyle/>
          <a:p>
            <a:r>
              <a:rPr lang="en-US" sz="2400" dirty="0"/>
              <a:t>A large number of dengue cases are reported annually.</a:t>
            </a:r>
            <a:br>
              <a:rPr lang="en-US" sz="2400" dirty="0"/>
            </a:br>
            <a:r>
              <a:rPr lang="en-US" sz="2400" dirty="0"/>
              <a:t>This creates significant pressure on the healthcare system.</a:t>
            </a:r>
          </a:p>
        </p:txBody>
      </p:sp>
      <p:sp>
        <p:nvSpPr>
          <p:cNvPr id="10" name="TextBox 9">
            <a:extLst>
              <a:ext uri="{FF2B5EF4-FFF2-40B4-BE49-F238E27FC236}">
                <a16:creationId xmlns:a16="http://schemas.microsoft.com/office/drawing/2014/main" id="{1D218D8E-6EB2-662F-EA18-FED22B58DE4D}"/>
              </a:ext>
            </a:extLst>
          </p:cNvPr>
          <p:cNvSpPr txBox="1"/>
          <p:nvPr/>
        </p:nvSpPr>
        <p:spPr>
          <a:xfrm>
            <a:off x="617858" y="4266803"/>
            <a:ext cx="7307826" cy="1569660"/>
          </a:xfrm>
          <a:prstGeom prst="rect">
            <a:avLst/>
          </a:prstGeom>
          <a:noFill/>
        </p:spPr>
        <p:txBody>
          <a:bodyPr wrap="square">
            <a:spAutoFit/>
          </a:bodyPr>
          <a:lstStyle/>
          <a:p>
            <a:r>
              <a:rPr lang="en-US" sz="2400" dirty="0"/>
              <a:t>Dengue transmission is strongly influenced by climate factors.</a:t>
            </a:r>
            <a:br>
              <a:rPr lang="en-US" sz="2400" dirty="0"/>
            </a:br>
            <a:r>
              <a:rPr lang="en-US" sz="2400" b="1" dirty="0"/>
              <a:t>Rainfall, temperature, and humidity </a:t>
            </a:r>
            <a:r>
              <a:rPr lang="en-US" sz="2400" dirty="0"/>
              <a:t>affect mosquito breeding.</a:t>
            </a:r>
          </a:p>
        </p:txBody>
      </p:sp>
    </p:spTree>
    <p:extLst>
      <p:ext uri="{BB962C8B-B14F-4D97-AF65-F5344CB8AC3E}">
        <p14:creationId xmlns:p14="http://schemas.microsoft.com/office/powerpoint/2010/main" val="3552756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D15773-C424-AC09-2B5E-FE7DC1FE67EE}"/>
              </a:ext>
            </a:extLst>
          </p:cNvPr>
          <p:cNvSpPr txBox="1"/>
          <p:nvPr/>
        </p:nvSpPr>
        <p:spPr>
          <a:xfrm>
            <a:off x="825910" y="687861"/>
            <a:ext cx="7348826" cy="1569660"/>
          </a:xfrm>
          <a:prstGeom prst="rect">
            <a:avLst/>
          </a:prstGeom>
          <a:noFill/>
        </p:spPr>
        <p:txBody>
          <a:bodyPr wrap="square">
            <a:spAutoFit/>
          </a:bodyPr>
          <a:lstStyle/>
          <a:p>
            <a:r>
              <a:rPr lang="en-US" sz="2400" dirty="0"/>
              <a:t>Environmental conditions create favorable habitats for mosquitoes.</a:t>
            </a:r>
            <a:br>
              <a:rPr lang="en-US" sz="2400" dirty="0"/>
            </a:br>
            <a:r>
              <a:rPr lang="en-US" sz="2400" dirty="0"/>
              <a:t>This increases the risk of dengue transmission in communities.</a:t>
            </a:r>
          </a:p>
        </p:txBody>
      </p:sp>
      <p:sp>
        <p:nvSpPr>
          <p:cNvPr id="7" name="TextBox 6">
            <a:extLst>
              <a:ext uri="{FF2B5EF4-FFF2-40B4-BE49-F238E27FC236}">
                <a16:creationId xmlns:a16="http://schemas.microsoft.com/office/drawing/2014/main" id="{86BE6AA2-DBD1-1E28-DB8C-5B89A0A0F294}"/>
              </a:ext>
            </a:extLst>
          </p:cNvPr>
          <p:cNvSpPr txBox="1"/>
          <p:nvPr/>
        </p:nvSpPr>
        <p:spPr>
          <a:xfrm>
            <a:off x="825910" y="2505670"/>
            <a:ext cx="7348826" cy="1569660"/>
          </a:xfrm>
          <a:prstGeom prst="rect">
            <a:avLst/>
          </a:prstGeom>
          <a:noFill/>
        </p:spPr>
        <p:txBody>
          <a:bodyPr wrap="square">
            <a:spAutoFit/>
          </a:bodyPr>
          <a:lstStyle/>
          <a:p>
            <a:r>
              <a:rPr lang="en-US" sz="2400" dirty="0"/>
              <a:t>Existing dengue monitoring systems rely mainly on historical data analysis.</a:t>
            </a:r>
            <a:br>
              <a:rPr lang="en-US" sz="2400" dirty="0"/>
            </a:br>
            <a:r>
              <a:rPr lang="en-US" sz="2400" dirty="0"/>
              <a:t>They mostly use </a:t>
            </a:r>
            <a:r>
              <a:rPr lang="en-US" sz="2400" b="1" dirty="0"/>
              <a:t>statistical reports and past case trends</a:t>
            </a:r>
            <a:r>
              <a:rPr lang="en-US" sz="2400" dirty="0"/>
              <a:t>.</a:t>
            </a:r>
          </a:p>
        </p:txBody>
      </p:sp>
      <p:sp>
        <p:nvSpPr>
          <p:cNvPr id="9" name="TextBox 8">
            <a:extLst>
              <a:ext uri="{FF2B5EF4-FFF2-40B4-BE49-F238E27FC236}">
                <a16:creationId xmlns:a16="http://schemas.microsoft.com/office/drawing/2014/main" id="{ABF4116C-1E87-AF9D-17FF-1354A579F698}"/>
              </a:ext>
            </a:extLst>
          </p:cNvPr>
          <p:cNvSpPr txBox="1"/>
          <p:nvPr/>
        </p:nvSpPr>
        <p:spPr>
          <a:xfrm>
            <a:off x="825910" y="4323479"/>
            <a:ext cx="7348826" cy="1569660"/>
          </a:xfrm>
          <a:prstGeom prst="rect">
            <a:avLst/>
          </a:prstGeom>
          <a:noFill/>
        </p:spPr>
        <p:txBody>
          <a:bodyPr wrap="square">
            <a:spAutoFit/>
          </a:bodyPr>
          <a:lstStyle/>
          <a:p>
            <a:r>
              <a:rPr lang="en-US" sz="2400" dirty="0"/>
              <a:t>Most current systems respond only </a:t>
            </a:r>
            <a:r>
              <a:rPr lang="en-US" sz="2400" b="1" dirty="0"/>
              <a:t>after cases increase</a:t>
            </a:r>
            <a:r>
              <a:rPr lang="en-US" sz="2400" dirty="0"/>
              <a:t>.</a:t>
            </a:r>
            <a:br>
              <a:rPr lang="en-US" sz="2400" dirty="0"/>
            </a:br>
            <a:r>
              <a:rPr lang="en-US" sz="2400" dirty="0"/>
              <a:t>This makes early prevention and preparedness difficult.</a:t>
            </a:r>
          </a:p>
        </p:txBody>
      </p:sp>
      <p:pic>
        <p:nvPicPr>
          <p:cNvPr id="3" name="Picture 2">
            <a:extLst>
              <a:ext uri="{FF2B5EF4-FFF2-40B4-BE49-F238E27FC236}">
                <a16:creationId xmlns:a16="http://schemas.microsoft.com/office/drawing/2014/main" id="{20A7A471-B0A0-A9CA-1D22-B3BCCBCEC5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6670" y="1898706"/>
            <a:ext cx="3231077" cy="3231077"/>
          </a:xfrm>
          <a:prstGeom prst="rect">
            <a:avLst/>
          </a:prstGeom>
        </p:spPr>
      </p:pic>
    </p:spTree>
    <p:extLst>
      <p:ext uri="{BB962C8B-B14F-4D97-AF65-F5344CB8AC3E}">
        <p14:creationId xmlns:p14="http://schemas.microsoft.com/office/powerpoint/2010/main" val="99816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9ABF77F-D314-F7AE-2D04-AD3418D28EB8}"/>
              </a:ext>
            </a:extLst>
          </p:cNvPr>
          <p:cNvSpPr txBox="1"/>
          <p:nvPr/>
        </p:nvSpPr>
        <p:spPr>
          <a:xfrm>
            <a:off x="601107" y="669045"/>
            <a:ext cx="7425420" cy="1200329"/>
          </a:xfrm>
          <a:prstGeom prst="rect">
            <a:avLst/>
          </a:prstGeom>
          <a:noFill/>
        </p:spPr>
        <p:txBody>
          <a:bodyPr wrap="square">
            <a:spAutoFit/>
          </a:bodyPr>
          <a:lstStyle/>
          <a:p>
            <a:r>
              <a:rPr lang="en-US" sz="2400" dirty="0"/>
              <a:t>The relationship between </a:t>
            </a:r>
            <a:r>
              <a:rPr lang="en-US" sz="2400" b="1" dirty="0"/>
              <a:t>weather factors and dengue outbreaks is complex</a:t>
            </a:r>
            <a:r>
              <a:rPr lang="en-US" sz="2400" dirty="0"/>
              <a:t>.</a:t>
            </a:r>
            <a:br>
              <a:rPr lang="en-US" sz="2400" dirty="0"/>
            </a:br>
            <a:r>
              <a:rPr lang="en-US" sz="2400" dirty="0"/>
              <a:t>These effects often appear after several weeks.</a:t>
            </a:r>
          </a:p>
        </p:txBody>
      </p:sp>
      <p:sp>
        <p:nvSpPr>
          <p:cNvPr id="7" name="TextBox 6">
            <a:extLst>
              <a:ext uri="{FF2B5EF4-FFF2-40B4-BE49-F238E27FC236}">
                <a16:creationId xmlns:a16="http://schemas.microsoft.com/office/drawing/2014/main" id="{DCD07701-3B16-844D-0B65-8EF5DFFE50D1}"/>
              </a:ext>
            </a:extLst>
          </p:cNvPr>
          <p:cNvSpPr txBox="1"/>
          <p:nvPr/>
        </p:nvSpPr>
        <p:spPr>
          <a:xfrm>
            <a:off x="601107" y="2228671"/>
            <a:ext cx="7425420" cy="1569660"/>
          </a:xfrm>
          <a:prstGeom prst="rect">
            <a:avLst/>
          </a:prstGeom>
          <a:noFill/>
        </p:spPr>
        <p:txBody>
          <a:bodyPr wrap="square">
            <a:spAutoFit/>
          </a:bodyPr>
          <a:lstStyle/>
          <a:p>
            <a:r>
              <a:rPr lang="en-US" sz="2400" b="1" dirty="0"/>
              <a:t>Traditional analytical </a:t>
            </a:r>
            <a:r>
              <a:rPr lang="en-US" sz="2400" dirty="0"/>
              <a:t>approaches struggle to capture these complex patterns.</a:t>
            </a:r>
            <a:br>
              <a:rPr lang="en-US" sz="2400" dirty="0"/>
            </a:br>
            <a:r>
              <a:rPr lang="en-US" sz="2400" dirty="0"/>
              <a:t>Therefore, accurate outbreak prediction becomes challenging.</a:t>
            </a:r>
          </a:p>
        </p:txBody>
      </p:sp>
      <p:sp>
        <p:nvSpPr>
          <p:cNvPr id="9" name="TextBox 8">
            <a:extLst>
              <a:ext uri="{FF2B5EF4-FFF2-40B4-BE49-F238E27FC236}">
                <a16:creationId xmlns:a16="http://schemas.microsoft.com/office/drawing/2014/main" id="{59DCCEB0-D3C6-855A-DA65-474FE12F306F}"/>
              </a:ext>
            </a:extLst>
          </p:cNvPr>
          <p:cNvSpPr txBox="1"/>
          <p:nvPr/>
        </p:nvSpPr>
        <p:spPr>
          <a:xfrm>
            <a:off x="601107" y="4157628"/>
            <a:ext cx="7425420" cy="1569660"/>
          </a:xfrm>
          <a:prstGeom prst="rect">
            <a:avLst/>
          </a:prstGeom>
          <a:noFill/>
        </p:spPr>
        <p:txBody>
          <a:bodyPr wrap="square">
            <a:spAutoFit/>
          </a:bodyPr>
          <a:lstStyle/>
          <a:p>
            <a:r>
              <a:rPr lang="en-US" sz="2400" dirty="0"/>
              <a:t>This research proposes a </a:t>
            </a:r>
            <a:r>
              <a:rPr lang="en-US" sz="2400" b="1" dirty="0"/>
              <a:t>machine learning–based dengue prediction system</a:t>
            </a:r>
            <a:r>
              <a:rPr lang="en-US" sz="2400" dirty="0"/>
              <a:t>.</a:t>
            </a:r>
            <a:br>
              <a:rPr lang="en-US" sz="2400" dirty="0"/>
            </a:br>
            <a:r>
              <a:rPr lang="en-US" sz="2400" dirty="0"/>
              <a:t>It focuses on the </a:t>
            </a:r>
            <a:r>
              <a:rPr lang="en-US" sz="2400" b="1" dirty="0"/>
              <a:t>Colombo District </a:t>
            </a:r>
            <a:r>
              <a:rPr lang="en-US" sz="2400" dirty="0"/>
              <a:t>to provide early and interpretable warnings.</a:t>
            </a:r>
          </a:p>
        </p:txBody>
      </p:sp>
      <p:pic>
        <p:nvPicPr>
          <p:cNvPr id="3" name="Picture 2">
            <a:extLst>
              <a:ext uri="{FF2B5EF4-FFF2-40B4-BE49-F238E27FC236}">
                <a16:creationId xmlns:a16="http://schemas.microsoft.com/office/drawing/2014/main" id="{CC0DC06F-3DA9-CF89-3F03-8FA02B8936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6527" y="2085926"/>
            <a:ext cx="3970401" cy="2686148"/>
          </a:xfrm>
          <a:prstGeom prst="rect">
            <a:avLst/>
          </a:prstGeom>
        </p:spPr>
      </p:pic>
    </p:spTree>
    <p:extLst>
      <p:ext uri="{BB962C8B-B14F-4D97-AF65-F5344CB8AC3E}">
        <p14:creationId xmlns:p14="http://schemas.microsoft.com/office/powerpoint/2010/main" val="3727115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3756F5F-D1E1-6EEE-7990-B29B2D45FE8A}"/>
              </a:ext>
            </a:extLst>
          </p:cNvPr>
          <p:cNvSpPr txBox="1">
            <a:spLocks/>
          </p:cNvSpPr>
          <p:nvPr/>
        </p:nvSpPr>
        <p:spPr>
          <a:xfrm>
            <a:off x="971909" y="21214"/>
            <a:ext cx="10363200" cy="14700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r>
              <a:rPr lang="en-US" b="1" dirty="0">
                <a:latin typeface="+mn-lt"/>
                <a:ea typeface="Cambria"/>
              </a:rPr>
              <a:t>The Journey of Dengue</a:t>
            </a:r>
            <a:endParaRPr lang="en-US" dirty="0">
              <a:latin typeface="+mn-lt"/>
            </a:endParaRPr>
          </a:p>
        </p:txBody>
      </p:sp>
      <p:pic>
        <p:nvPicPr>
          <p:cNvPr id="20" name="Picture 19">
            <a:extLst>
              <a:ext uri="{FF2B5EF4-FFF2-40B4-BE49-F238E27FC236}">
                <a16:creationId xmlns:a16="http://schemas.microsoft.com/office/drawing/2014/main" id="{1F251124-DE03-3EE7-C35C-0D1BA8C14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8953" y="1282427"/>
            <a:ext cx="4747528" cy="5029910"/>
          </a:xfrm>
          <a:prstGeom prst="rect">
            <a:avLst/>
          </a:prstGeom>
        </p:spPr>
      </p:pic>
    </p:spTree>
    <p:extLst>
      <p:ext uri="{BB962C8B-B14F-4D97-AF65-F5344CB8AC3E}">
        <p14:creationId xmlns:p14="http://schemas.microsoft.com/office/powerpoint/2010/main" val="2930448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158BD-7338-BF93-5AD5-170E4E420081}"/>
              </a:ext>
            </a:extLst>
          </p:cNvPr>
          <p:cNvSpPr>
            <a:spLocks noGrp="1"/>
          </p:cNvSpPr>
          <p:nvPr>
            <p:ph type="ctrTitle"/>
          </p:nvPr>
        </p:nvSpPr>
        <p:spPr>
          <a:xfrm>
            <a:off x="559308" y="2853640"/>
            <a:ext cx="7641416" cy="2148966"/>
          </a:xfrm>
        </p:spPr>
        <p:txBody>
          <a:bodyPr>
            <a:noAutofit/>
          </a:bodyPr>
          <a:lstStyle/>
          <a:p>
            <a:pPr algn="l"/>
            <a:r>
              <a:rPr lang="en-US" sz="2800" dirty="0">
                <a:latin typeface="+mn-lt"/>
              </a:rPr>
              <a:t> </a:t>
            </a:r>
            <a:r>
              <a:rPr lang="en-US" sz="4400" b="1" dirty="0">
                <a:latin typeface="+mn-lt"/>
              </a:rPr>
              <a:t>Problem</a:t>
            </a:r>
            <a:br>
              <a:rPr lang="en-US" sz="2800" b="1" dirty="0">
                <a:latin typeface="+mn-lt"/>
              </a:rPr>
            </a:br>
            <a:br>
              <a:rPr lang="en-US" sz="2800" dirty="0">
                <a:latin typeface="+mn-lt"/>
              </a:rPr>
            </a:br>
            <a:r>
              <a:rPr lang="en-US" sz="2800" b="1" dirty="0">
                <a:latin typeface="+mn-lt"/>
              </a:rPr>
              <a:t>Dengue Outbreak Challenge</a:t>
            </a:r>
            <a:br>
              <a:rPr lang="en-US" sz="2800" dirty="0">
                <a:latin typeface="+mn-lt"/>
              </a:rPr>
            </a:br>
            <a:br>
              <a:rPr lang="en-US" sz="2800" dirty="0">
                <a:latin typeface="+mn-lt"/>
              </a:rPr>
            </a:br>
            <a:r>
              <a:rPr lang="en-US" sz="2800" dirty="0">
                <a:latin typeface="+mn-lt"/>
              </a:rPr>
              <a:t>Dengue is a major public health problem in Sri Lanka. </a:t>
            </a:r>
            <a:r>
              <a:rPr lang="en-US" sz="2800" b="1" dirty="0">
                <a:latin typeface="+mn-lt"/>
              </a:rPr>
              <a:t>Colombo District records high dengue incidence</a:t>
            </a:r>
            <a:r>
              <a:rPr lang="en-US" sz="2800" dirty="0">
                <a:latin typeface="+mn-lt"/>
              </a:rPr>
              <a:t>. Current dengue monitoring mainly uses </a:t>
            </a:r>
            <a:r>
              <a:rPr lang="en-US" sz="2800" b="1" dirty="0">
                <a:latin typeface="+mn-lt"/>
              </a:rPr>
              <a:t>retrospective analysis</a:t>
            </a:r>
            <a:r>
              <a:rPr lang="en-US" sz="2800" dirty="0">
                <a:latin typeface="+mn-lt"/>
              </a:rPr>
              <a:t>. Problem Existing systems </a:t>
            </a:r>
            <a:r>
              <a:rPr lang="en-US" sz="2800" b="1" dirty="0">
                <a:latin typeface="+mn-lt"/>
              </a:rPr>
              <a:t>cannot predict outbreaks early and mainly analyze past trends. </a:t>
            </a:r>
          </a:p>
        </p:txBody>
      </p:sp>
      <p:pic>
        <p:nvPicPr>
          <p:cNvPr id="4" name="Picture 3">
            <a:extLst>
              <a:ext uri="{FF2B5EF4-FFF2-40B4-BE49-F238E27FC236}">
                <a16:creationId xmlns:a16="http://schemas.microsoft.com/office/drawing/2014/main" id="{1E485F7A-66CB-593F-0C29-47C248BBA9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00724" y="2278781"/>
            <a:ext cx="3745846" cy="2300438"/>
          </a:xfrm>
          <a:prstGeom prst="rect">
            <a:avLst/>
          </a:prstGeom>
        </p:spPr>
      </p:pic>
    </p:spTree>
    <p:extLst>
      <p:ext uri="{BB962C8B-B14F-4D97-AF65-F5344CB8AC3E}">
        <p14:creationId xmlns:p14="http://schemas.microsoft.com/office/powerpoint/2010/main" val="228026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454537-B3E8-32D1-4E18-AA79355E1C84}"/>
              </a:ext>
            </a:extLst>
          </p:cNvPr>
          <p:cNvSpPr>
            <a:spLocks noGrp="1"/>
          </p:cNvSpPr>
          <p:nvPr>
            <p:ph sz="half" idx="1"/>
          </p:nvPr>
        </p:nvSpPr>
        <p:spPr>
          <a:xfrm>
            <a:off x="1160206" y="624349"/>
            <a:ext cx="9871587" cy="5044616"/>
          </a:xfrm>
        </p:spPr>
        <p:txBody>
          <a:bodyPr>
            <a:normAutofit/>
          </a:bodyPr>
          <a:lstStyle/>
          <a:p>
            <a:pPr marL="0" indent="0">
              <a:buNone/>
            </a:pPr>
            <a:r>
              <a:rPr lang="en-US" sz="3200" b="1" dirty="0"/>
              <a:t>Users &amp; Stakeholders</a:t>
            </a:r>
          </a:p>
          <a:p>
            <a:r>
              <a:rPr lang="en-US" dirty="0"/>
              <a:t>Ministry of National Health</a:t>
            </a:r>
          </a:p>
          <a:p>
            <a:r>
              <a:rPr lang="en-US" dirty="0"/>
              <a:t> Dengue Control Unit</a:t>
            </a:r>
          </a:p>
          <a:p>
            <a:r>
              <a:rPr lang="en-US" dirty="0"/>
              <a:t>Medical Officer of Health (MOH) offices</a:t>
            </a:r>
          </a:p>
          <a:p>
            <a:r>
              <a:rPr lang="en-US" dirty="0"/>
              <a:t>Public health researchers</a:t>
            </a:r>
          </a:p>
          <a:p>
            <a:pPr marL="0" indent="0">
              <a:buNone/>
            </a:pPr>
            <a:r>
              <a:rPr lang="en-US" b="1" dirty="0"/>
              <a:t>Impact</a:t>
            </a:r>
          </a:p>
          <a:p>
            <a:r>
              <a:rPr lang="en-US" dirty="0"/>
              <a:t>Late dengue prevention actions</a:t>
            </a:r>
          </a:p>
          <a:p>
            <a:r>
              <a:rPr lang="en-US" dirty="0"/>
              <a:t>Inefficient resource allocation</a:t>
            </a:r>
          </a:p>
          <a:p>
            <a:r>
              <a:rPr lang="en-US" dirty="0"/>
              <a:t>Difficulty identifying high-risk areas</a:t>
            </a:r>
          </a:p>
        </p:txBody>
      </p:sp>
    </p:spTree>
    <p:extLst>
      <p:ext uri="{BB962C8B-B14F-4D97-AF65-F5344CB8AC3E}">
        <p14:creationId xmlns:p14="http://schemas.microsoft.com/office/powerpoint/2010/main" val="895448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3C815C-EFF8-A9E4-F34A-BC0DEEC6FD00}"/>
              </a:ext>
            </a:extLst>
          </p:cNvPr>
          <p:cNvSpPr>
            <a:spLocks noGrp="1"/>
          </p:cNvSpPr>
          <p:nvPr>
            <p:ph sz="half" idx="1"/>
          </p:nvPr>
        </p:nvSpPr>
        <p:spPr>
          <a:xfrm>
            <a:off x="768096" y="472933"/>
            <a:ext cx="9663930" cy="5378912"/>
          </a:xfrm>
        </p:spPr>
        <p:txBody>
          <a:bodyPr>
            <a:normAutofit lnSpcReduction="10000"/>
          </a:bodyPr>
          <a:lstStyle/>
          <a:p>
            <a:pPr marL="0" indent="0">
              <a:buNone/>
            </a:pPr>
            <a:r>
              <a:rPr lang="en-US" b="1" dirty="0"/>
              <a:t>Existing Systems &amp; Limitations </a:t>
            </a:r>
          </a:p>
          <a:p>
            <a:pPr marL="0" indent="0">
              <a:buNone/>
            </a:pPr>
            <a:endParaRPr lang="en-US" b="1" dirty="0"/>
          </a:p>
          <a:p>
            <a:pPr marL="0" indent="0">
              <a:buNone/>
            </a:pPr>
            <a:r>
              <a:rPr lang="en-US" b="1" dirty="0"/>
              <a:t>Existing approaches include:</a:t>
            </a:r>
          </a:p>
          <a:p>
            <a:r>
              <a:rPr lang="en-US" dirty="0"/>
              <a:t>Linear regression</a:t>
            </a:r>
          </a:p>
          <a:p>
            <a:r>
              <a:rPr lang="en-US" dirty="0"/>
              <a:t>ARIMA time-series models</a:t>
            </a:r>
          </a:p>
          <a:p>
            <a:r>
              <a:rPr lang="en-US" dirty="0"/>
              <a:t>Statistical trend analysis</a:t>
            </a:r>
          </a:p>
          <a:p>
            <a:pPr marL="0" indent="0">
              <a:buNone/>
            </a:pPr>
            <a:r>
              <a:rPr lang="en-US" b="1" dirty="0"/>
              <a:t>Limitations: </a:t>
            </a:r>
          </a:p>
          <a:p>
            <a:r>
              <a:rPr lang="en-US" dirty="0"/>
              <a:t>Cannot model complex climate relationships</a:t>
            </a:r>
          </a:p>
          <a:p>
            <a:r>
              <a:rPr lang="en-US" dirty="0"/>
              <a:t>Limited local prediction capability</a:t>
            </a:r>
          </a:p>
          <a:p>
            <a:r>
              <a:rPr lang="en-US" dirty="0"/>
              <a:t>ML systems often behave as black-box models without explanations.</a:t>
            </a:r>
          </a:p>
        </p:txBody>
      </p:sp>
    </p:spTree>
    <p:extLst>
      <p:ext uri="{BB962C8B-B14F-4D97-AF65-F5344CB8AC3E}">
        <p14:creationId xmlns:p14="http://schemas.microsoft.com/office/powerpoint/2010/main" val="1627352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706544-81AA-2579-310A-8F30BA74493F}"/>
              </a:ext>
            </a:extLst>
          </p:cNvPr>
          <p:cNvSpPr>
            <a:spLocks noGrp="1"/>
          </p:cNvSpPr>
          <p:nvPr>
            <p:ph sz="half" idx="1"/>
          </p:nvPr>
        </p:nvSpPr>
        <p:spPr>
          <a:xfrm>
            <a:off x="609600" y="499185"/>
            <a:ext cx="10756392" cy="5526396"/>
          </a:xfrm>
        </p:spPr>
        <p:txBody>
          <a:bodyPr>
            <a:normAutofit fontScale="92500" lnSpcReduction="10000"/>
          </a:bodyPr>
          <a:lstStyle/>
          <a:p>
            <a:pPr marL="0" indent="0">
              <a:buNone/>
            </a:pPr>
            <a:r>
              <a:rPr lang="en-US" b="1" dirty="0"/>
              <a:t>Proposed Solution</a:t>
            </a:r>
          </a:p>
          <a:p>
            <a:pPr marL="0" indent="0">
              <a:buNone/>
            </a:pPr>
            <a:endParaRPr lang="en-US" b="1" dirty="0"/>
          </a:p>
          <a:p>
            <a:pPr marL="0" indent="0">
              <a:buNone/>
            </a:pPr>
            <a:r>
              <a:rPr lang="en-US" b="1" dirty="0"/>
              <a:t>AI-Based Dengue Prediction </a:t>
            </a:r>
          </a:p>
          <a:p>
            <a:pPr marL="0" indent="0">
              <a:buNone/>
            </a:pPr>
            <a:r>
              <a:rPr lang="en-US" dirty="0"/>
              <a:t>Our system integrates:</a:t>
            </a:r>
          </a:p>
          <a:p>
            <a:r>
              <a:rPr lang="en-US" dirty="0"/>
              <a:t>Machine Learning prediction models</a:t>
            </a:r>
          </a:p>
          <a:p>
            <a:r>
              <a:rPr lang="en-US" dirty="0"/>
              <a:t>Weather + dengue historical data</a:t>
            </a:r>
          </a:p>
          <a:p>
            <a:r>
              <a:rPr lang="en-US" dirty="0"/>
              <a:t>Explainable AI techniques</a:t>
            </a:r>
          </a:p>
          <a:p>
            <a:r>
              <a:rPr lang="en-US" dirty="0"/>
              <a:t>NLP intelligence</a:t>
            </a:r>
          </a:p>
          <a:p>
            <a:r>
              <a:rPr lang="en-US" dirty="0"/>
              <a:t>Interactive dashboards</a:t>
            </a:r>
          </a:p>
          <a:p>
            <a:pPr marL="0" indent="0">
              <a:buNone/>
            </a:pPr>
            <a:endParaRPr lang="en-US" dirty="0"/>
          </a:p>
          <a:p>
            <a:pPr marL="0" indent="0">
              <a:buNone/>
            </a:pPr>
            <a:r>
              <a:rPr lang="en-US" b="1" dirty="0"/>
              <a:t>Outcomes</a:t>
            </a:r>
          </a:p>
          <a:p>
            <a:r>
              <a:rPr lang="en-US" dirty="0"/>
              <a:t>Generate localized dengue risk predictions for Colombo District.</a:t>
            </a:r>
          </a:p>
        </p:txBody>
      </p:sp>
    </p:spTree>
    <p:extLst>
      <p:ext uri="{BB962C8B-B14F-4D97-AF65-F5344CB8AC3E}">
        <p14:creationId xmlns:p14="http://schemas.microsoft.com/office/powerpoint/2010/main" val="2854017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2C11A-2978-341E-6590-306FA98FA77F}"/>
              </a:ext>
            </a:extLst>
          </p:cNvPr>
          <p:cNvSpPr>
            <a:spLocks noGrp="1"/>
          </p:cNvSpPr>
          <p:nvPr>
            <p:ph type="ctrTitle"/>
          </p:nvPr>
        </p:nvSpPr>
        <p:spPr>
          <a:xfrm>
            <a:off x="2923032" y="128016"/>
            <a:ext cx="6345936" cy="740905"/>
          </a:xfrm>
        </p:spPr>
        <p:txBody>
          <a:bodyPr>
            <a:normAutofit/>
          </a:bodyPr>
          <a:lstStyle/>
          <a:p>
            <a:r>
              <a:rPr lang="en-US" sz="4400" b="1">
                <a:solidFill>
                  <a:schemeClr val="tx1">
                    <a:lumMod val="75000"/>
                    <a:lumOff val="25000"/>
                  </a:schemeClr>
                </a:solidFill>
                <a:latin typeface="+mn-lt"/>
                <a:ea typeface="Cambria"/>
                <a:cs typeface="Calibri"/>
              </a:rPr>
              <a:t>System Diagram</a:t>
            </a:r>
            <a:endParaRPr lang="en-US" sz="4400" dirty="0">
              <a:solidFill>
                <a:schemeClr val="tx1">
                  <a:lumMod val="75000"/>
                  <a:lumOff val="25000"/>
                </a:schemeClr>
              </a:solidFill>
              <a:latin typeface="+mn-lt"/>
            </a:endParaRPr>
          </a:p>
        </p:txBody>
      </p:sp>
      <p:pic>
        <p:nvPicPr>
          <p:cNvPr id="4" name="Picture 3">
            <a:extLst>
              <a:ext uri="{FF2B5EF4-FFF2-40B4-BE49-F238E27FC236}">
                <a16:creationId xmlns:a16="http://schemas.microsoft.com/office/drawing/2014/main" id="{9D5B2A24-8D29-A37F-558F-432F3A0A6330}"/>
              </a:ext>
            </a:extLst>
          </p:cNvPr>
          <p:cNvPicPr>
            <a:picLocks noChangeAspect="1"/>
          </p:cNvPicPr>
          <p:nvPr/>
        </p:nvPicPr>
        <p:blipFill>
          <a:blip r:embed="rId2">
            <a:extLst>
              <a:ext uri="{28A0092B-C50C-407E-A947-70E740481C1C}">
                <a14:useLocalDpi xmlns:a14="http://schemas.microsoft.com/office/drawing/2010/main" val="0"/>
              </a:ext>
            </a:extLst>
          </a:blip>
          <a:srcRect l="1335" t="2323" r="1302" b="6593"/>
          <a:stretch>
            <a:fillRect/>
          </a:stretch>
        </p:blipFill>
        <p:spPr>
          <a:xfrm>
            <a:off x="1756690" y="868921"/>
            <a:ext cx="8678619" cy="5412729"/>
          </a:xfrm>
          <a:prstGeom prst="rect">
            <a:avLst/>
          </a:prstGeom>
        </p:spPr>
      </p:pic>
    </p:spTree>
    <p:extLst>
      <p:ext uri="{BB962C8B-B14F-4D97-AF65-F5344CB8AC3E}">
        <p14:creationId xmlns:p14="http://schemas.microsoft.com/office/powerpoint/2010/main" val="2054352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a:xfrm>
            <a:off x="839624" y="3152002"/>
            <a:ext cx="8220974" cy="538319"/>
          </a:xfrm>
        </p:spPr>
        <p:txBody>
          <a:bodyPr>
            <a:normAutofit/>
          </a:bodyPr>
          <a:lstStyle/>
          <a:p>
            <a:r>
              <a:rPr lang="en-US" sz="2400" b="1" dirty="0">
                <a:solidFill>
                  <a:schemeClr val="tx1"/>
                </a:solidFill>
              </a:rPr>
              <a:t>Data Engineering for Dengue Outbreak Prediction</a:t>
            </a:r>
          </a:p>
        </p:txBody>
      </p:sp>
      <p:sp>
        <p:nvSpPr>
          <p:cNvPr id="2" name="TextBox 1">
            <a:extLst>
              <a:ext uri="{FF2B5EF4-FFF2-40B4-BE49-F238E27FC236}">
                <a16:creationId xmlns:a16="http://schemas.microsoft.com/office/drawing/2014/main" id="{A9479EFB-012C-CF4E-4635-33F5237EF75F}"/>
              </a:ext>
            </a:extLst>
          </p:cNvPr>
          <p:cNvSpPr txBox="1"/>
          <p:nvPr/>
        </p:nvSpPr>
        <p:spPr>
          <a:xfrm>
            <a:off x="839624" y="2706015"/>
            <a:ext cx="7693741"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ea typeface="+mn-lt"/>
                <a:cs typeface="+mn-lt"/>
              </a:rPr>
              <a:t>IT22243980 | Wickramarachchi T.T</a:t>
            </a:r>
          </a:p>
        </p:txBody>
      </p:sp>
      <p:pic>
        <p:nvPicPr>
          <p:cNvPr id="7" name="Picture 6">
            <a:extLst>
              <a:ext uri="{FF2B5EF4-FFF2-40B4-BE49-F238E27FC236}">
                <a16:creationId xmlns:a16="http://schemas.microsoft.com/office/drawing/2014/main" id="{9CEEF0B4-3E5A-1143-EB84-2001D9F266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16274" y="127322"/>
            <a:ext cx="2013996" cy="2360094"/>
          </a:xfrm>
          <a:prstGeom prst="rect">
            <a:avLst/>
          </a:prstGeom>
        </p:spPr>
      </p:pic>
      <p:sp>
        <p:nvSpPr>
          <p:cNvPr id="9" name="Rectangle 8">
            <a:extLst>
              <a:ext uri="{FF2B5EF4-FFF2-40B4-BE49-F238E27FC236}">
                <a16:creationId xmlns:a16="http://schemas.microsoft.com/office/drawing/2014/main" id="{1D654595-5F7A-0112-4BF2-E1BFC1ACE90E}"/>
              </a:ext>
            </a:extLst>
          </p:cNvPr>
          <p:cNvSpPr/>
          <p:nvPr/>
        </p:nvSpPr>
        <p:spPr>
          <a:xfrm>
            <a:off x="2687817" y="6492875"/>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IT22243980 |Wickramarachchi T.T. |R26-IT-061</a:t>
            </a:r>
          </a:p>
        </p:txBody>
      </p:sp>
    </p:spTree>
    <p:extLst>
      <p:ext uri="{BB962C8B-B14F-4D97-AF65-F5344CB8AC3E}">
        <p14:creationId xmlns:p14="http://schemas.microsoft.com/office/powerpoint/2010/main" val="2181409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916E9A-0864-A71A-A6CA-35E3844C8176}"/>
              </a:ext>
            </a:extLst>
          </p:cNvPr>
          <p:cNvPicPr>
            <a:picLocks noChangeAspect="1"/>
          </p:cNvPicPr>
          <p:nvPr/>
        </p:nvPicPr>
        <p:blipFill>
          <a:blip r:embed="rId2" cstate="print">
            <a:extLst>
              <a:ext uri="{28A0092B-C50C-407E-A947-70E740481C1C}">
                <a14:useLocalDpi xmlns:a14="http://schemas.microsoft.com/office/drawing/2010/main" val="0"/>
              </a:ext>
            </a:extLst>
          </a:blip>
          <a:srcRect l="13350" t="2570" r="17125" b="8847"/>
          <a:stretch>
            <a:fillRect/>
          </a:stretch>
        </p:blipFill>
        <p:spPr>
          <a:xfrm>
            <a:off x="8872728" y="2344921"/>
            <a:ext cx="3319272" cy="2273720"/>
          </a:xfrm>
          <a:prstGeom prst="rect">
            <a:avLst/>
          </a:prstGeom>
        </p:spPr>
      </p:pic>
      <p:sp>
        <p:nvSpPr>
          <p:cNvPr id="5" name="Rectangle 4">
            <a:extLst>
              <a:ext uri="{FF2B5EF4-FFF2-40B4-BE49-F238E27FC236}">
                <a16:creationId xmlns:a16="http://schemas.microsoft.com/office/drawing/2014/main" id="{6965E780-385D-9CC8-D438-A4979837BBD9}"/>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IT22243980 |Wickramarachchi T.T. |R26-IT-061</a:t>
            </a:r>
          </a:p>
        </p:txBody>
      </p:sp>
      <p:sp>
        <p:nvSpPr>
          <p:cNvPr id="6" name="TextBox 5">
            <a:extLst>
              <a:ext uri="{FF2B5EF4-FFF2-40B4-BE49-F238E27FC236}">
                <a16:creationId xmlns:a16="http://schemas.microsoft.com/office/drawing/2014/main" id="{320846E5-62E6-0BD2-E2BD-4311697AACBF}"/>
              </a:ext>
            </a:extLst>
          </p:cNvPr>
          <p:cNvSpPr txBox="1"/>
          <p:nvPr/>
        </p:nvSpPr>
        <p:spPr>
          <a:xfrm>
            <a:off x="590629" y="233275"/>
            <a:ext cx="543677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800" dirty="0"/>
              <a:t>Problem Definition</a:t>
            </a:r>
          </a:p>
        </p:txBody>
      </p:sp>
      <p:sp>
        <p:nvSpPr>
          <p:cNvPr id="3" name="TextBox 2">
            <a:extLst>
              <a:ext uri="{FF2B5EF4-FFF2-40B4-BE49-F238E27FC236}">
                <a16:creationId xmlns:a16="http://schemas.microsoft.com/office/drawing/2014/main" id="{533119CD-87D0-6245-860F-93CCA5181BFC}"/>
              </a:ext>
            </a:extLst>
          </p:cNvPr>
          <p:cNvSpPr txBox="1"/>
          <p:nvPr/>
        </p:nvSpPr>
        <p:spPr>
          <a:xfrm>
            <a:off x="590629" y="1404289"/>
            <a:ext cx="8407067" cy="4154984"/>
          </a:xfrm>
          <a:prstGeom prst="rect">
            <a:avLst/>
          </a:prstGeom>
          <a:noFill/>
        </p:spPr>
        <p:txBody>
          <a:bodyPr wrap="square">
            <a:spAutoFit/>
          </a:bodyPr>
          <a:lstStyle/>
          <a:p>
            <a:pPr algn="just"/>
            <a:r>
              <a:rPr lang="en-US" sz="2400" dirty="0"/>
              <a:t>Reliable dengue outbreak prediction requires high-quality datasets that accurately capture climate-driven transmission dynamics. However, raw dengue surveillance and weather datasets often contain:</a:t>
            </a:r>
          </a:p>
          <a:p>
            <a:pPr marL="285750" indent="-285750" algn="just">
              <a:buFont typeface="Arial" panose="020B0604020202020204" pitchFamily="34" charset="0"/>
              <a:buChar char="•"/>
            </a:pPr>
            <a:r>
              <a:rPr lang="en-US" sz="2400" b="1" dirty="0"/>
              <a:t>Missing values</a:t>
            </a:r>
          </a:p>
          <a:p>
            <a:pPr marL="285750" indent="-285750" algn="just">
              <a:buFont typeface="Arial" panose="020B0604020202020204" pitchFamily="34" charset="0"/>
              <a:buChar char="•"/>
            </a:pPr>
            <a:r>
              <a:rPr lang="en-US" sz="2400" b="1" dirty="0"/>
              <a:t>Inconsistent records</a:t>
            </a:r>
          </a:p>
          <a:p>
            <a:pPr marL="285750" indent="-285750" algn="just">
              <a:buFont typeface="Arial" panose="020B0604020202020204" pitchFamily="34" charset="0"/>
              <a:buChar char="•"/>
            </a:pPr>
            <a:r>
              <a:rPr lang="en-US" sz="2400" b="1" dirty="0"/>
              <a:t>Noise and outliers Temporal and spatial misalignment</a:t>
            </a:r>
          </a:p>
          <a:p>
            <a:pPr algn="just"/>
            <a:endParaRPr lang="en-US" sz="2400" dirty="0"/>
          </a:p>
          <a:p>
            <a:pPr algn="just"/>
            <a:r>
              <a:rPr lang="en-US" sz="2400" dirty="0"/>
              <a:t>These issues significantly reduce the performance and reliability of machine learning models used for dengue prediction.</a:t>
            </a:r>
          </a:p>
        </p:txBody>
      </p:sp>
    </p:spTree>
    <p:extLst>
      <p:ext uri="{BB962C8B-B14F-4D97-AF65-F5344CB8AC3E}">
        <p14:creationId xmlns:p14="http://schemas.microsoft.com/office/powerpoint/2010/main" val="160701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ED23-E3DC-0285-FE62-B6B4B3073E2B}"/>
              </a:ext>
            </a:extLst>
          </p:cNvPr>
          <p:cNvSpPr>
            <a:spLocks noGrp="1"/>
          </p:cNvSpPr>
          <p:nvPr>
            <p:ph type="ctrTitle"/>
          </p:nvPr>
        </p:nvSpPr>
        <p:spPr>
          <a:xfrm>
            <a:off x="914400" y="3730752"/>
            <a:ext cx="10363200" cy="1713986"/>
          </a:xfrm>
        </p:spPr>
        <p:txBody>
          <a:bodyPr>
            <a:noAutofit/>
          </a:bodyPr>
          <a:lstStyle/>
          <a:p>
            <a:pPr algn="l"/>
            <a:r>
              <a:rPr lang="en-US" sz="2800" b="1" dirty="0">
                <a:latin typeface="+mn-lt"/>
              </a:rPr>
              <a:t>Research Objective</a:t>
            </a:r>
            <a:br>
              <a:rPr lang="en-US" sz="2400" dirty="0">
                <a:latin typeface="+mn-lt"/>
              </a:rPr>
            </a:br>
            <a:br>
              <a:rPr lang="en-US" sz="2400" dirty="0">
                <a:latin typeface="+mn-lt"/>
              </a:rPr>
            </a:br>
            <a:r>
              <a:rPr lang="en-US" sz="2400" dirty="0">
                <a:latin typeface="+mn-lt"/>
              </a:rPr>
              <a:t>To </a:t>
            </a:r>
            <a:r>
              <a:rPr lang="en-US" sz="2400" b="1" dirty="0">
                <a:latin typeface="+mn-lt"/>
              </a:rPr>
              <a:t>design, analyze, and optimize a reliable, spatially and temporally consistent dataset </a:t>
            </a:r>
            <a:r>
              <a:rPr lang="en-US" sz="2400" dirty="0">
                <a:latin typeface="+mn-lt"/>
              </a:rPr>
              <a:t>that accurately represents dengue outbreaks and climate-driven transmission dynamics for machine learning–based prediction in Colombo District.</a:t>
            </a:r>
            <a:br>
              <a:rPr lang="en-US" sz="2400" dirty="0">
                <a:latin typeface="+mn-lt"/>
              </a:rPr>
            </a:br>
            <a:br>
              <a:rPr lang="en-US" sz="2400" dirty="0">
                <a:latin typeface="+mn-lt"/>
              </a:rPr>
            </a:br>
            <a:r>
              <a:rPr lang="en-US" sz="2800" b="1" dirty="0">
                <a:latin typeface="+mn-lt"/>
              </a:rPr>
              <a:t>Sub-Objectives</a:t>
            </a:r>
            <a:br>
              <a:rPr lang="en-US" sz="2400" dirty="0">
                <a:latin typeface="+mn-lt"/>
              </a:rPr>
            </a:br>
            <a:br>
              <a:rPr lang="en-US" sz="2400" dirty="0">
                <a:latin typeface="+mn-lt"/>
              </a:rPr>
            </a:br>
            <a:r>
              <a:rPr lang="en-US" sz="2400" dirty="0">
                <a:latin typeface="+mn-lt"/>
              </a:rPr>
              <a:t>• Collect </a:t>
            </a:r>
            <a:r>
              <a:rPr lang="en-US" sz="2400" b="1" dirty="0">
                <a:latin typeface="+mn-lt"/>
              </a:rPr>
              <a:t>dengue case data and climate data</a:t>
            </a:r>
            <a:r>
              <a:rPr lang="en-US" sz="2400" dirty="0">
                <a:latin typeface="+mn-lt"/>
              </a:rPr>
              <a:t>.</a:t>
            </a:r>
            <a:br>
              <a:rPr lang="en-US" sz="2400" dirty="0">
                <a:latin typeface="+mn-lt"/>
              </a:rPr>
            </a:br>
            <a:r>
              <a:rPr lang="en-US" sz="2400" dirty="0">
                <a:latin typeface="+mn-lt"/>
              </a:rPr>
              <a:t>• Perform </a:t>
            </a:r>
            <a:r>
              <a:rPr lang="en-US" sz="2400" b="1" dirty="0">
                <a:latin typeface="+mn-lt"/>
              </a:rPr>
              <a:t>exploratory data analysis (EDA).</a:t>
            </a:r>
            <a:br>
              <a:rPr lang="en-US" sz="2400" dirty="0">
                <a:latin typeface="+mn-lt"/>
              </a:rPr>
            </a:br>
            <a:r>
              <a:rPr lang="en-US" sz="2400" dirty="0">
                <a:latin typeface="+mn-lt"/>
              </a:rPr>
              <a:t>• Clean and preprocess datasets.</a:t>
            </a:r>
            <a:br>
              <a:rPr lang="en-US" sz="2400" dirty="0">
                <a:latin typeface="+mn-lt"/>
              </a:rPr>
            </a:br>
            <a:r>
              <a:rPr lang="en-US" sz="2400" dirty="0">
                <a:latin typeface="+mn-lt"/>
              </a:rPr>
              <a:t>• Engineer biologically meaningful temporal features.</a:t>
            </a:r>
            <a:br>
              <a:rPr lang="en-US" sz="2400" dirty="0">
                <a:latin typeface="+mn-lt"/>
              </a:rPr>
            </a:br>
            <a:r>
              <a:rPr lang="en-US" sz="2400" dirty="0">
                <a:latin typeface="+mn-lt"/>
              </a:rPr>
              <a:t>• Produce optimized machine-learning-ready datasets.</a:t>
            </a:r>
          </a:p>
        </p:txBody>
      </p:sp>
      <p:sp>
        <p:nvSpPr>
          <p:cNvPr id="5" name="TextBox 4">
            <a:extLst>
              <a:ext uri="{FF2B5EF4-FFF2-40B4-BE49-F238E27FC236}">
                <a16:creationId xmlns:a16="http://schemas.microsoft.com/office/drawing/2014/main" id="{64991694-9A3E-2508-739D-1A73CFAB2100}"/>
              </a:ext>
            </a:extLst>
          </p:cNvPr>
          <p:cNvSpPr txBox="1"/>
          <p:nvPr/>
        </p:nvSpPr>
        <p:spPr>
          <a:xfrm>
            <a:off x="3048000" y="6488668"/>
            <a:ext cx="6096000" cy="369332"/>
          </a:xfrm>
          <a:prstGeom prst="rect">
            <a:avLst/>
          </a:prstGeom>
          <a:noFill/>
        </p:spPr>
        <p:txBody>
          <a:bodyPr wrap="square">
            <a:spAutoFit/>
          </a:bodyPr>
          <a:lstStyle/>
          <a:p>
            <a:r>
              <a:rPr lang="en-US" dirty="0">
                <a:solidFill>
                  <a:schemeClr val="tx1"/>
                </a:solidFill>
              </a:rPr>
              <a:t>IT22243980 |Wickramarachchi T.T. |R26-IT-061</a:t>
            </a:r>
          </a:p>
        </p:txBody>
      </p:sp>
    </p:spTree>
    <p:extLst>
      <p:ext uri="{BB962C8B-B14F-4D97-AF65-F5344CB8AC3E}">
        <p14:creationId xmlns:p14="http://schemas.microsoft.com/office/powerpoint/2010/main" val="2741099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244AD-4298-6C97-5625-24F332CF1EF9}"/>
              </a:ext>
            </a:extLst>
          </p:cNvPr>
          <p:cNvSpPr>
            <a:spLocks noGrp="1"/>
          </p:cNvSpPr>
          <p:nvPr>
            <p:ph type="ctrTitle"/>
          </p:nvPr>
        </p:nvSpPr>
        <p:spPr>
          <a:xfrm>
            <a:off x="914398" y="2962530"/>
            <a:ext cx="10382865" cy="1470025"/>
          </a:xfrm>
        </p:spPr>
        <p:txBody>
          <a:bodyPr>
            <a:noAutofit/>
          </a:bodyPr>
          <a:lstStyle/>
          <a:p>
            <a:pPr algn="just"/>
            <a:r>
              <a:rPr lang="en-US" sz="3200" b="1" dirty="0">
                <a:latin typeface="+mn-lt"/>
              </a:rPr>
              <a:t>Novelty</a:t>
            </a:r>
            <a:br>
              <a:rPr lang="en-US" sz="3200" dirty="0">
                <a:latin typeface="+mn-lt"/>
              </a:rPr>
            </a:br>
            <a:br>
              <a:rPr lang="en-US" sz="3200" dirty="0">
                <a:latin typeface="+mn-lt"/>
              </a:rPr>
            </a:br>
            <a:r>
              <a:rPr lang="en-US" sz="3200" dirty="0">
                <a:latin typeface="+mn-lt"/>
              </a:rPr>
              <a:t>This component treats data engineering as a standalone research problem rather than a routine preprocessing step, exploring multiple preprocessing, normalization, feature engineering, and feature selection strategies to determine how each affects dengue outbreak prediction performance.</a:t>
            </a:r>
          </a:p>
        </p:txBody>
      </p:sp>
      <p:sp>
        <p:nvSpPr>
          <p:cNvPr id="5" name="TextBox 4">
            <a:extLst>
              <a:ext uri="{FF2B5EF4-FFF2-40B4-BE49-F238E27FC236}">
                <a16:creationId xmlns:a16="http://schemas.microsoft.com/office/drawing/2014/main" id="{BCA2AFCF-F1E9-3A45-5F96-217B078E8745}"/>
              </a:ext>
            </a:extLst>
          </p:cNvPr>
          <p:cNvSpPr txBox="1"/>
          <p:nvPr/>
        </p:nvSpPr>
        <p:spPr>
          <a:xfrm>
            <a:off x="3057831" y="6488668"/>
            <a:ext cx="6096000" cy="369332"/>
          </a:xfrm>
          <a:prstGeom prst="rect">
            <a:avLst/>
          </a:prstGeom>
          <a:noFill/>
        </p:spPr>
        <p:txBody>
          <a:bodyPr wrap="square">
            <a:spAutoFit/>
          </a:bodyPr>
          <a:lstStyle/>
          <a:p>
            <a:r>
              <a:rPr lang="en-US" dirty="0">
                <a:solidFill>
                  <a:schemeClr val="tx1"/>
                </a:solidFill>
              </a:rPr>
              <a:t>IT22243980 |Wickramarachchi T.T. |R26-IT-061</a:t>
            </a:r>
          </a:p>
        </p:txBody>
      </p:sp>
    </p:spTree>
    <p:extLst>
      <p:ext uri="{BB962C8B-B14F-4D97-AF65-F5344CB8AC3E}">
        <p14:creationId xmlns:p14="http://schemas.microsoft.com/office/powerpoint/2010/main" val="2876005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25AF9-585F-2D5F-6BF8-08D3CEADED0B}"/>
              </a:ext>
            </a:extLst>
          </p:cNvPr>
          <p:cNvSpPr>
            <a:spLocks noGrp="1"/>
          </p:cNvSpPr>
          <p:nvPr>
            <p:ph type="ctrTitle"/>
          </p:nvPr>
        </p:nvSpPr>
        <p:spPr>
          <a:xfrm>
            <a:off x="914400" y="4132962"/>
            <a:ext cx="10363200" cy="1586168"/>
          </a:xfrm>
        </p:spPr>
        <p:txBody>
          <a:bodyPr>
            <a:noAutofit/>
          </a:bodyPr>
          <a:lstStyle/>
          <a:p>
            <a:pPr algn="l"/>
            <a:br>
              <a:rPr lang="en-US" sz="2400" dirty="0">
                <a:latin typeface="+mn-lt"/>
              </a:rPr>
            </a:br>
            <a:br>
              <a:rPr lang="en-US" sz="2400" dirty="0">
                <a:latin typeface="+mn-lt"/>
              </a:rPr>
            </a:br>
            <a:r>
              <a:rPr lang="en-US" sz="3600" b="1" dirty="0">
                <a:latin typeface="+mn-lt"/>
              </a:rPr>
              <a:t>Research Methodology</a:t>
            </a:r>
            <a:br>
              <a:rPr lang="en-US" sz="2400" b="1" dirty="0">
                <a:latin typeface="+mn-lt"/>
              </a:rPr>
            </a:br>
            <a:br>
              <a:rPr lang="en-US" sz="2400" b="1" dirty="0">
                <a:latin typeface="+mn-lt"/>
              </a:rPr>
            </a:br>
            <a:r>
              <a:rPr lang="en-US" sz="2400" b="1" dirty="0">
                <a:latin typeface="+mn-lt"/>
              </a:rPr>
              <a:t>Data Collection</a:t>
            </a:r>
            <a:br>
              <a:rPr lang="en-US" sz="2400" dirty="0">
                <a:latin typeface="+mn-lt"/>
              </a:rPr>
            </a:br>
            <a:r>
              <a:rPr lang="en-US" sz="2400" dirty="0">
                <a:latin typeface="+mn-lt"/>
              </a:rPr>
              <a:t>• Historical dengue case data from National Dengue Control Unit</a:t>
            </a:r>
            <a:br>
              <a:rPr lang="en-US" sz="2400" dirty="0">
                <a:latin typeface="+mn-lt"/>
              </a:rPr>
            </a:br>
            <a:r>
              <a:rPr lang="en-US" sz="2400" dirty="0">
                <a:latin typeface="+mn-lt"/>
              </a:rPr>
              <a:t>• Climate data from Department of Meteorology</a:t>
            </a:r>
            <a:br>
              <a:rPr lang="en-US" sz="2400" dirty="0">
                <a:latin typeface="+mn-lt"/>
              </a:rPr>
            </a:br>
            <a:br>
              <a:rPr lang="en-US" sz="2400" dirty="0">
                <a:latin typeface="+mn-lt"/>
              </a:rPr>
            </a:br>
            <a:r>
              <a:rPr lang="en-US" sz="2400" b="1" dirty="0">
                <a:latin typeface="+mn-lt"/>
              </a:rPr>
              <a:t>Exploratory Data Analysis (EDA)</a:t>
            </a:r>
            <a:br>
              <a:rPr lang="en-US" sz="2400" dirty="0">
                <a:latin typeface="+mn-lt"/>
              </a:rPr>
            </a:br>
            <a:r>
              <a:rPr lang="en-US" sz="2400" dirty="0">
                <a:latin typeface="+mn-lt"/>
              </a:rPr>
              <a:t>Analyze datasets to identify:</a:t>
            </a:r>
            <a:br>
              <a:rPr lang="en-US" sz="2400" dirty="0">
                <a:latin typeface="+mn-lt"/>
              </a:rPr>
            </a:br>
            <a:r>
              <a:rPr lang="en-US" sz="2400" dirty="0">
                <a:latin typeface="+mn-lt"/>
              </a:rPr>
              <a:t>Seasonal dengue patterns</a:t>
            </a:r>
            <a:br>
              <a:rPr lang="en-US" sz="2400" dirty="0">
                <a:latin typeface="+mn-lt"/>
              </a:rPr>
            </a:br>
            <a:r>
              <a:rPr lang="en-US" sz="2400" dirty="0">
                <a:latin typeface="+mn-lt"/>
              </a:rPr>
              <a:t>Data quality issues</a:t>
            </a:r>
            <a:br>
              <a:rPr lang="en-US" sz="2400" dirty="0">
                <a:latin typeface="+mn-lt"/>
              </a:rPr>
            </a:br>
            <a:r>
              <a:rPr lang="en-US" sz="2400" dirty="0">
                <a:latin typeface="+mn-lt"/>
              </a:rPr>
              <a:t>Climate–dengue relationships</a:t>
            </a:r>
            <a:br>
              <a:rPr lang="en-US" sz="2400" dirty="0">
                <a:latin typeface="+mn-lt"/>
              </a:rPr>
            </a:br>
            <a:br>
              <a:rPr lang="en-US" sz="2400" dirty="0">
                <a:latin typeface="+mn-lt"/>
              </a:rPr>
            </a:br>
            <a:r>
              <a:rPr lang="en-US" sz="2400" b="1" dirty="0">
                <a:latin typeface="+mn-lt"/>
              </a:rPr>
              <a:t>Data Preprocessing</a:t>
            </a:r>
            <a:br>
              <a:rPr lang="en-US" sz="2400" dirty="0">
                <a:latin typeface="+mn-lt"/>
              </a:rPr>
            </a:br>
            <a:r>
              <a:rPr lang="en-US" sz="2400" dirty="0">
                <a:latin typeface="+mn-lt"/>
              </a:rPr>
              <a:t>• Handle missing values and inconsistencies</a:t>
            </a:r>
            <a:br>
              <a:rPr lang="en-US" sz="2400" dirty="0">
                <a:latin typeface="+mn-lt"/>
              </a:rPr>
            </a:br>
            <a:r>
              <a:rPr lang="en-US" sz="2400" dirty="0">
                <a:latin typeface="+mn-lt"/>
              </a:rPr>
              <a:t>• Detect and remove outliers</a:t>
            </a:r>
            <a:br>
              <a:rPr lang="en-US" sz="2400" dirty="0">
                <a:latin typeface="+mn-lt"/>
              </a:rPr>
            </a:br>
            <a:r>
              <a:rPr lang="en-US" sz="2400" dirty="0">
                <a:latin typeface="+mn-lt"/>
              </a:rPr>
              <a:t>• Normalize and scale climate variables</a:t>
            </a:r>
          </a:p>
        </p:txBody>
      </p:sp>
      <p:sp>
        <p:nvSpPr>
          <p:cNvPr id="5" name="TextBox 4">
            <a:extLst>
              <a:ext uri="{FF2B5EF4-FFF2-40B4-BE49-F238E27FC236}">
                <a16:creationId xmlns:a16="http://schemas.microsoft.com/office/drawing/2014/main" id="{8BC3266D-5966-9271-5548-053795C531B2}"/>
              </a:ext>
            </a:extLst>
          </p:cNvPr>
          <p:cNvSpPr txBox="1"/>
          <p:nvPr/>
        </p:nvSpPr>
        <p:spPr>
          <a:xfrm>
            <a:off x="3169920" y="6488668"/>
            <a:ext cx="6096000" cy="369332"/>
          </a:xfrm>
          <a:prstGeom prst="rect">
            <a:avLst/>
          </a:prstGeom>
          <a:noFill/>
        </p:spPr>
        <p:txBody>
          <a:bodyPr wrap="square">
            <a:spAutoFit/>
          </a:bodyPr>
          <a:lstStyle/>
          <a:p>
            <a:r>
              <a:rPr lang="en-US" dirty="0">
                <a:solidFill>
                  <a:schemeClr val="tx1"/>
                </a:solidFill>
              </a:rPr>
              <a:t>IT22243980 |Wickramarachchi T.T. |R26-IT-061</a:t>
            </a:r>
          </a:p>
        </p:txBody>
      </p:sp>
      <p:pic>
        <p:nvPicPr>
          <p:cNvPr id="4" name="Picture 3">
            <a:extLst>
              <a:ext uri="{FF2B5EF4-FFF2-40B4-BE49-F238E27FC236}">
                <a16:creationId xmlns:a16="http://schemas.microsoft.com/office/drawing/2014/main" id="{276431B4-D588-3BA8-66D0-B371D0BF13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4992" y="2219899"/>
            <a:ext cx="4620768" cy="2418202"/>
          </a:xfrm>
          <a:prstGeom prst="rect">
            <a:avLst/>
          </a:prstGeom>
        </p:spPr>
      </p:pic>
    </p:spTree>
    <p:extLst>
      <p:ext uri="{BB962C8B-B14F-4D97-AF65-F5344CB8AC3E}">
        <p14:creationId xmlns:p14="http://schemas.microsoft.com/office/powerpoint/2010/main" val="354640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A3ED9-6765-635E-3F3C-0A486DEA8D8F}"/>
              </a:ext>
            </a:extLst>
          </p:cNvPr>
          <p:cNvSpPr>
            <a:spLocks noGrp="1"/>
          </p:cNvSpPr>
          <p:nvPr>
            <p:ph type="ctrTitle"/>
          </p:nvPr>
        </p:nvSpPr>
        <p:spPr>
          <a:xfrm>
            <a:off x="914400" y="3353950"/>
            <a:ext cx="10363200" cy="1470025"/>
          </a:xfrm>
        </p:spPr>
        <p:txBody>
          <a:bodyPr>
            <a:noAutofit/>
          </a:bodyPr>
          <a:lstStyle/>
          <a:p>
            <a:pPr algn="l"/>
            <a:r>
              <a:rPr lang="en-US" sz="2800" b="1" dirty="0">
                <a:latin typeface="+mn-lt"/>
              </a:rPr>
              <a:t>Feature Engineering</a:t>
            </a:r>
            <a:br>
              <a:rPr lang="en-US" sz="2800" dirty="0">
                <a:latin typeface="+mn-lt"/>
              </a:rPr>
            </a:br>
            <a:r>
              <a:rPr lang="en-US" sz="2800" dirty="0">
                <a:latin typeface="+mn-lt"/>
              </a:rPr>
              <a:t>Generate biologically informed time-lag features (1–4 weeks) based on mosquito life cycle dynamics.</a:t>
            </a:r>
            <a:br>
              <a:rPr lang="en-US" sz="2800" dirty="0">
                <a:latin typeface="+mn-lt"/>
              </a:rPr>
            </a:br>
            <a:br>
              <a:rPr lang="en-US" sz="2800" dirty="0">
                <a:latin typeface="+mn-lt"/>
              </a:rPr>
            </a:br>
            <a:r>
              <a:rPr lang="en-US" sz="2800" b="1" dirty="0">
                <a:latin typeface="+mn-lt"/>
              </a:rPr>
              <a:t>Feature Selection</a:t>
            </a:r>
            <a:br>
              <a:rPr lang="en-US" sz="2800" dirty="0">
                <a:latin typeface="+mn-lt"/>
              </a:rPr>
            </a:br>
            <a:r>
              <a:rPr lang="en-US" sz="2800" dirty="0">
                <a:latin typeface="+mn-lt"/>
              </a:rPr>
              <a:t>Apply techniques such as:</a:t>
            </a:r>
            <a:br>
              <a:rPr lang="en-US" sz="2800" dirty="0">
                <a:latin typeface="+mn-lt"/>
              </a:rPr>
            </a:br>
            <a:r>
              <a:rPr lang="en-US" sz="2800" dirty="0">
                <a:latin typeface="+mn-lt"/>
              </a:rPr>
              <a:t>Correlation analysis</a:t>
            </a:r>
            <a:br>
              <a:rPr lang="en-US" sz="2800" dirty="0">
                <a:latin typeface="+mn-lt"/>
              </a:rPr>
            </a:br>
            <a:r>
              <a:rPr lang="en-US" sz="2800" dirty="0">
                <a:latin typeface="+mn-lt"/>
              </a:rPr>
              <a:t>Mutual information</a:t>
            </a:r>
            <a:br>
              <a:rPr lang="en-US" sz="2800" dirty="0">
                <a:latin typeface="+mn-lt"/>
              </a:rPr>
            </a:br>
            <a:r>
              <a:rPr lang="en-US" sz="2800" dirty="0">
                <a:latin typeface="+mn-lt"/>
              </a:rPr>
              <a:t>Model-based feature importance</a:t>
            </a:r>
            <a:br>
              <a:rPr lang="en-US" sz="2800" dirty="0">
                <a:latin typeface="+mn-lt"/>
              </a:rPr>
            </a:br>
            <a:r>
              <a:rPr lang="en-US" sz="2800" dirty="0">
                <a:latin typeface="+mn-lt"/>
              </a:rPr>
              <a:t>to identify the most influential climate and temporal feature</a:t>
            </a:r>
          </a:p>
        </p:txBody>
      </p:sp>
      <p:sp>
        <p:nvSpPr>
          <p:cNvPr id="5" name="TextBox 4">
            <a:extLst>
              <a:ext uri="{FF2B5EF4-FFF2-40B4-BE49-F238E27FC236}">
                <a16:creationId xmlns:a16="http://schemas.microsoft.com/office/drawing/2014/main" id="{11520D2E-57B1-5F1E-B341-54C1F0637BC1}"/>
              </a:ext>
            </a:extLst>
          </p:cNvPr>
          <p:cNvSpPr txBox="1"/>
          <p:nvPr/>
        </p:nvSpPr>
        <p:spPr>
          <a:xfrm>
            <a:off x="3230880" y="6488668"/>
            <a:ext cx="6096000" cy="369332"/>
          </a:xfrm>
          <a:prstGeom prst="rect">
            <a:avLst/>
          </a:prstGeom>
          <a:noFill/>
        </p:spPr>
        <p:txBody>
          <a:bodyPr wrap="square">
            <a:spAutoFit/>
          </a:bodyPr>
          <a:lstStyle/>
          <a:p>
            <a:r>
              <a:rPr lang="en-US" dirty="0">
                <a:solidFill>
                  <a:schemeClr val="tx1"/>
                </a:solidFill>
              </a:rPr>
              <a:t>IT22243980 |Wickramarachchi T.T. |R26-IT-061</a:t>
            </a:r>
          </a:p>
        </p:txBody>
      </p:sp>
    </p:spTree>
    <p:extLst>
      <p:ext uri="{BB962C8B-B14F-4D97-AF65-F5344CB8AC3E}">
        <p14:creationId xmlns:p14="http://schemas.microsoft.com/office/powerpoint/2010/main" val="176996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745BC-20FA-7D3B-E0A3-84310A08F612}"/>
              </a:ext>
            </a:extLst>
          </p:cNvPr>
          <p:cNvSpPr>
            <a:spLocks noGrp="1"/>
          </p:cNvSpPr>
          <p:nvPr>
            <p:ph type="ctrTitle"/>
          </p:nvPr>
        </p:nvSpPr>
        <p:spPr>
          <a:xfrm>
            <a:off x="812800" y="4335794"/>
            <a:ext cx="10363200" cy="1470025"/>
          </a:xfrm>
        </p:spPr>
        <p:txBody>
          <a:bodyPr>
            <a:noAutofit/>
          </a:bodyPr>
          <a:lstStyle/>
          <a:p>
            <a:pPr algn="l"/>
            <a:r>
              <a:rPr lang="en-US" sz="2400" b="1" dirty="0">
                <a:latin typeface="+mn-lt"/>
              </a:rPr>
              <a:t>Technologies, Validation &amp; Data</a:t>
            </a:r>
            <a:br>
              <a:rPr lang="en-US" sz="2400" b="1" dirty="0">
                <a:latin typeface="+mn-lt"/>
              </a:rPr>
            </a:br>
            <a:br>
              <a:rPr lang="en-US" sz="2400" b="1" dirty="0">
                <a:latin typeface="+mn-lt"/>
              </a:rPr>
            </a:br>
            <a:r>
              <a:rPr lang="en-US" sz="2400" dirty="0">
                <a:latin typeface="+mn-lt"/>
              </a:rPr>
              <a:t>Technologies Used</a:t>
            </a:r>
            <a:br>
              <a:rPr lang="en-US" sz="2400" dirty="0">
                <a:latin typeface="+mn-lt"/>
              </a:rPr>
            </a:br>
            <a:br>
              <a:rPr lang="en-US" sz="2400" dirty="0">
                <a:latin typeface="+mn-lt"/>
              </a:rPr>
            </a:br>
            <a:r>
              <a:rPr lang="en-US" sz="2400" b="1" dirty="0">
                <a:latin typeface="+mn-lt"/>
              </a:rPr>
              <a:t>Data Processing</a:t>
            </a:r>
            <a:br>
              <a:rPr lang="en-US" sz="2400" dirty="0">
                <a:latin typeface="+mn-lt"/>
              </a:rPr>
            </a:br>
            <a:r>
              <a:rPr lang="en-US" sz="2400" dirty="0">
                <a:latin typeface="+mn-lt"/>
              </a:rPr>
              <a:t>• Python</a:t>
            </a:r>
            <a:br>
              <a:rPr lang="en-US" sz="2400" dirty="0">
                <a:latin typeface="+mn-lt"/>
              </a:rPr>
            </a:br>
            <a:r>
              <a:rPr lang="en-US" sz="2400" dirty="0">
                <a:latin typeface="+mn-lt"/>
              </a:rPr>
              <a:t>• Pandas</a:t>
            </a:r>
            <a:br>
              <a:rPr lang="en-US" sz="2400" dirty="0">
                <a:latin typeface="+mn-lt"/>
              </a:rPr>
            </a:br>
            <a:r>
              <a:rPr lang="en-US" sz="2400" dirty="0">
                <a:latin typeface="+mn-lt"/>
              </a:rPr>
              <a:t>• NumPy</a:t>
            </a:r>
            <a:br>
              <a:rPr lang="en-US" sz="2400" dirty="0">
                <a:latin typeface="+mn-lt"/>
              </a:rPr>
            </a:br>
            <a:br>
              <a:rPr lang="en-US" sz="2400" dirty="0">
                <a:latin typeface="+mn-lt"/>
              </a:rPr>
            </a:br>
            <a:r>
              <a:rPr lang="en-US" sz="2400" b="1" dirty="0">
                <a:latin typeface="+mn-lt"/>
              </a:rPr>
              <a:t>Feature Engineering &amp; Analysis</a:t>
            </a:r>
            <a:br>
              <a:rPr lang="en-US" sz="2400" dirty="0">
                <a:latin typeface="+mn-lt"/>
              </a:rPr>
            </a:br>
            <a:r>
              <a:rPr lang="en-US" sz="2400" dirty="0">
                <a:latin typeface="+mn-lt"/>
              </a:rPr>
              <a:t>• Scikit-learn preprocessing tools</a:t>
            </a:r>
            <a:br>
              <a:rPr lang="en-US" sz="2400" dirty="0">
                <a:latin typeface="+mn-lt"/>
              </a:rPr>
            </a:br>
            <a:r>
              <a:rPr lang="en-US" sz="2400" dirty="0">
                <a:latin typeface="+mn-lt"/>
              </a:rPr>
              <a:t>• Statistical analysis libraries</a:t>
            </a:r>
            <a:br>
              <a:rPr lang="en-US" sz="2400" dirty="0">
                <a:latin typeface="+mn-lt"/>
              </a:rPr>
            </a:br>
            <a:br>
              <a:rPr lang="en-US" sz="2400" dirty="0">
                <a:latin typeface="+mn-lt"/>
              </a:rPr>
            </a:br>
            <a:r>
              <a:rPr lang="en-US" sz="2400" b="1" dirty="0">
                <a:latin typeface="+mn-lt"/>
              </a:rPr>
              <a:t>Validation Strategy</a:t>
            </a:r>
            <a:br>
              <a:rPr lang="en-US" sz="2400" dirty="0">
                <a:latin typeface="+mn-lt"/>
              </a:rPr>
            </a:br>
            <a:r>
              <a:rPr lang="en-US" sz="2400" dirty="0">
                <a:latin typeface="+mn-lt"/>
              </a:rPr>
              <a:t>• Compare prediction performance across multiple dataset variants.</a:t>
            </a:r>
            <a:br>
              <a:rPr lang="en-US" sz="2400" dirty="0">
                <a:latin typeface="+mn-lt"/>
              </a:rPr>
            </a:br>
            <a:r>
              <a:rPr lang="en-US" sz="2400" dirty="0">
                <a:latin typeface="+mn-lt"/>
              </a:rPr>
              <a:t>• Evaluate the influence of different preprocessing strategies.</a:t>
            </a:r>
            <a:br>
              <a:rPr lang="en-US" sz="2400" dirty="0">
                <a:latin typeface="+mn-lt"/>
              </a:rPr>
            </a:br>
            <a:r>
              <a:rPr lang="en-US" sz="2400" dirty="0">
                <a:latin typeface="+mn-lt"/>
              </a:rPr>
              <a:t>• Analyze feature importance to identify critical climate variables.</a:t>
            </a:r>
          </a:p>
        </p:txBody>
      </p:sp>
      <p:sp>
        <p:nvSpPr>
          <p:cNvPr id="5" name="TextBox 4">
            <a:extLst>
              <a:ext uri="{FF2B5EF4-FFF2-40B4-BE49-F238E27FC236}">
                <a16:creationId xmlns:a16="http://schemas.microsoft.com/office/drawing/2014/main" id="{28507E05-3639-6897-C945-10D5E93E9038}"/>
              </a:ext>
            </a:extLst>
          </p:cNvPr>
          <p:cNvSpPr txBox="1"/>
          <p:nvPr/>
        </p:nvSpPr>
        <p:spPr>
          <a:xfrm>
            <a:off x="2946400" y="6488668"/>
            <a:ext cx="6096000" cy="369332"/>
          </a:xfrm>
          <a:prstGeom prst="rect">
            <a:avLst/>
          </a:prstGeom>
          <a:noFill/>
        </p:spPr>
        <p:txBody>
          <a:bodyPr wrap="square">
            <a:spAutoFit/>
          </a:bodyPr>
          <a:lstStyle/>
          <a:p>
            <a:r>
              <a:rPr lang="en-US" dirty="0">
                <a:solidFill>
                  <a:schemeClr val="tx1"/>
                </a:solidFill>
              </a:rPr>
              <a:t>IT22243980 |Wickramarachchi T.T. |R26-IT-061</a:t>
            </a:r>
          </a:p>
        </p:txBody>
      </p:sp>
      <p:pic>
        <p:nvPicPr>
          <p:cNvPr id="4" name="Picture 3">
            <a:extLst>
              <a:ext uri="{FF2B5EF4-FFF2-40B4-BE49-F238E27FC236}">
                <a16:creationId xmlns:a16="http://schemas.microsoft.com/office/drawing/2014/main" id="{3328886E-A6B2-2081-89B9-0659548B02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5663" y="779682"/>
            <a:ext cx="2143125" cy="2143125"/>
          </a:xfrm>
          <a:prstGeom prst="rect">
            <a:avLst/>
          </a:prstGeom>
        </p:spPr>
      </p:pic>
      <p:pic>
        <p:nvPicPr>
          <p:cNvPr id="6" name="Picture 5">
            <a:extLst>
              <a:ext uri="{FF2B5EF4-FFF2-40B4-BE49-F238E27FC236}">
                <a16:creationId xmlns:a16="http://schemas.microsoft.com/office/drawing/2014/main" id="{D86820C6-DD35-1D4C-A8AF-8FA7A0A542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8494" y="2522206"/>
            <a:ext cx="2931130" cy="1955064"/>
          </a:xfrm>
          <a:prstGeom prst="rect">
            <a:avLst/>
          </a:prstGeom>
        </p:spPr>
      </p:pic>
    </p:spTree>
    <p:extLst>
      <p:ext uri="{BB962C8B-B14F-4D97-AF65-F5344CB8AC3E}">
        <p14:creationId xmlns:p14="http://schemas.microsoft.com/office/powerpoint/2010/main" val="493344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C81F7-BC8D-753C-668F-80B81C366D92}"/>
              </a:ext>
            </a:extLst>
          </p:cNvPr>
          <p:cNvSpPr>
            <a:spLocks noGrp="1"/>
          </p:cNvSpPr>
          <p:nvPr>
            <p:ph type="ctrTitle"/>
          </p:nvPr>
        </p:nvSpPr>
        <p:spPr>
          <a:xfrm>
            <a:off x="868680" y="3569770"/>
            <a:ext cx="10771632" cy="1470025"/>
          </a:xfrm>
        </p:spPr>
        <p:txBody>
          <a:bodyPr>
            <a:noAutofit/>
          </a:bodyPr>
          <a:lstStyle/>
          <a:p>
            <a:pPr algn="l"/>
            <a:r>
              <a:rPr lang="en-US" sz="2800" b="1" dirty="0">
                <a:latin typeface="+mn-lt"/>
              </a:rPr>
              <a:t>Data Availability</a:t>
            </a:r>
            <a:br>
              <a:rPr lang="en-US" sz="2800" dirty="0">
                <a:latin typeface="+mn-lt"/>
              </a:rPr>
            </a:br>
            <a:r>
              <a:rPr lang="en-US" sz="2800" dirty="0">
                <a:latin typeface="+mn-lt"/>
              </a:rPr>
              <a:t>• National Dengue Control Unit (Sri Lanka)</a:t>
            </a:r>
            <a:br>
              <a:rPr lang="en-US" sz="2800" dirty="0">
                <a:latin typeface="+mn-lt"/>
              </a:rPr>
            </a:br>
            <a:r>
              <a:rPr lang="en-US" sz="2800" dirty="0">
                <a:latin typeface="+mn-lt"/>
              </a:rPr>
              <a:t>• Department of Meteorology (Sri Lanka)</a:t>
            </a:r>
            <a:br>
              <a:rPr lang="en-US" sz="2800" dirty="0">
                <a:latin typeface="+mn-lt"/>
              </a:rPr>
            </a:br>
            <a:br>
              <a:rPr lang="en-US" sz="2800" dirty="0">
                <a:latin typeface="+mn-lt"/>
              </a:rPr>
            </a:br>
            <a:br>
              <a:rPr lang="en-US" sz="2800" dirty="0">
                <a:latin typeface="+mn-lt"/>
              </a:rPr>
            </a:br>
            <a:r>
              <a:rPr lang="en-US" sz="2800" b="1" dirty="0">
                <a:latin typeface="+mn-lt"/>
              </a:rPr>
              <a:t>Security &amp; Ethical Considerations</a:t>
            </a:r>
            <a:br>
              <a:rPr lang="en-US" sz="2800" dirty="0">
                <a:latin typeface="+mn-lt"/>
              </a:rPr>
            </a:br>
            <a:r>
              <a:rPr lang="en-US" sz="2800" dirty="0">
                <a:latin typeface="+mn-lt"/>
              </a:rPr>
              <a:t>• Use publicly available government datasets</a:t>
            </a:r>
            <a:br>
              <a:rPr lang="en-US" sz="2800" dirty="0">
                <a:latin typeface="+mn-lt"/>
              </a:rPr>
            </a:br>
            <a:r>
              <a:rPr lang="en-US" sz="2800" dirty="0">
                <a:latin typeface="+mn-lt"/>
              </a:rPr>
              <a:t>• Ensure responsible handling of epidemiological data</a:t>
            </a:r>
            <a:br>
              <a:rPr lang="en-US" sz="2800" dirty="0">
                <a:latin typeface="+mn-lt"/>
              </a:rPr>
            </a:br>
            <a:r>
              <a:rPr lang="en-US" sz="2800" dirty="0">
                <a:latin typeface="+mn-lt"/>
              </a:rPr>
              <a:t>• Maintain ethical standards in health data research.</a:t>
            </a:r>
          </a:p>
        </p:txBody>
      </p:sp>
      <p:sp>
        <p:nvSpPr>
          <p:cNvPr id="5" name="TextBox 4">
            <a:extLst>
              <a:ext uri="{FF2B5EF4-FFF2-40B4-BE49-F238E27FC236}">
                <a16:creationId xmlns:a16="http://schemas.microsoft.com/office/drawing/2014/main" id="{E9DBBA44-5F04-E0F2-32CB-C357F61F1893}"/>
              </a:ext>
            </a:extLst>
          </p:cNvPr>
          <p:cNvSpPr txBox="1"/>
          <p:nvPr/>
        </p:nvSpPr>
        <p:spPr>
          <a:xfrm>
            <a:off x="3048000" y="6488668"/>
            <a:ext cx="6096000" cy="369332"/>
          </a:xfrm>
          <a:prstGeom prst="rect">
            <a:avLst/>
          </a:prstGeom>
          <a:noFill/>
        </p:spPr>
        <p:txBody>
          <a:bodyPr wrap="square">
            <a:spAutoFit/>
          </a:bodyPr>
          <a:lstStyle/>
          <a:p>
            <a:r>
              <a:rPr lang="en-US" dirty="0">
                <a:solidFill>
                  <a:schemeClr val="tx1"/>
                </a:solidFill>
              </a:rPr>
              <a:t>IT22243980 |Wickramarachchi T.T. |R26-IT-061</a:t>
            </a:r>
          </a:p>
        </p:txBody>
      </p:sp>
    </p:spTree>
    <p:extLst>
      <p:ext uri="{BB962C8B-B14F-4D97-AF65-F5344CB8AC3E}">
        <p14:creationId xmlns:p14="http://schemas.microsoft.com/office/powerpoint/2010/main" val="3526925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F1FE6B-FE0B-3301-0A51-BB3340CA4DF6}"/>
              </a:ext>
            </a:extLst>
          </p:cNvPr>
          <p:cNvSpPr>
            <a:spLocks noGrp="1"/>
          </p:cNvSpPr>
          <p:nvPr>
            <p:ph idx="1"/>
          </p:nvPr>
        </p:nvSpPr>
        <p:spPr>
          <a:xfrm>
            <a:off x="254000" y="769374"/>
            <a:ext cx="11684000" cy="5181600"/>
          </a:xfrm>
        </p:spPr>
        <p:txBody>
          <a:bodyPr>
            <a:normAutofit lnSpcReduction="10000"/>
          </a:bodyPr>
          <a:lstStyle/>
          <a:p>
            <a:pPr marL="0" indent="0">
              <a:buNone/>
            </a:pPr>
            <a:r>
              <a:rPr lang="en-US" sz="2800" b="1" dirty="0"/>
              <a:t>Implementation Overview</a:t>
            </a:r>
          </a:p>
          <a:p>
            <a:pPr marL="0" indent="0">
              <a:buNone/>
            </a:pPr>
            <a:r>
              <a:rPr lang="en-US" sz="2800" b="1" dirty="0"/>
              <a:t>System Role</a:t>
            </a:r>
          </a:p>
          <a:p>
            <a:pPr marL="0" indent="0">
              <a:buNone/>
            </a:pPr>
            <a:r>
              <a:rPr lang="en-US" sz="2800" dirty="0"/>
              <a:t>The Data Engineering component prepares clean, structured, and optimized datasets for the machine learning outbreak prediction module.</a:t>
            </a:r>
          </a:p>
          <a:p>
            <a:pPr marL="0" indent="0">
              <a:buNone/>
            </a:pPr>
            <a:endParaRPr lang="en-US" sz="2800" dirty="0"/>
          </a:p>
          <a:p>
            <a:pPr marL="0" indent="0">
              <a:buNone/>
            </a:pPr>
            <a:r>
              <a:rPr lang="en-US" sz="2800" b="1" dirty="0"/>
              <a:t>Key Tasks</a:t>
            </a:r>
          </a:p>
          <a:p>
            <a:pPr marL="0" indent="0">
              <a:buNone/>
            </a:pPr>
            <a:r>
              <a:rPr lang="en-US" sz="2800" dirty="0"/>
              <a:t>• Perform geospatial data linking at district and MOH area levels.</a:t>
            </a:r>
          </a:p>
          <a:p>
            <a:pPr marL="0" indent="0">
              <a:buNone/>
            </a:pPr>
            <a:r>
              <a:rPr lang="en-US" sz="2800" dirty="0"/>
              <a:t>• Conduct spatial resolution sensitivity analysis to evaluate geographic effects on prediction accuracy.</a:t>
            </a:r>
          </a:p>
          <a:p>
            <a:pPr marL="0" indent="0">
              <a:buNone/>
            </a:pPr>
            <a:r>
              <a:rPr lang="en-US" sz="2800" dirty="0"/>
              <a:t>• Generate multiple machine-learning-ready dataset variants for experimental evaluation.</a:t>
            </a:r>
          </a:p>
        </p:txBody>
      </p:sp>
      <p:sp>
        <p:nvSpPr>
          <p:cNvPr id="5" name="TextBox 4">
            <a:extLst>
              <a:ext uri="{FF2B5EF4-FFF2-40B4-BE49-F238E27FC236}">
                <a16:creationId xmlns:a16="http://schemas.microsoft.com/office/drawing/2014/main" id="{6D584237-BDE8-B18F-06EC-6E2E10207079}"/>
              </a:ext>
            </a:extLst>
          </p:cNvPr>
          <p:cNvSpPr txBox="1"/>
          <p:nvPr/>
        </p:nvSpPr>
        <p:spPr>
          <a:xfrm>
            <a:off x="3302000" y="6488668"/>
            <a:ext cx="6096000" cy="369332"/>
          </a:xfrm>
          <a:prstGeom prst="rect">
            <a:avLst/>
          </a:prstGeom>
          <a:noFill/>
        </p:spPr>
        <p:txBody>
          <a:bodyPr wrap="square">
            <a:spAutoFit/>
          </a:bodyPr>
          <a:lstStyle/>
          <a:p>
            <a:r>
              <a:rPr lang="en-US" dirty="0">
                <a:solidFill>
                  <a:schemeClr val="tx1"/>
                </a:solidFill>
              </a:rPr>
              <a:t>IT22243980 |Wickramarachchi T.T. |R26-IT-061</a:t>
            </a:r>
          </a:p>
        </p:txBody>
      </p:sp>
    </p:spTree>
    <p:extLst>
      <p:ext uri="{BB962C8B-B14F-4D97-AF65-F5344CB8AC3E}">
        <p14:creationId xmlns:p14="http://schemas.microsoft.com/office/powerpoint/2010/main" val="271504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4D82C0-37F1-4C0E-E0D4-EC1FB740242B}"/>
              </a:ext>
            </a:extLst>
          </p:cNvPr>
          <p:cNvSpPr>
            <a:spLocks noGrp="1"/>
          </p:cNvSpPr>
          <p:nvPr>
            <p:ph idx="1"/>
          </p:nvPr>
        </p:nvSpPr>
        <p:spPr>
          <a:xfrm>
            <a:off x="254000" y="503707"/>
            <a:ext cx="11684000" cy="5181600"/>
          </a:xfrm>
        </p:spPr>
        <p:txBody>
          <a:bodyPr>
            <a:normAutofit fontScale="92500" lnSpcReduction="10000"/>
          </a:bodyPr>
          <a:lstStyle/>
          <a:p>
            <a:pPr marL="0" indent="0">
              <a:buNone/>
            </a:pPr>
            <a:r>
              <a:rPr lang="en-US" b="1" dirty="0"/>
              <a:t>Dependencies</a:t>
            </a:r>
          </a:p>
          <a:p>
            <a:pPr marL="0" indent="0">
              <a:buNone/>
            </a:pPr>
            <a:r>
              <a:rPr lang="en-US" sz="2800" dirty="0"/>
              <a:t>This module interacts with:</a:t>
            </a:r>
          </a:p>
          <a:p>
            <a:pPr marL="0" indent="0">
              <a:buNone/>
            </a:pPr>
            <a:r>
              <a:rPr lang="en-US" sz="2800" dirty="0"/>
              <a:t>• Machine Learning Prediction Module</a:t>
            </a:r>
          </a:p>
          <a:p>
            <a:pPr marL="0" indent="0">
              <a:buNone/>
            </a:pPr>
            <a:r>
              <a:rPr lang="en-US" sz="2800" dirty="0"/>
              <a:t>• Central Data Storage</a:t>
            </a:r>
          </a:p>
          <a:p>
            <a:pPr marL="0" indent="0">
              <a:buNone/>
            </a:pPr>
            <a:r>
              <a:rPr lang="en-US" sz="2800" dirty="0"/>
              <a:t>• Climate and dengue surveillance datasets</a:t>
            </a:r>
          </a:p>
          <a:p>
            <a:pPr marL="0" indent="0">
              <a:buNone/>
            </a:pPr>
            <a:endParaRPr lang="en-US" sz="2800" dirty="0"/>
          </a:p>
          <a:p>
            <a:pPr marL="0" indent="0">
              <a:buNone/>
            </a:pPr>
            <a:r>
              <a:rPr lang="en-US" b="1" dirty="0"/>
              <a:t>Output</a:t>
            </a:r>
          </a:p>
          <a:p>
            <a:pPr marL="0" indent="0">
              <a:buNone/>
            </a:pPr>
            <a:r>
              <a:rPr lang="en-US" sz="2800" dirty="0"/>
              <a:t>The component produces:</a:t>
            </a:r>
          </a:p>
          <a:p>
            <a:pPr marL="0" indent="0">
              <a:buNone/>
            </a:pPr>
            <a:r>
              <a:rPr lang="en-US" sz="2800" dirty="0"/>
              <a:t>• Clean dengue surveillance dataset</a:t>
            </a:r>
          </a:p>
          <a:p>
            <a:pPr marL="0" indent="0">
              <a:buNone/>
            </a:pPr>
            <a:r>
              <a:rPr lang="en-US" sz="2800" dirty="0"/>
              <a:t>• Climate feature dataset</a:t>
            </a:r>
          </a:p>
          <a:p>
            <a:pPr marL="0" indent="0">
              <a:buNone/>
            </a:pPr>
            <a:r>
              <a:rPr lang="en-US" sz="2800" dirty="0"/>
              <a:t>• Multiple ML-ready datasets for model training and evaluation.</a:t>
            </a:r>
          </a:p>
          <a:p>
            <a:pPr marL="0" indent="0">
              <a:buNone/>
            </a:pPr>
            <a:endParaRPr lang="en-US" sz="2800" dirty="0"/>
          </a:p>
        </p:txBody>
      </p:sp>
      <p:sp>
        <p:nvSpPr>
          <p:cNvPr id="5" name="TextBox 4">
            <a:extLst>
              <a:ext uri="{FF2B5EF4-FFF2-40B4-BE49-F238E27FC236}">
                <a16:creationId xmlns:a16="http://schemas.microsoft.com/office/drawing/2014/main" id="{5B8AB88F-29D4-1DD9-C6CA-9DB15678B30C}"/>
              </a:ext>
            </a:extLst>
          </p:cNvPr>
          <p:cNvSpPr txBox="1"/>
          <p:nvPr/>
        </p:nvSpPr>
        <p:spPr>
          <a:xfrm>
            <a:off x="3048000" y="6488668"/>
            <a:ext cx="6096000" cy="369332"/>
          </a:xfrm>
          <a:prstGeom prst="rect">
            <a:avLst/>
          </a:prstGeom>
          <a:noFill/>
        </p:spPr>
        <p:txBody>
          <a:bodyPr wrap="square">
            <a:spAutoFit/>
          </a:bodyPr>
          <a:lstStyle/>
          <a:p>
            <a:r>
              <a:rPr lang="en-US" dirty="0">
                <a:solidFill>
                  <a:schemeClr val="tx1"/>
                </a:solidFill>
              </a:rPr>
              <a:t>IT22243980 |Wickramarachchi T.T. |R26-IT-061</a:t>
            </a:r>
          </a:p>
        </p:txBody>
      </p:sp>
    </p:spTree>
    <p:extLst>
      <p:ext uri="{BB962C8B-B14F-4D97-AF65-F5344CB8AC3E}">
        <p14:creationId xmlns:p14="http://schemas.microsoft.com/office/powerpoint/2010/main" val="2054394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7B32E-EE13-074D-C428-4B8F637901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2AA4AB-6516-C820-A6AA-6B21A3847608}"/>
              </a:ext>
            </a:extLst>
          </p:cNvPr>
          <p:cNvSpPr>
            <a:spLocks noGrp="1"/>
          </p:cNvSpPr>
          <p:nvPr>
            <p:ph idx="1"/>
          </p:nvPr>
        </p:nvSpPr>
        <p:spPr>
          <a:xfrm>
            <a:off x="3474720" y="0"/>
            <a:ext cx="5089144" cy="822173"/>
          </a:xfrm>
        </p:spPr>
        <p:txBody>
          <a:bodyPr>
            <a:normAutofit/>
          </a:bodyPr>
          <a:lstStyle/>
          <a:p>
            <a:pPr marL="0" indent="0" algn="ctr">
              <a:buNone/>
            </a:pPr>
            <a:r>
              <a:rPr lang="en-US" sz="3200" b="1" dirty="0"/>
              <a:t>System Overview </a:t>
            </a:r>
          </a:p>
        </p:txBody>
      </p:sp>
      <p:sp>
        <p:nvSpPr>
          <p:cNvPr id="5" name="TextBox 4">
            <a:extLst>
              <a:ext uri="{FF2B5EF4-FFF2-40B4-BE49-F238E27FC236}">
                <a16:creationId xmlns:a16="http://schemas.microsoft.com/office/drawing/2014/main" id="{42D8AC40-073B-3D4A-69DE-23E6BF22D6A8}"/>
              </a:ext>
            </a:extLst>
          </p:cNvPr>
          <p:cNvSpPr txBox="1"/>
          <p:nvPr/>
        </p:nvSpPr>
        <p:spPr>
          <a:xfrm>
            <a:off x="3048000" y="6488668"/>
            <a:ext cx="6096000" cy="369332"/>
          </a:xfrm>
          <a:prstGeom prst="rect">
            <a:avLst/>
          </a:prstGeom>
          <a:noFill/>
        </p:spPr>
        <p:txBody>
          <a:bodyPr wrap="square">
            <a:spAutoFit/>
          </a:bodyPr>
          <a:lstStyle/>
          <a:p>
            <a:r>
              <a:rPr lang="en-US" dirty="0">
                <a:solidFill>
                  <a:schemeClr val="tx1"/>
                </a:solidFill>
              </a:rPr>
              <a:t>IT22243980 |Wickramarachchi T.T. |R26-IT-061</a:t>
            </a:r>
          </a:p>
        </p:txBody>
      </p:sp>
      <p:pic>
        <p:nvPicPr>
          <p:cNvPr id="4" name="Picture 3">
            <a:extLst>
              <a:ext uri="{FF2B5EF4-FFF2-40B4-BE49-F238E27FC236}">
                <a16:creationId xmlns:a16="http://schemas.microsoft.com/office/drawing/2014/main" id="{C13C56B2-4231-3A37-5E63-3B79310AB80C}"/>
              </a:ext>
            </a:extLst>
          </p:cNvPr>
          <p:cNvPicPr>
            <a:picLocks noChangeAspect="1"/>
          </p:cNvPicPr>
          <p:nvPr/>
        </p:nvPicPr>
        <p:blipFill>
          <a:blip r:embed="rId2">
            <a:extLst>
              <a:ext uri="{28A0092B-C50C-407E-A947-70E740481C1C}">
                <a14:useLocalDpi xmlns:a14="http://schemas.microsoft.com/office/drawing/2010/main" val="0"/>
              </a:ext>
            </a:extLst>
          </a:blip>
          <a:srcRect l="1674" t="14666" r="2415" b="10000"/>
          <a:stretch>
            <a:fillRect/>
          </a:stretch>
        </p:blipFill>
        <p:spPr>
          <a:xfrm>
            <a:off x="1040130" y="640079"/>
            <a:ext cx="10111740" cy="5294841"/>
          </a:xfrm>
          <a:prstGeom prst="rect">
            <a:avLst/>
          </a:prstGeom>
        </p:spPr>
      </p:pic>
    </p:spTree>
    <p:extLst>
      <p:ext uri="{BB962C8B-B14F-4D97-AF65-F5344CB8AC3E}">
        <p14:creationId xmlns:p14="http://schemas.microsoft.com/office/powerpoint/2010/main" val="876356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a:xfrm>
            <a:off x="914400" y="3216054"/>
            <a:ext cx="10363200" cy="425892"/>
          </a:xfrm>
        </p:spPr>
        <p:txBody>
          <a:bodyPr>
            <a:noAutofit/>
          </a:bodyPr>
          <a:lstStyle/>
          <a:p>
            <a:r>
              <a:rPr lang="en-US" sz="2400" b="1" dirty="0">
                <a:solidFill>
                  <a:schemeClr val="tx1"/>
                </a:solidFill>
              </a:rPr>
              <a:t>Data Visualization &amp; Research Integration Developer</a:t>
            </a:r>
          </a:p>
          <a:p>
            <a:r>
              <a:rPr lang="en-US" sz="2400" b="1" dirty="0">
                <a:solidFill>
                  <a:schemeClr val="tx1"/>
                </a:solidFill>
              </a:rPr>
              <a:t>IT22165848 | Hettiarachchi A.T</a:t>
            </a:r>
          </a:p>
        </p:txBody>
      </p:sp>
      <p:sp>
        <p:nvSpPr>
          <p:cNvPr id="4" name="Rectangle 3">
            <a:extLst>
              <a:ext uri="{FF2B5EF4-FFF2-40B4-BE49-F238E27FC236}">
                <a16:creationId xmlns:a16="http://schemas.microsoft.com/office/drawing/2014/main" id="{5FB98E66-DBD5-4B29-AC68-A58A70C64231}"/>
              </a:ext>
            </a:extLst>
          </p:cNvPr>
          <p:cNvSpPr/>
          <p:nvPr/>
        </p:nvSpPr>
        <p:spPr>
          <a:xfrm>
            <a:off x="2544976" y="6492875"/>
            <a:ext cx="7542922"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   IT22165848 | Hettiarachchi A.T | R26-IT-061 </a:t>
            </a:r>
            <a:endParaRPr lang="en-US" dirty="0">
              <a:solidFill>
                <a:schemeClr val="tx1"/>
              </a:solidFill>
              <a:ea typeface="Cambria"/>
            </a:endParaRPr>
          </a:p>
        </p:txBody>
      </p:sp>
      <p:pic>
        <p:nvPicPr>
          <p:cNvPr id="8" name="Picture 7">
            <a:extLst>
              <a:ext uri="{FF2B5EF4-FFF2-40B4-BE49-F238E27FC236}">
                <a16:creationId xmlns:a16="http://schemas.microsoft.com/office/drawing/2014/main" id="{2082D592-3708-859A-5D0C-EBF74D1B94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87898" y="147484"/>
            <a:ext cx="2035276" cy="2320413"/>
          </a:xfrm>
          <a:prstGeom prst="rect">
            <a:avLst/>
          </a:prstGeom>
        </p:spPr>
      </p:pic>
    </p:spTree>
    <p:extLst>
      <p:ext uri="{BB962C8B-B14F-4D97-AF65-F5344CB8AC3E}">
        <p14:creationId xmlns:p14="http://schemas.microsoft.com/office/powerpoint/2010/main" val="2778355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0F9728-8704-D26E-377F-B8A9B404D51D}"/>
              </a:ext>
            </a:extLst>
          </p:cNvPr>
          <p:cNvSpPr txBox="1"/>
          <p:nvPr/>
        </p:nvSpPr>
        <p:spPr>
          <a:xfrm>
            <a:off x="1524000" y="429050"/>
            <a:ext cx="9144000" cy="4524315"/>
          </a:xfrm>
          <a:prstGeom prst="rect">
            <a:avLst/>
          </a:prstGeom>
          <a:noFill/>
        </p:spPr>
        <p:txBody>
          <a:bodyPr wrap="square">
            <a:spAutoFit/>
          </a:bodyPr>
          <a:lstStyle/>
          <a:p>
            <a:pPr algn="just"/>
            <a:r>
              <a:rPr lang="en-US" sz="3600" b="1" dirty="0"/>
              <a:t>Problem Definition</a:t>
            </a:r>
          </a:p>
          <a:p>
            <a:pPr algn="just"/>
            <a:endParaRPr lang="en-US" sz="2800" dirty="0"/>
          </a:p>
          <a:p>
            <a:pPr algn="just"/>
            <a:r>
              <a:rPr lang="en-US" sz="2800" dirty="0"/>
              <a:t>Most existing dengue prediction systems function as </a:t>
            </a:r>
            <a:r>
              <a:rPr lang="en-US" sz="2800" b="1" dirty="0"/>
              <a:t>black-box</a:t>
            </a:r>
            <a:r>
              <a:rPr lang="en-US" sz="2800" dirty="0"/>
              <a:t> machine learning models, providing predictions without </a:t>
            </a:r>
            <a:r>
              <a:rPr lang="en-US" sz="2800" b="1" dirty="0"/>
              <a:t>meaningful explanations</a:t>
            </a:r>
            <a:r>
              <a:rPr lang="en-US" sz="2800" dirty="0"/>
              <a:t>.</a:t>
            </a:r>
          </a:p>
          <a:p>
            <a:pPr algn="just"/>
            <a:endParaRPr lang="en-US" sz="2800" dirty="0"/>
          </a:p>
          <a:p>
            <a:pPr algn="just"/>
            <a:r>
              <a:rPr lang="en-US" sz="2800" dirty="0"/>
              <a:t>As a result, </a:t>
            </a:r>
            <a:r>
              <a:rPr lang="en-US" sz="2800" b="1" dirty="0"/>
              <a:t>public health authorities cannot clearly understand why dengue risk increases in certain locations or time periods</a:t>
            </a:r>
            <a:r>
              <a:rPr lang="en-US" sz="2800" dirty="0"/>
              <a:t>, limiting the practical usability of prediction systems.</a:t>
            </a:r>
          </a:p>
        </p:txBody>
      </p:sp>
      <p:sp>
        <p:nvSpPr>
          <p:cNvPr id="2" name="Rectangle 1">
            <a:extLst>
              <a:ext uri="{FF2B5EF4-FFF2-40B4-BE49-F238E27FC236}">
                <a16:creationId xmlns:a16="http://schemas.microsoft.com/office/drawing/2014/main" id="{ABF026AC-2571-8AA4-430A-CF52862A9182}"/>
              </a:ext>
            </a:extLst>
          </p:cNvPr>
          <p:cNvSpPr/>
          <p:nvPr/>
        </p:nvSpPr>
        <p:spPr>
          <a:xfrm>
            <a:off x="2544976" y="6492875"/>
            <a:ext cx="7542922"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   IT22165848 | Hettiarachchi A.T | R26-IT-061 </a:t>
            </a:r>
            <a:endParaRPr lang="en-US" dirty="0">
              <a:solidFill>
                <a:schemeClr val="tx1"/>
              </a:solidFill>
              <a:ea typeface="Cambria"/>
            </a:endParaRPr>
          </a:p>
        </p:txBody>
      </p:sp>
      <p:pic>
        <p:nvPicPr>
          <p:cNvPr id="6" name="Picture 5">
            <a:extLst>
              <a:ext uri="{FF2B5EF4-FFF2-40B4-BE49-F238E27FC236}">
                <a16:creationId xmlns:a16="http://schemas.microsoft.com/office/drawing/2014/main" id="{AD73AA66-F799-D646-BBB5-A190FDE3B6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6876" y="4676350"/>
            <a:ext cx="2609850" cy="1752600"/>
          </a:xfrm>
          <a:prstGeom prst="rect">
            <a:avLst/>
          </a:prstGeom>
        </p:spPr>
      </p:pic>
    </p:spTree>
    <p:extLst>
      <p:ext uri="{BB962C8B-B14F-4D97-AF65-F5344CB8AC3E}">
        <p14:creationId xmlns:p14="http://schemas.microsoft.com/office/powerpoint/2010/main" val="2524635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0B799AB-449A-B929-B861-ADF94632520B}"/>
              </a:ext>
            </a:extLst>
          </p:cNvPr>
          <p:cNvPicPr>
            <a:picLocks noChangeAspect="1"/>
          </p:cNvPicPr>
          <p:nvPr/>
        </p:nvPicPr>
        <p:blipFill>
          <a:blip r:embed="rId2" cstate="print">
            <a:extLst>
              <a:ext uri="{28A0092B-C50C-407E-A947-70E740481C1C}">
                <a14:useLocalDpi xmlns:a14="http://schemas.microsoft.com/office/drawing/2010/main" val="0"/>
              </a:ext>
            </a:extLst>
          </a:blip>
          <a:srcRect l="7828" r="3775"/>
          <a:stretch>
            <a:fillRect/>
          </a:stretch>
        </p:blipFill>
        <p:spPr>
          <a:xfrm>
            <a:off x="9111916" y="4532931"/>
            <a:ext cx="3080084" cy="1959944"/>
          </a:xfrm>
          <a:prstGeom prst="rect">
            <a:avLst/>
          </a:prstGeom>
        </p:spPr>
      </p:pic>
      <p:sp>
        <p:nvSpPr>
          <p:cNvPr id="2" name="Title 1">
            <a:extLst>
              <a:ext uri="{FF2B5EF4-FFF2-40B4-BE49-F238E27FC236}">
                <a16:creationId xmlns:a16="http://schemas.microsoft.com/office/drawing/2014/main" id="{A766CE1E-69CE-2ADA-367C-61A3639452B5}"/>
              </a:ext>
            </a:extLst>
          </p:cNvPr>
          <p:cNvSpPr>
            <a:spLocks noGrp="1"/>
          </p:cNvSpPr>
          <p:nvPr>
            <p:ph type="ctrTitle"/>
          </p:nvPr>
        </p:nvSpPr>
        <p:spPr>
          <a:xfrm>
            <a:off x="349057" y="4578909"/>
            <a:ext cx="9622716" cy="1470025"/>
          </a:xfrm>
        </p:spPr>
        <p:txBody>
          <a:bodyPr>
            <a:noAutofit/>
          </a:bodyPr>
          <a:lstStyle/>
          <a:p>
            <a:pPr algn="l"/>
            <a:r>
              <a:rPr lang="en-US" sz="2800" b="1" dirty="0">
                <a:latin typeface="+mn-lt"/>
              </a:rPr>
              <a:t>Research Objective</a:t>
            </a:r>
            <a:br>
              <a:rPr lang="en-US" sz="2400" dirty="0">
                <a:latin typeface="+mn-lt"/>
              </a:rPr>
            </a:br>
            <a:r>
              <a:rPr lang="en-US" sz="2400" dirty="0">
                <a:latin typeface="+mn-lt"/>
              </a:rPr>
              <a:t>To design an advanced </a:t>
            </a:r>
            <a:r>
              <a:rPr lang="en-US" sz="2400" b="1" dirty="0">
                <a:latin typeface="+mn-lt"/>
              </a:rPr>
              <a:t>analytics and explainable dashboard </a:t>
            </a:r>
            <a:r>
              <a:rPr lang="en-US" sz="2400" dirty="0">
                <a:latin typeface="+mn-lt"/>
              </a:rPr>
              <a:t>that transforms machine learning prediction outputs into </a:t>
            </a:r>
            <a:r>
              <a:rPr lang="en-US" sz="2400" b="1" dirty="0">
                <a:latin typeface="+mn-lt"/>
              </a:rPr>
              <a:t>interpretable and actionable insights for dengue outbreak monitoring in Colombo District</a:t>
            </a:r>
            <a:r>
              <a:rPr lang="en-US" sz="2400" dirty="0">
                <a:latin typeface="+mn-lt"/>
              </a:rPr>
              <a:t>.</a:t>
            </a:r>
            <a:br>
              <a:rPr lang="en-US" sz="2400" dirty="0">
                <a:latin typeface="+mn-lt"/>
              </a:rPr>
            </a:br>
            <a:br>
              <a:rPr lang="en-US" sz="2400" dirty="0">
                <a:latin typeface="+mn-lt"/>
              </a:rPr>
            </a:br>
            <a:r>
              <a:rPr lang="en-US" sz="2800" b="1" dirty="0">
                <a:latin typeface="+mn-lt"/>
              </a:rPr>
              <a:t>Sub-Objectives</a:t>
            </a:r>
            <a:br>
              <a:rPr lang="en-US" sz="2400" dirty="0">
                <a:latin typeface="+mn-lt"/>
              </a:rPr>
            </a:br>
            <a:r>
              <a:rPr lang="en-US" sz="2400" dirty="0">
                <a:latin typeface="+mn-lt"/>
              </a:rPr>
              <a:t>• Perform data analysis of dengue cases and climate variables to identify trends and relationships.</a:t>
            </a:r>
            <a:br>
              <a:rPr lang="en-US" sz="2400" dirty="0">
                <a:latin typeface="+mn-lt"/>
              </a:rPr>
            </a:br>
            <a:r>
              <a:rPr lang="en-US" sz="2400" dirty="0">
                <a:latin typeface="+mn-lt"/>
              </a:rPr>
              <a:t>• Develop </a:t>
            </a:r>
            <a:r>
              <a:rPr lang="en-US" sz="2400" b="1" dirty="0">
                <a:latin typeface="+mn-lt"/>
              </a:rPr>
              <a:t>temporal trend visualizations </a:t>
            </a:r>
            <a:r>
              <a:rPr lang="en-US" sz="2400" dirty="0">
                <a:latin typeface="+mn-lt"/>
              </a:rPr>
              <a:t>and </a:t>
            </a:r>
            <a:r>
              <a:rPr lang="en-US" sz="2400" b="1" dirty="0">
                <a:latin typeface="+mn-lt"/>
              </a:rPr>
              <a:t>climate–dengue correlation analysis.</a:t>
            </a:r>
            <a:br>
              <a:rPr lang="en-US" sz="2400" dirty="0">
                <a:latin typeface="+mn-lt"/>
              </a:rPr>
            </a:br>
            <a:r>
              <a:rPr lang="en-US" sz="2400" dirty="0">
                <a:latin typeface="+mn-lt"/>
              </a:rPr>
              <a:t>• Integrate machine learning prediction outputs into an </a:t>
            </a:r>
            <a:r>
              <a:rPr lang="en-US" sz="2400" b="1" dirty="0">
                <a:latin typeface="+mn-lt"/>
              </a:rPr>
              <a:t>interactive analytics dashboard.</a:t>
            </a:r>
            <a:br>
              <a:rPr lang="en-US" sz="2400" dirty="0">
                <a:latin typeface="+mn-lt"/>
              </a:rPr>
            </a:br>
            <a:r>
              <a:rPr lang="en-US" sz="2400" dirty="0">
                <a:latin typeface="+mn-lt"/>
              </a:rPr>
              <a:t>• Apply </a:t>
            </a:r>
            <a:r>
              <a:rPr lang="en-US" sz="2400" b="1" dirty="0">
                <a:latin typeface="+mn-lt"/>
              </a:rPr>
              <a:t>Explainable AI techniques </a:t>
            </a:r>
            <a:r>
              <a:rPr lang="en-US" sz="2400" dirty="0">
                <a:latin typeface="+mn-lt"/>
              </a:rPr>
              <a:t>such as Feature Importance and </a:t>
            </a:r>
            <a:r>
              <a:rPr lang="en-US" sz="2400" b="1" dirty="0">
                <a:latin typeface="+mn-lt"/>
              </a:rPr>
              <a:t>SHAP to explain predictions.</a:t>
            </a:r>
            <a:br>
              <a:rPr lang="en-US" sz="2400" dirty="0">
                <a:latin typeface="+mn-lt"/>
              </a:rPr>
            </a:br>
            <a:r>
              <a:rPr lang="en-US" sz="2400" dirty="0">
                <a:latin typeface="+mn-lt"/>
              </a:rPr>
              <a:t>• </a:t>
            </a:r>
            <a:r>
              <a:rPr lang="en-US" sz="2400" b="1" dirty="0">
                <a:latin typeface="+mn-lt"/>
              </a:rPr>
              <a:t>Develop spatial visualization </a:t>
            </a:r>
            <a:r>
              <a:rPr lang="en-US" sz="2400" dirty="0">
                <a:latin typeface="+mn-lt"/>
              </a:rPr>
              <a:t>tools to identify </a:t>
            </a:r>
            <a:r>
              <a:rPr lang="en-US" sz="2400" b="1" dirty="0">
                <a:latin typeface="+mn-lt"/>
              </a:rPr>
              <a:t>high-risk dengue regions</a:t>
            </a:r>
            <a:r>
              <a:rPr lang="en-US" sz="2400" dirty="0">
                <a:latin typeface="+mn-lt"/>
              </a:rPr>
              <a:t>.</a:t>
            </a:r>
          </a:p>
        </p:txBody>
      </p:sp>
      <p:sp>
        <p:nvSpPr>
          <p:cNvPr id="4" name="Rectangle 3">
            <a:extLst>
              <a:ext uri="{FF2B5EF4-FFF2-40B4-BE49-F238E27FC236}">
                <a16:creationId xmlns:a16="http://schemas.microsoft.com/office/drawing/2014/main" id="{2A5717AE-7F60-84B1-13C9-EA9BB2A6425B}"/>
              </a:ext>
            </a:extLst>
          </p:cNvPr>
          <p:cNvSpPr/>
          <p:nvPr/>
        </p:nvSpPr>
        <p:spPr>
          <a:xfrm>
            <a:off x="2544976" y="6492875"/>
            <a:ext cx="7542922"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a:solidFill>
                  <a:schemeClr val="tx1"/>
                </a:solidFill>
              </a:rPr>
              <a:t>   IT22165848 | Hettiarachchi A.T. | R26-IT-061 </a:t>
            </a:r>
            <a:endParaRPr lang="en-US" dirty="0">
              <a:solidFill>
                <a:schemeClr val="tx1"/>
              </a:solidFill>
              <a:ea typeface="Cambria"/>
            </a:endParaRPr>
          </a:p>
        </p:txBody>
      </p:sp>
    </p:spTree>
    <p:extLst>
      <p:ext uri="{BB962C8B-B14F-4D97-AF65-F5344CB8AC3E}">
        <p14:creationId xmlns:p14="http://schemas.microsoft.com/office/powerpoint/2010/main" val="1717455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539C6-A5A8-9CAC-8FF2-045D99AF9FB2}"/>
              </a:ext>
            </a:extLst>
          </p:cNvPr>
          <p:cNvSpPr>
            <a:spLocks noGrp="1"/>
          </p:cNvSpPr>
          <p:nvPr>
            <p:ph type="ctrTitle"/>
          </p:nvPr>
        </p:nvSpPr>
        <p:spPr>
          <a:xfrm>
            <a:off x="1196741" y="3429000"/>
            <a:ext cx="9144000" cy="2387600"/>
          </a:xfrm>
        </p:spPr>
        <p:txBody>
          <a:bodyPr>
            <a:noAutofit/>
          </a:bodyPr>
          <a:lstStyle/>
          <a:p>
            <a:pPr algn="l">
              <a:lnSpc>
                <a:spcPct val="150000"/>
              </a:lnSpc>
            </a:pPr>
            <a:r>
              <a:rPr lang="en-US" sz="3600" b="1" dirty="0">
                <a:latin typeface="+mn-lt"/>
              </a:rPr>
              <a:t>Novelty </a:t>
            </a:r>
            <a:br>
              <a:rPr lang="en-US" sz="2800" dirty="0">
                <a:latin typeface="+mn-lt"/>
              </a:rPr>
            </a:br>
            <a:r>
              <a:rPr lang="en-US" sz="2800" dirty="0">
                <a:latin typeface="+mn-lt"/>
              </a:rPr>
              <a:t>Integrates </a:t>
            </a:r>
            <a:r>
              <a:rPr lang="en-US" sz="2800" b="1" dirty="0">
                <a:latin typeface="+mn-lt"/>
              </a:rPr>
              <a:t>data analysis, Explainable AI, and spatial visualization</a:t>
            </a:r>
            <a:r>
              <a:rPr lang="en-US" sz="2800" dirty="0">
                <a:latin typeface="+mn-lt"/>
              </a:rPr>
              <a:t> within a single analytical platform.</a:t>
            </a:r>
            <a:br>
              <a:rPr lang="en-US" sz="2800" dirty="0">
                <a:latin typeface="+mn-lt"/>
              </a:rPr>
            </a:br>
            <a:r>
              <a:rPr lang="en-US" sz="2800" dirty="0">
                <a:latin typeface="+mn-lt"/>
              </a:rPr>
              <a:t>Converts machine learning predictions into </a:t>
            </a:r>
            <a:r>
              <a:rPr lang="en-US" sz="2800" b="1" dirty="0">
                <a:latin typeface="+mn-lt"/>
              </a:rPr>
              <a:t>transparent and interpretable insights</a:t>
            </a:r>
            <a:r>
              <a:rPr lang="en-US" sz="2800" dirty="0">
                <a:latin typeface="+mn-lt"/>
              </a:rPr>
              <a:t> for public health decision-makers.</a:t>
            </a:r>
            <a:br>
              <a:rPr lang="en-US" sz="2800" dirty="0">
                <a:latin typeface="+mn-lt"/>
              </a:rPr>
            </a:br>
            <a:r>
              <a:rPr lang="en-US" sz="2800" dirty="0">
                <a:latin typeface="+mn-lt"/>
              </a:rPr>
              <a:t>Enhances practical usability of dengue prediction systems through </a:t>
            </a:r>
            <a:r>
              <a:rPr lang="en-US" sz="2800" b="1" dirty="0">
                <a:latin typeface="+mn-lt"/>
              </a:rPr>
              <a:t>interactive dashboards and spatial intelligence</a:t>
            </a:r>
            <a:r>
              <a:rPr lang="en-US" sz="2800" dirty="0">
                <a:latin typeface="+mn-lt"/>
              </a:rPr>
              <a:t>.</a:t>
            </a:r>
          </a:p>
        </p:txBody>
      </p:sp>
      <p:sp>
        <p:nvSpPr>
          <p:cNvPr id="4" name="Rectangle 3">
            <a:extLst>
              <a:ext uri="{FF2B5EF4-FFF2-40B4-BE49-F238E27FC236}">
                <a16:creationId xmlns:a16="http://schemas.microsoft.com/office/drawing/2014/main" id="{F2EF2CB7-5B2E-C241-D07C-166EF4A81EDC}"/>
              </a:ext>
            </a:extLst>
          </p:cNvPr>
          <p:cNvSpPr/>
          <p:nvPr/>
        </p:nvSpPr>
        <p:spPr>
          <a:xfrm>
            <a:off x="2544976" y="6492875"/>
            <a:ext cx="7542922"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   IT22165848 | Hettiarachchi A.T. | R26-IT-061 </a:t>
            </a:r>
            <a:endParaRPr lang="en-US" dirty="0">
              <a:solidFill>
                <a:schemeClr val="tx1"/>
              </a:solidFill>
              <a:ea typeface="Cambria"/>
            </a:endParaRPr>
          </a:p>
        </p:txBody>
      </p:sp>
    </p:spTree>
    <p:extLst>
      <p:ext uri="{BB962C8B-B14F-4D97-AF65-F5344CB8AC3E}">
        <p14:creationId xmlns:p14="http://schemas.microsoft.com/office/powerpoint/2010/main" val="825784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8A33D-7DB9-D5DA-8092-C5471E0ED7A9}"/>
              </a:ext>
            </a:extLst>
          </p:cNvPr>
          <p:cNvSpPr>
            <a:spLocks noGrp="1"/>
          </p:cNvSpPr>
          <p:nvPr>
            <p:ph type="ctrTitle"/>
          </p:nvPr>
        </p:nvSpPr>
        <p:spPr>
          <a:xfrm>
            <a:off x="519764" y="3387110"/>
            <a:ext cx="10363200" cy="1470025"/>
          </a:xfrm>
        </p:spPr>
        <p:txBody>
          <a:bodyPr>
            <a:noAutofit/>
          </a:bodyPr>
          <a:lstStyle/>
          <a:p>
            <a:pPr algn="l"/>
            <a:r>
              <a:rPr lang="en-US" sz="2800" b="1" dirty="0">
                <a:latin typeface="+mn-lt"/>
              </a:rPr>
              <a:t>Research Methodology </a:t>
            </a:r>
            <a:br>
              <a:rPr lang="en-US" sz="2000" dirty="0">
                <a:latin typeface="+mn-lt"/>
              </a:rPr>
            </a:br>
            <a:br>
              <a:rPr lang="en-US" sz="2000" dirty="0">
                <a:latin typeface="+mn-lt"/>
              </a:rPr>
            </a:br>
            <a:r>
              <a:rPr lang="en-US" sz="2000" b="1" dirty="0">
                <a:latin typeface="+mn-lt"/>
              </a:rPr>
              <a:t>Data Analysis Methods</a:t>
            </a:r>
            <a:br>
              <a:rPr lang="en-US" sz="2000" dirty="0">
                <a:latin typeface="+mn-lt"/>
              </a:rPr>
            </a:br>
            <a:r>
              <a:rPr lang="en-US" sz="2000" dirty="0">
                <a:latin typeface="+mn-lt"/>
              </a:rPr>
              <a:t>The component focuses on advanced data analysis techniques to identify dengue risk patterns.</a:t>
            </a:r>
            <a:br>
              <a:rPr lang="en-US" sz="2000" dirty="0">
                <a:latin typeface="+mn-lt"/>
              </a:rPr>
            </a:br>
            <a:br>
              <a:rPr lang="en-US" sz="2000" dirty="0">
                <a:latin typeface="+mn-lt"/>
              </a:rPr>
            </a:br>
            <a:r>
              <a:rPr lang="en-US" sz="2000" dirty="0">
                <a:latin typeface="+mn-lt"/>
              </a:rPr>
              <a:t>1. </a:t>
            </a:r>
            <a:r>
              <a:rPr lang="en-US" sz="2000" b="1" dirty="0">
                <a:latin typeface="+mn-lt"/>
              </a:rPr>
              <a:t>Exploratory Data Analysis (EDA)</a:t>
            </a:r>
            <a:br>
              <a:rPr lang="en-US" sz="2000" dirty="0">
                <a:latin typeface="+mn-lt"/>
              </a:rPr>
            </a:br>
            <a:r>
              <a:rPr lang="en-US" sz="2000" dirty="0">
                <a:latin typeface="+mn-lt"/>
              </a:rPr>
              <a:t>• Identify dengue outbreak trends and seasonality in Colombo District.</a:t>
            </a:r>
            <a:br>
              <a:rPr lang="en-US" sz="2000" dirty="0">
                <a:latin typeface="+mn-lt"/>
              </a:rPr>
            </a:br>
            <a:br>
              <a:rPr lang="en-US" sz="2000" dirty="0">
                <a:latin typeface="+mn-lt"/>
              </a:rPr>
            </a:br>
            <a:r>
              <a:rPr lang="en-US" sz="2000" dirty="0">
                <a:latin typeface="+mn-lt"/>
              </a:rPr>
              <a:t>2. </a:t>
            </a:r>
            <a:r>
              <a:rPr lang="en-US" sz="2000" b="1" dirty="0">
                <a:latin typeface="+mn-lt"/>
              </a:rPr>
              <a:t>Temporal Trend Analysis</a:t>
            </a:r>
            <a:br>
              <a:rPr lang="en-US" sz="2000" dirty="0">
                <a:latin typeface="+mn-lt"/>
              </a:rPr>
            </a:br>
            <a:r>
              <a:rPr lang="en-US" sz="2000" dirty="0">
                <a:latin typeface="+mn-lt"/>
              </a:rPr>
              <a:t>• Analyze changes in dengue cases across time periods.</a:t>
            </a:r>
            <a:br>
              <a:rPr lang="en-US" sz="2000" dirty="0">
                <a:latin typeface="+mn-lt"/>
              </a:rPr>
            </a:br>
            <a:br>
              <a:rPr lang="en-US" sz="2000" dirty="0">
                <a:latin typeface="+mn-lt"/>
              </a:rPr>
            </a:br>
            <a:r>
              <a:rPr lang="en-US" sz="2000" dirty="0">
                <a:latin typeface="+mn-lt"/>
              </a:rPr>
              <a:t>3. </a:t>
            </a:r>
            <a:r>
              <a:rPr lang="en-US" sz="2000" b="1" dirty="0">
                <a:latin typeface="+mn-lt"/>
              </a:rPr>
              <a:t>Climate–Dengue Correlation Analysis</a:t>
            </a:r>
            <a:br>
              <a:rPr lang="en-US" sz="2000" dirty="0">
                <a:latin typeface="+mn-lt"/>
              </a:rPr>
            </a:br>
            <a:r>
              <a:rPr lang="en-US" sz="2000" dirty="0">
                <a:latin typeface="+mn-lt"/>
              </a:rPr>
              <a:t>• Examine relationships between dengue cases and climate variables such as:</a:t>
            </a:r>
            <a:br>
              <a:rPr lang="en-US" sz="2000" dirty="0">
                <a:latin typeface="+mn-lt"/>
              </a:rPr>
            </a:br>
            <a:br>
              <a:rPr lang="en-US" sz="2000" dirty="0">
                <a:latin typeface="+mn-lt"/>
              </a:rPr>
            </a:br>
            <a:endParaRPr lang="en-US" sz="2000" dirty="0">
              <a:latin typeface="+mn-lt"/>
            </a:endParaRPr>
          </a:p>
        </p:txBody>
      </p:sp>
      <p:sp>
        <p:nvSpPr>
          <p:cNvPr id="4" name="Rectangle 3">
            <a:extLst>
              <a:ext uri="{FF2B5EF4-FFF2-40B4-BE49-F238E27FC236}">
                <a16:creationId xmlns:a16="http://schemas.microsoft.com/office/drawing/2014/main" id="{0CB950A7-3928-6E1C-B225-93BCED49C1DC}"/>
              </a:ext>
            </a:extLst>
          </p:cNvPr>
          <p:cNvSpPr/>
          <p:nvPr/>
        </p:nvSpPr>
        <p:spPr>
          <a:xfrm>
            <a:off x="1784524" y="4350773"/>
            <a:ext cx="2035278" cy="10127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ysClr val="windowText" lastClr="000000"/>
                </a:solidFill>
              </a:rPr>
              <a:t>- Rainfall</a:t>
            </a:r>
            <a:br>
              <a:rPr lang="en-US" sz="2000" dirty="0">
                <a:solidFill>
                  <a:sysClr val="windowText" lastClr="000000"/>
                </a:solidFill>
              </a:rPr>
            </a:br>
            <a:r>
              <a:rPr lang="en-US" sz="2000" dirty="0">
                <a:solidFill>
                  <a:sysClr val="windowText" lastClr="000000"/>
                </a:solidFill>
              </a:rPr>
              <a:t>- Temperature</a:t>
            </a:r>
            <a:br>
              <a:rPr lang="en-US" sz="2000" dirty="0">
                <a:solidFill>
                  <a:sysClr val="windowText" lastClr="000000"/>
                </a:solidFill>
              </a:rPr>
            </a:br>
            <a:r>
              <a:rPr lang="en-US" sz="2000" dirty="0">
                <a:solidFill>
                  <a:sysClr val="windowText" lastClr="000000"/>
                </a:solidFill>
              </a:rPr>
              <a:t>- Humidity</a:t>
            </a:r>
          </a:p>
        </p:txBody>
      </p:sp>
      <p:sp>
        <p:nvSpPr>
          <p:cNvPr id="5" name="Rectangle 4">
            <a:extLst>
              <a:ext uri="{FF2B5EF4-FFF2-40B4-BE49-F238E27FC236}">
                <a16:creationId xmlns:a16="http://schemas.microsoft.com/office/drawing/2014/main" id="{D33D64CB-9B79-5E4E-E20A-06D2DE96883C}"/>
              </a:ext>
            </a:extLst>
          </p:cNvPr>
          <p:cNvSpPr/>
          <p:nvPr/>
        </p:nvSpPr>
        <p:spPr>
          <a:xfrm>
            <a:off x="2544976" y="6492875"/>
            <a:ext cx="7542922"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   IT22165848 | Hettiarachchi A.T. | R26-IT-061 </a:t>
            </a:r>
            <a:endParaRPr lang="en-US" dirty="0">
              <a:solidFill>
                <a:schemeClr val="tx1"/>
              </a:solidFill>
              <a:ea typeface="Cambria"/>
            </a:endParaRPr>
          </a:p>
        </p:txBody>
      </p:sp>
      <p:pic>
        <p:nvPicPr>
          <p:cNvPr id="7" name="Picture 6">
            <a:extLst>
              <a:ext uri="{FF2B5EF4-FFF2-40B4-BE49-F238E27FC236}">
                <a16:creationId xmlns:a16="http://schemas.microsoft.com/office/drawing/2014/main" id="{624D3828-55E8-0FA6-F591-3ACE1DC69B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9717" y="1673104"/>
            <a:ext cx="3613788" cy="2035689"/>
          </a:xfrm>
          <a:prstGeom prst="rect">
            <a:avLst/>
          </a:prstGeom>
        </p:spPr>
      </p:pic>
      <p:pic>
        <p:nvPicPr>
          <p:cNvPr id="13" name="Picture 12">
            <a:extLst>
              <a:ext uri="{FF2B5EF4-FFF2-40B4-BE49-F238E27FC236}">
                <a16:creationId xmlns:a16="http://schemas.microsoft.com/office/drawing/2014/main" id="{5993993A-DB20-DB71-6585-9686CC050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3409" y="4333959"/>
            <a:ext cx="1552714" cy="1552714"/>
          </a:xfrm>
          <a:prstGeom prst="rect">
            <a:avLst/>
          </a:prstGeom>
        </p:spPr>
      </p:pic>
      <p:pic>
        <p:nvPicPr>
          <p:cNvPr id="17" name="Picture 16">
            <a:extLst>
              <a:ext uri="{FF2B5EF4-FFF2-40B4-BE49-F238E27FC236}">
                <a16:creationId xmlns:a16="http://schemas.microsoft.com/office/drawing/2014/main" id="{B02058FB-E9AC-4F17-D378-9DD8B99EAF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4505973"/>
            <a:ext cx="1560917" cy="1560917"/>
          </a:xfrm>
          <a:prstGeom prst="rect">
            <a:avLst/>
          </a:prstGeom>
        </p:spPr>
      </p:pic>
      <p:pic>
        <p:nvPicPr>
          <p:cNvPr id="19" name="Picture 18">
            <a:extLst>
              <a:ext uri="{FF2B5EF4-FFF2-40B4-BE49-F238E27FC236}">
                <a16:creationId xmlns:a16="http://schemas.microsoft.com/office/drawing/2014/main" id="{D10659F0-BB01-D099-C771-736215EB6E3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12155" y="4346622"/>
            <a:ext cx="1527388" cy="1527388"/>
          </a:xfrm>
          <a:prstGeom prst="rect">
            <a:avLst/>
          </a:prstGeom>
        </p:spPr>
      </p:pic>
    </p:spTree>
    <p:extLst>
      <p:ext uri="{BB962C8B-B14F-4D97-AF65-F5344CB8AC3E}">
        <p14:creationId xmlns:p14="http://schemas.microsoft.com/office/powerpoint/2010/main" val="24713579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256D490-B414-FFAB-28DF-C2B6312CF57F}"/>
              </a:ext>
            </a:extLst>
          </p:cNvPr>
          <p:cNvPicPr>
            <a:picLocks noChangeAspect="1"/>
          </p:cNvPicPr>
          <p:nvPr/>
        </p:nvPicPr>
        <p:blipFill>
          <a:blip r:embed="rId2">
            <a:extLst>
              <a:ext uri="{28A0092B-C50C-407E-A947-70E740481C1C}">
                <a14:useLocalDpi xmlns:a14="http://schemas.microsoft.com/office/drawing/2010/main" val="0"/>
              </a:ext>
            </a:extLst>
          </a:blip>
          <a:srcRect b="16826"/>
          <a:stretch>
            <a:fillRect/>
          </a:stretch>
        </p:blipFill>
        <p:spPr>
          <a:xfrm>
            <a:off x="9192196" y="547179"/>
            <a:ext cx="2999804" cy="3183573"/>
          </a:xfrm>
          <a:prstGeom prst="rect">
            <a:avLst/>
          </a:prstGeom>
        </p:spPr>
      </p:pic>
      <p:sp>
        <p:nvSpPr>
          <p:cNvPr id="2" name="Title 1">
            <a:extLst>
              <a:ext uri="{FF2B5EF4-FFF2-40B4-BE49-F238E27FC236}">
                <a16:creationId xmlns:a16="http://schemas.microsoft.com/office/drawing/2014/main" id="{D7CAEDF1-E261-350D-7D67-A170DF8578FD}"/>
              </a:ext>
            </a:extLst>
          </p:cNvPr>
          <p:cNvSpPr>
            <a:spLocks noGrp="1"/>
          </p:cNvSpPr>
          <p:nvPr>
            <p:ph type="ctrTitle"/>
          </p:nvPr>
        </p:nvSpPr>
        <p:spPr>
          <a:xfrm>
            <a:off x="943898" y="2536952"/>
            <a:ext cx="9144000" cy="2387600"/>
          </a:xfrm>
        </p:spPr>
        <p:txBody>
          <a:bodyPr>
            <a:noAutofit/>
          </a:bodyPr>
          <a:lstStyle/>
          <a:p>
            <a:pPr algn="l"/>
            <a:r>
              <a:rPr lang="en-US" sz="2800" dirty="0">
                <a:latin typeface="+mn-lt"/>
              </a:rPr>
              <a:t>4. </a:t>
            </a:r>
            <a:r>
              <a:rPr lang="en-US" sz="2800" b="1" dirty="0">
                <a:latin typeface="+mn-lt"/>
              </a:rPr>
              <a:t>Spatial Pattern Analysis</a:t>
            </a:r>
            <a:br>
              <a:rPr lang="en-US" sz="2800" dirty="0">
                <a:latin typeface="+mn-lt"/>
              </a:rPr>
            </a:br>
            <a:r>
              <a:rPr lang="en-US" sz="2800" dirty="0">
                <a:latin typeface="+mn-lt"/>
              </a:rPr>
              <a:t>• Identify geographic dengue risk patterns across MOH areas in Colombo District.</a:t>
            </a:r>
            <a:br>
              <a:rPr lang="en-US" sz="2800" dirty="0">
                <a:latin typeface="+mn-lt"/>
              </a:rPr>
            </a:br>
            <a:br>
              <a:rPr lang="en-US" sz="2800" dirty="0">
                <a:latin typeface="+mn-lt"/>
              </a:rPr>
            </a:br>
            <a:r>
              <a:rPr lang="en-US" sz="2800" dirty="0">
                <a:latin typeface="+mn-lt"/>
              </a:rPr>
              <a:t>5. </a:t>
            </a:r>
            <a:r>
              <a:rPr lang="en-US" sz="2800" b="1" dirty="0">
                <a:latin typeface="+mn-lt"/>
              </a:rPr>
              <a:t>Explainable AI Analysis</a:t>
            </a:r>
            <a:br>
              <a:rPr lang="en-US" sz="2800" dirty="0">
                <a:latin typeface="+mn-lt"/>
              </a:rPr>
            </a:br>
            <a:r>
              <a:rPr lang="en-US" sz="2800" dirty="0">
                <a:latin typeface="+mn-lt"/>
              </a:rPr>
              <a:t>• Feature Importance analysis</a:t>
            </a:r>
            <a:br>
              <a:rPr lang="en-US" sz="2800" dirty="0">
                <a:latin typeface="+mn-lt"/>
              </a:rPr>
            </a:br>
            <a:r>
              <a:rPr lang="en-US" sz="2800" dirty="0">
                <a:latin typeface="+mn-lt"/>
              </a:rPr>
              <a:t>• SHAP explanations for individual predictions</a:t>
            </a:r>
            <a:br>
              <a:rPr lang="en-US" sz="2800" dirty="0">
                <a:latin typeface="+mn-lt"/>
              </a:rPr>
            </a:br>
            <a:br>
              <a:rPr lang="en-US" sz="2800" dirty="0">
                <a:latin typeface="+mn-lt"/>
              </a:rPr>
            </a:br>
            <a:endParaRPr lang="en-US" sz="2800" dirty="0">
              <a:latin typeface="+mn-lt"/>
            </a:endParaRPr>
          </a:p>
        </p:txBody>
      </p:sp>
      <p:sp>
        <p:nvSpPr>
          <p:cNvPr id="4" name="Rectangle 3">
            <a:extLst>
              <a:ext uri="{FF2B5EF4-FFF2-40B4-BE49-F238E27FC236}">
                <a16:creationId xmlns:a16="http://schemas.microsoft.com/office/drawing/2014/main" id="{F87C9379-3C25-D52F-F7AE-1F5F3C7CC745}"/>
              </a:ext>
            </a:extLst>
          </p:cNvPr>
          <p:cNvSpPr/>
          <p:nvPr/>
        </p:nvSpPr>
        <p:spPr>
          <a:xfrm>
            <a:off x="2544976" y="6492875"/>
            <a:ext cx="7542922"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   IT22165848 | Hettiarachchi A.T. | R26-IT-061 </a:t>
            </a:r>
            <a:endParaRPr lang="en-US" dirty="0">
              <a:solidFill>
                <a:schemeClr val="tx1"/>
              </a:solidFill>
              <a:ea typeface="Cambria"/>
            </a:endParaRPr>
          </a:p>
        </p:txBody>
      </p:sp>
      <p:pic>
        <p:nvPicPr>
          <p:cNvPr id="8" name="Picture 7">
            <a:extLst>
              <a:ext uri="{FF2B5EF4-FFF2-40B4-BE49-F238E27FC236}">
                <a16:creationId xmlns:a16="http://schemas.microsoft.com/office/drawing/2014/main" id="{76456ECE-F63F-CE61-6B8B-20457A64DA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6774" y="4134231"/>
            <a:ext cx="3950844" cy="1975422"/>
          </a:xfrm>
          <a:prstGeom prst="rect">
            <a:avLst/>
          </a:prstGeom>
        </p:spPr>
      </p:pic>
    </p:spTree>
    <p:extLst>
      <p:ext uri="{BB962C8B-B14F-4D97-AF65-F5344CB8AC3E}">
        <p14:creationId xmlns:p14="http://schemas.microsoft.com/office/powerpoint/2010/main" val="4255640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E1BEC-77BF-AFDE-2228-6E88871B9215}"/>
              </a:ext>
            </a:extLst>
          </p:cNvPr>
          <p:cNvSpPr>
            <a:spLocks noGrp="1"/>
          </p:cNvSpPr>
          <p:nvPr>
            <p:ph type="ctrTitle"/>
          </p:nvPr>
        </p:nvSpPr>
        <p:spPr>
          <a:xfrm>
            <a:off x="634459" y="4642147"/>
            <a:ext cx="10363200" cy="1470025"/>
          </a:xfrm>
        </p:spPr>
        <p:txBody>
          <a:bodyPr>
            <a:noAutofit/>
          </a:bodyPr>
          <a:lstStyle/>
          <a:p>
            <a:pPr algn="l"/>
            <a:r>
              <a:rPr lang="en-US" sz="2400" b="1" dirty="0">
                <a:latin typeface="+mn-lt"/>
              </a:rPr>
              <a:t>Technologies, Validation &amp; Data</a:t>
            </a:r>
            <a:br>
              <a:rPr lang="en-US" sz="2400" b="1" dirty="0">
                <a:latin typeface="+mn-lt"/>
              </a:rPr>
            </a:br>
            <a:br>
              <a:rPr lang="en-US" sz="2400" dirty="0">
                <a:latin typeface="+mn-lt"/>
              </a:rPr>
            </a:br>
            <a:r>
              <a:rPr lang="en-US" sz="2400" b="1" dirty="0">
                <a:latin typeface="+mn-lt"/>
              </a:rPr>
              <a:t>Technologies Used</a:t>
            </a:r>
            <a:br>
              <a:rPr lang="en-US" sz="2400" b="1" dirty="0">
                <a:latin typeface="+mn-lt"/>
              </a:rPr>
            </a:br>
            <a:br>
              <a:rPr lang="en-US" sz="2400" dirty="0">
                <a:latin typeface="+mn-lt"/>
              </a:rPr>
            </a:br>
            <a:r>
              <a:rPr lang="en-US" sz="2400" b="1" dirty="0">
                <a:latin typeface="+mn-lt"/>
              </a:rPr>
              <a:t>Data Analysis</a:t>
            </a:r>
            <a:br>
              <a:rPr lang="en-US" sz="2400" dirty="0">
                <a:latin typeface="+mn-lt"/>
              </a:rPr>
            </a:br>
            <a:r>
              <a:rPr lang="en-US" sz="2400" dirty="0">
                <a:latin typeface="+mn-lt"/>
              </a:rPr>
              <a:t>• Python</a:t>
            </a:r>
            <a:br>
              <a:rPr lang="en-US" sz="2400" dirty="0">
                <a:latin typeface="+mn-lt"/>
              </a:rPr>
            </a:br>
            <a:r>
              <a:rPr lang="en-US" sz="2400" dirty="0">
                <a:latin typeface="+mn-lt"/>
              </a:rPr>
              <a:t>• Pandas</a:t>
            </a:r>
            <a:br>
              <a:rPr lang="en-US" sz="2400" dirty="0">
                <a:latin typeface="+mn-lt"/>
              </a:rPr>
            </a:br>
            <a:r>
              <a:rPr lang="en-US" sz="2400" dirty="0">
                <a:latin typeface="+mn-lt"/>
              </a:rPr>
              <a:t>• NumPy</a:t>
            </a:r>
            <a:br>
              <a:rPr lang="en-US" sz="2400" dirty="0">
                <a:latin typeface="+mn-lt"/>
              </a:rPr>
            </a:br>
            <a:br>
              <a:rPr lang="en-US" sz="2400" dirty="0">
                <a:latin typeface="+mn-lt"/>
              </a:rPr>
            </a:br>
            <a:r>
              <a:rPr lang="en-US" sz="2400" b="1" dirty="0">
                <a:latin typeface="+mn-lt"/>
              </a:rPr>
              <a:t>Explainable AI</a:t>
            </a:r>
            <a:br>
              <a:rPr lang="en-US" sz="2400" dirty="0">
                <a:latin typeface="+mn-lt"/>
              </a:rPr>
            </a:br>
            <a:r>
              <a:rPr lang="en-US" sz="2400" dirty="0">
                <a:latin typeface="+mn-lt"/>
              </a:rPr>
              <a:t>• SHAP</a:t>
            </a:r>
            <a:br>
              <a:rPr lang="en-US" sz="2400" dirty="0">
                <a:latin typeface="+mn-lt"/>
              </a:rPr>
            </a:br>
            <a:br>
              <a:rPr lang="en-US" sz="2400" dirty="0">
                <a:latin typeface="+mn-lt"/>
              </a:rPr>
            </a:br>
            <a:r>
              <a:rPr lang="en-US" sz="2400" b="1" dirty="0">
                <a:latin typeface="+mn-lt"/>
              </a:rPr>
              <a:t>Dashboard Development</a:t>
            </a:r>
            <a:br>
              <a:rPr lang="en-US" sz="2400" dirty="0">
                <a:latin typeface="+mn-lt"/>
              </a:rPr>
            </a:br>
            <a:r>
              <a:rPr lang="en-US" sz="2400" dirty="0">
                <a:latin typeface="+mn-lt"/>
              </a:rPr>
              <a:t>• React</a:t>
            </a:r>
            <a:br>
              <a:rPr lang="en-US" sz="2400" dirty="0">
                <a:latin typeface="+mn-lt"/>
              </a:rPr>
            </a:br>
            <a:r>
              <a:rPr lang="en-US" sz="2400" dirty="0">
                <a:latin typeface="+mn-lt"/>
              </a:rPr>
              <a:t>• </a:t>
            </a:r>
            <a:r>
              <a:rPr lang="en-US" sz="2400" dirty="0" err="1">
                <a:latin typeface="+mn-lt"/>
              </a:rPr>
              <a:t>Plotly</a:t>
            </a:r>
            <a:r>
              <a:rPr lang="en-US" sz="2400" dirty="0">
                <a:latin typeface="+mn-lt"/>
              </a:rPr>
              <a:t> / Chart.js</a:t>
            </a:r>
            <a:br>
              <a:rPr lang="en-US" sz="2400" dirty="0">
                <a:latin typeface="+mn-lt"/>
              </a:rPr>
            </a:br>
            <a:br>
              <a:rPr lang="en-US" sz="2400" dirty="0">
                <a:latin typeface="+mn-lt"/>
              </a:rPr>
            </a:br>
            <a:r>
              <a:rPr lang="en-US" sz="2400" b="1" dirty="0">
                <a:latin typeface="+mn-lt"/>
              </a:rPr>
              <a:t>Spatial Visualization (</a:t>
            </a:r>
            <a:r>
              <a:rPr lang="en-AU" sz="2400" b="1" dirty="0">
                <a:latin typeface="+mn-lt"/>
              </a:rPr>
              <a:t>GIS Mapping Tools </a:t>
            </a:r>
            <a:r>
              <a:rPr lang="en-US" sz="2400" b="1" dirty="0">
                <a:latin typeface="+mn-lt"/>
              </a:rPr>
              <a:t>)</a:t>
            </a:r>
            <a:br>
              <a:rPr lang="en-US" sz="2400" dirty="0">
                <a:latin typeface="+mn-lt"/>
              </a:rPr>
            </a:br>
            <a:r>
              <a:rPr lang="en-US" sz="2400" dirty="0">
                <a:latin typeface="+mn-lt"/>
              </a:rPr>
              <a:t>• Leaflet.js / </a:t>
            </a:r>
            <a:r>
              <a:rPr lang="en-US" sz="2400" dirty="0" err="1">
                <a:latin typeface="+mn-lt"/>
              </a:rPr>
              <a:t>Mapbox</a:t>
            </a:r>
            <a:endParaRPr lang="en-US" sz="2400" dirty="0">
              <a:latin typeface="+mn-lt"/>
            </a:endParaRPr>
          </a:p>
        </p:txBody>
      </p:sp>
      <p:pic>
        <p:nvPicPr>
          <p:cNvPr id="4" name="Picture 3">
            <a:extLst>
              <a:ext uri="{FF2B5EF4-FFF2-40B4-BE49-F238E27FC236}">
                <a16:creationId xmlns:a16="http://schemas.microsoft.com/office/drawing/2014/main" id="{0AA16621-0235-816D-DA78-838637A3D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1779" y="920857"/>
            <a:ext cx="1763210" cy="1763210"/>
          </a:xfrm>
          <a:prstGeom prst="rect">
            <a:avLst/>
          </a:prstGeom>
        </p:spPr>
      </p:pic>
      <p:pic>
        <p:nvPicPr>
          <p:cNvPr id="6" name="Picture 5">
            <a:extLst>
              <a:ext uri="{FF2B5EF4-FFF2-40B4-BE49-F238E27FC236}">
                <a16:creationId xmlns:a16="http://schemas.microsoft.com/office/drawing/2014/main" id="{67A5F9B4-D4E0-B961-FAB4-28909EC0E4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2847" y="3699834"/>
            <a:ext cx="1533618" cy="1396571"/>
          </a:xfrm>
          <a:prstGeom prst="rect">
            <a:avLst/>
          </a:prstGeom>
        </p:spPr>
      </p:pic>
      <p:sp>
        <p:nvSpPr>
          <p:cNvPr id="5" name="Rectangle 4">
            <a:extLst>
              <a:ext uri="{FF2B5EF4-FFF2-40B4-BE49-F238E27FC236}">
                <a16:creationId xmlns:a16="http://schemas.microsoft.com/office/drawing/2014/main" id="{3A1F7AD6-E011-CDCD-E589-8303F74A5FE1}"/>
              </a:ext>
            </a:extLst>
          </p:cNvPr>
          <p:cNvSpPr/>
          <p:nvPr/>
        </p:nvSpPr>
        <p:spPr>
          <a:xfrm>
            <a:off x="2544976" y="6492875"/>
            <a:ext cx="7542922"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   IT22165848 | Hettiarachchi A.T. | R26-IT-061 </a:t>
            </a:r>
            <a:endParaRPr lang="en-US" dirty="0">
              <a:solidFill>
                <a:schemeClr val="tx1"/>
              </a:solidFill>
              <a:ea typeface="Cambria"/>
            </a:endParaRPr>
          </a:p>
        </p:txBody>
      </p:sp>
      <p:pic>
        <p:nvPicPr>
          <p:cNvPr id="7" name="Picture 6">
            <a:extLst>
              <a:ext uri="{FF2B5EF4-FFF2-40B4-BE49-F238E27FC236}">
                <a16:creationId xmlns:a16="http://schemas.microsoft.com/office/drawing/2014/main" id="{283366DB-BD9D-12EB-03A2-6270519673D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51976" y="4398120"/>
            <a:ext cx="3048000" cy="1714052"/>
          </a:xfrm>
          <a:prstGeom prst="rect">
            <a:avLst/>
          </a:prstGeom>
        </p:spPr>
      </p:pic>
      <p:pic>
        <p:nvPicPr>
          <p:cNvPr id="8" name="Picture 7">
            <a:extLst>
              <a:ext uri="{FF2B5EF4-FFF2-40B4-BE49-F238E27FC236}">
                <a16:creationId xmlns:a16="http://schemas.microsoft.com/office/drawing/2014/main" id="{FF06B5AA-88DC-3FDB-CD48-AA5F8B84D6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51976" y="1098500"/>
            <a:ext cx="2762251" cy="1709738"/>
          </a:xfrm>
          <a:prstGeom prst="rect">
            <a:avLst/>
          </a:prstGeom>
        </p:spPr>
      </p:pic>
    </p:spTree>
    <p:extLst>
      <p:ext uri="{BB962C8B-B14F-4D97-AF65-F5344CB8AC3E}">
        <p14:creationId xmlns:p14="http://schemas.microsoft.com/office/powerpoint/2010/main" val="3350242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1C048-865D-F655-9D97-1545AF72D82F}"/>
              </a:ext>
            </a:extLst>
          </p:cNvPr>
          <p:cNvSpPr>
            <a:spLocks noGrp="1"/>
          </p:cNvSpPr>
          <p:nvPr>
            <p:ph type="ctrTitle"/>
          </p:nvPr>
        </p:nvSpPr>
        <p:spPr>
          <a:xfrm>
            <a:off x="559308" y="3849793"/>
            <a:ext cx="11073384" cy="1470025"/>
          </a:xfrm>
        </p:spPr>
        <p:txBody>
          <a:bodyPr>
            <a:noAutofit/>
          </a:bodyPr>
          <a:lstStyle/>
          <a:p>
            <a:pPr algn="l"/>
            <a:r>
              <a:rPr lang="en-US" sz="2400" b="1" dirty="0">
                <a:latin typeface="+mn-lt"/>
              </a:rPr>
              <a:t>Validation Strategy</a:t>
            </a:r>
            <a:br>
              <a:rPr lang="en-US" sz="2400" dirty="0">
                <a:latin typeface="+mn-lt"/>
              </a:rPr>
            </a:br>
            <a:r>
              <a:rPr lang="en-US" sz="2400" dirty="0">
                <a:latin typeface="+mn-lt"/>
              </a:rPr>
              <a:t>• Compare predicted dengue risk levels with </a:t>
            </a:r>
            <a:r>
              <a:rPr lang="en-US" sz="2400" b="1" dirty="0">
                <a:latin typeface="+mn-lt"/>
              </a:rPr>
              <a:t>historical dengue case data</a:t>
            </a:r>
            <a:r>
              <a:rPr lang="en-US" sz="2400" dirty="0">
                <a:latin typeface="+mn-lt"/>
              </a:rPr>
              <a:t>.</a:t>
            </a:r>
            <a:br>
              <a:rPr lang="en-US" sz="2400" dirty="0">
                <a:latin typeface="+mn-lt"/>
              </a:rPr>
            </a:br>
            <a:r>
              <a:rPr lang="en-US" sz="2400" dirty="0">
                <a:latin typeface="+mn-lt"/>
              </a:rPr>
              <a:t>• Evaluate </a:t>
            </a:r>
            <a:r>
              <a:rPr lang="en-US" sz="2400" b="1" dirty="0">
                <a:latin typeface="+mn-lt"/>
              </a:rPr>
              <a:t>spatial accuracy of dengue risk maps</a:t>
            </a:r>
            <a:r>
              <a:rPr lang="en-US" sz="2400" dirty="0">
                <a:latin typeface="+mn-lt"/>
              </a:rPr>
              <a:t>.</a:t>
            </a:r>
            <a:br>
              <a:rPr lang="en-US" sz="2400" dirty="0">
                <a:latin typeface="+mn-lt"/>
              </a:rPr>
            </a:br>
            <a:r>
              <a:rPr lang="en-US" sz="2400" dirty="0">
                <a:latin typeface="+mn-lt"/>
              </a:rPr>
              <a:t>• Assess the interpretability of Explainable AI outputs.</a:t>
            </a:r>
            <a:br>
              <a:rPr lang="en-US" sz="2400" dirty="0">
                <a:latin typeface="+mn-lt"/>
              </a:rPr>
            </a:br>
            <a:br>
              <a:rPr lang="en-US" sz="2400" dirty="0">
                <a:latin typeface="+mn-lt"/>
              </a:rPr>
            </a:br>
            <a:r>
              <a:rPr lang="en-US" sz="2400" b="1" dirty="0">
                <a:latin typeface="+mn-lt"/>
              </a:rPr>
              <a:t>Data Availability</a:t>
            </a:r>
            <a:br>
              <a:rPr lang="en-US" sz="2400" dirty="0">
                <a:latin typeface="+mn-lt"/>
              </a:rPr>
            </a:br>
            <a:r>
              <a:rPr lang="en-US" sz="2400" dirty="0">
                <a:latin typeface="+mn-lt"/>
              </a:rPr>
              <a:t>Data used in this component includes:</a:t>
            </a:r>
            <a:br>
              <a:rPr lang="en-US" sz="2400" dirty="0">
                <a:latin typeface="+mn-lt"/>
              </a:rPr>
            </a:br>
            <a:r>
              <a:rPr lang="en-US" sz="2400" dirty="0">
                <a:latin typeface="+mn-lt"/>
              </a:rPr>
              <a:t>• </a:t>
            </a:r>
            <a:r>
              <a:rPr lang="en-US" sz="2400" b="1" dirty="0">
                <a:latin typeface="+mn-lt"/>
              </a:rPr>
              <a:t>Historical dengue case data from National Dengue Control Unit (Sri Lanka)</a:t>
            </a:r>
            <a:br>
              <a:rPr lang="en-US" sz="2400" b="1" dirty="0">
                <a:latin typeface="+mn-lt"/>
              </a:rPr>
            </a:br>
            <a:r>
              <a:rPr lang="en-US" sz="2400" b="1" dirty="0">
                <a:latin typeface="+mn-lt"/>
              </a:rPr>
              <a:t>• Climate data from Department of Meteorology (Sri Lanka)</a:t>
            </a:r>
            <a:br>
              <a:rPr lang="en-US" sz="2400" b="1" dirty="0">
                <a:latin typeface="+mn-lt"/>
              </a:rPr>
            </a:br>
            <a:br>
              <a:rPr lang="en-US" sz="2400" dirty="0">
                <a:latin typeface="+mn-lt"/>
              </a:rPr>
            </a:br>
            <a:r>
              <a:rPr lang="en-US" sz="2400" b="1" dirty="0">
                <a:latin typeface="+mn-lt"/>
              </a:rPr>
              <a:t>Security &amp; Ethical Considerations</a:t>
            </a:r>
            <a:br>
              <a:rPr lang="en-US" sz="2400" dirty="0">
                <a:latin typeface="+mn-lt"/>
              </a:rPr>
            </a:br>
            <a:r>
              <a:rPr lang="en-US" sz="2400" dirty="0">
                <a:latin typeface="+mn-lt"/>
              </a:rPr>
              <a:t>• Use publicly </a:t>
            </a:r>
            <a:r>
              <a:rPr lang="en-US" sz="2400" b="1" dirty="0">
                <a:latin typeface="+mn-lt"/>
              </a:rPr>
              <a:t>available government datasets</a:t>
            </a:r>
            <a:br>
              <a:rPr lang="en-US" sz="2400" dirty="0">
                <a:latin typeface="+mn-lt"/>
              </a:rPr>
            </a:br>
            <a:r>
              <a:rPr lang="en-US" sz="2400" dirty="0">
                <a:latin typeface="+mn-lt"/>
              </a:rPr>
              <a:t>• Ensure secure handling of </a:t>
            </a:r>
            <a:r>
              <a:rPr lang="en-US" sz="2400" b="1" dirty="0">
                <a:latin typeface="+mn-lt"/>
              </a:rPr>
              <a:t>epidemiological data</a:t>
            </a:r>
            <a:br>
              <a:rPr lang="en-US" sz="2400" dirty="0">
                <a:latin typeface="+mn-lt"/>
              </a:rPr>
            </a:br>
            <a:r>
              <a:rPr lang="en-US" sz="2400" dirty="0">
                <a:latin typeface="+mn-lt"/>
              </a:rPr>
              <a:t>• Maintain responsible use of public health information.</a:t>
            </a:r>
          </a:p>
        </p:txBody>
      </p:sp>
      <p:sp>
        <p:nvSpPr>
          <p:cNvPr id="4" name="Rectangle 3">
            <a:extLst>
              <a:ext uri="{FF2B5EF4-FFF2-40B4-BE49-F238E27FC236}">
                <a16:creationId xmlns:a16="http://schemas.microsoft.com/office/drawing/2014/main" id="{1DE1FBE1-DFAC-53D7-2067-6F67D8E797A4}"/>
              </a:ext>
            </a:extLst>
          </p:cNvPr>
          <p:cNvSpPr/>
          <p:nvPr/>
        </p:nvSpPr>
        <p:spPr>
          <a:xfrm>
            <a:off x="2544976" y="6492875"/>
            <a:ext cx="7542922"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   IT22165848 | Hettiarachchi A.T. | R26-IT-061 </a:t>
            </a:r>
            <a:endParaRPr lang="en-US" dirty="0">
              <a:solidFill>
                <a:schemeClr val="tx1"/>
              </a:solidFill>
              <a:ea typeface="Cambria"/>
            </a:endParaRPr>
          </a:p>
        </p:txBody>
      </p:sp>
      <p:pic>
        <p:nvPicPr>
          <p:cNvPr id="6" name="Picture 5">
            <a:extLst>
              <a:ext uri="{FF2B5EF4-FFF2-40B4-BE49-F238E27FC236}">
                <a16:creationId xmlns:a16="http://schemas.microsoft.com/office/drawing/2014/main" id="{88D1167C-3313-873C-E8E4-FF8548927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2530" y="3557880"/>
            <a:ext cx="3047238" cy="2880131"/>
          </a:xfrm>
          <a:prstGeom prst="rect">
            <a:avLst/>
          </a:prstGeom>
        </p:spPr>
      </p:pic>
    </p:spTree>
    <p:extLst>
      <p:ext uri="{BB962C8B-B14F-4D97-AF65-F5344CB8AC3E}">
        <p14:creationId xmlns:p14="http://schemas.microsoft.com/office/powerpoint/2010/main" val="15875094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BDE35-A2BB-8FAE-FE3F-2EB7CD3471A0}"/>
              </a:ext>
            </a:extLst>
          </p:cNvPr>
          <p:cNvSpPr>
            <a:spLocks noGrp="1"/>
          </p:cNvSpPr>
          <p:nvPr>
            <p:ph type="ctrTitle"/>
          </p:nvPr>
        </p:nvSpPr>
        <p:spPr>
          <a:xfrm>
            <a:off x="786384" y="4252129"/>
            <a:ext cx="10363200" cy="1470025"/>
          </a:xfrm>
        </p:spPr>
        <p:txBody>
          <a:bodyPr>
            <a:noAutofit/>
          </a:bodyPr>
          <a:lstStyle/>
          <a:p>
            <a:pPr algn="l"/>
            <a:r>
              <a:rPr lang="en-US" sz="2800" b="1" dirty="0">
                <a:latin typeface="+mn-lt"/>
              </a:rPr>
              <a:t>Dependencies and Common Components</a:t>
            </a:r>
            <a:br>
              <a:rPr lang="en-US" sz="2400" dirty="0">
                <a:latin typeface="+mn-lt"/>
              </a:rPr>
            </a:br>
            <a:br>
              <a:rPr lang="en-US" sz="2400" dirty="0">
                <a:latin typeface="+mn-lt"/>
              </a:rPr>
            </a:br>
            <a:r>
              <a:rPr lang="en-US" sz="2400" b="1" dirty="0">
                <a:latin typeface="+mn-lt"/>
              </a:rPr>
              <a:t>ML Prediction Module</a:t>
            </a:r>
            <a:br>
              <a:rPr lang="en-US" sz="2400" dirty="0">
                <a:latin typeface="+mn-lt"/>
              </a:rPr>
            </a:br>
            <a:r>
              <a:rPr lang="en-US" sz="2400" dirty="0">
                <a:latin typeface="+mn-lt"/>
              </a:rPr>
              <a:t>• Provides dengue outbreak risk predictions</a:t>
            </a:r>
            <a:br>
              <a:rPr lang="en-US" sz="2400" dirty="0">
                <a:latin typeface="+mn-lt"/>
              </a:rPr>
            </a:br>
            <a:br>
              <a:rPr lang="en-US" sz="2400" dirty="0">
                <a:latin typeface="+mn-lt"/>
              </a:rPr>
            </a:br>
            <a:r>
              <a:rPr lang="en-US" sz="2400" b="1" dirty="0">
                <a:latin typeface="+mn-lt"/>
              </a:rPr>
              <a:t>Central Database</a:t>
            </a:r>
            <a:br>
              <a:rPr lang="en-US" sz="2400" dirty="0">
                <a:latin typeface="+mn-lt"/>
              </a:rPr>
            </a:br>
            <a:r>
              <a:rPr lang="en-US" sz="2400" dirty="0">
                <a:latin typeface="+mn-lt"/>
              </a:rPr>
              <a:t>• Stores dengue case data and weather data</a:t>
            </a:r>
            <a:br>
              <a:rPr lang="en-US" sz="2400" dirty="0">
                <a:latin typeface="+mn-lt"/>
              </a:rPr>
            </a:br>
            <a:br>
              <a:rPr lang="en-US" sz="2400" dirty="0">
                <a:latin typeface="+mn-lt"/>
              </a:rPr>
            </a:br>
            <a:r>
              <a:rPr lang="en-US" sz="2400" b="1" dirty="0">
                <a:latin typeface="+mn-lt"/>
              </a:rPr>
              <a:t>Data Processing Layer</a:t>
            </a:r>
            <a:br>
              <a:rPr lang="en-US" sz="2400" dirty="0">
                <a:latin typeface="+mn-lt"/>
              </a:rPr>
            </a:br>
            <a:r>
              <a:rPr lang="en-US" sz="2400" dirty="0">
                <a:latin typeface="+mn-lt"/>
              </a:rPr>
              <a:t>• Python-based preprocessing and feature extraction</a:t>
            </a:r>
            <a:br>
              <a:rPr lang="en-US" sz="2400" dirty="0">
                <a:latin typeface="+mn-lt"/>
              </a:rPr>
            </a:br>
            <a:br>
              <a:rPr lang="en-US" sz="2400" b="1" dirty="0">
                <a:latin typeface="+mn-lt"/>
              </a:rPr>
            </a:br>
            <a:r>
              <a:rPr lang="en-US" sz="2400" b="1" dirty="0">
                <a:latin typeface="+mn-lt"/>
              </a:rPr>
              <a:t>Frontend Dashboard</a:t>
            </a:r>
            <a:br>
              <a:rPr lang="en-US" sz="2400" dirty="0">
                <a:latin typeface="+mn-lt"/>
              </a:rPr>
            </a:br>
            <a:r>
              <a:rPr lang="en-US" sz="2400" dirty="0">
                <a:latin typeface="+mn-lt"/>
              </a:rPr>
              <a:t>• React-based interactive interface</a:t>
            </a:r>
            <a:br>
              <a:rPr lang="en-US" sz="2400" dirty="0">
                <a:latin typeface="+mn-lt"/>
              </a:rPr>
            </a:br>
            <a:br>
              <a:rPr lang="en-US" sz="2400" dirty="0">
                <a:latin typeface="+mn-lt"/>
              </a:rPr>
            </a:br>
            <a:r>
              <a:rPr lang="en-US" sz="2400" b="1" dirty="0">
                <a:latin typeface="+mn-lt"/>
              </a:rPr>
              <a:t>GIS Tools</a:t>
            </a:r>
            <a:br>
              <a:rPr lang="en-US" sz="2400" dirty="0">
                <a:latin typeface="+mn-lt"/>
              </a:rPr>
            </a:br>
            <a:r>
              <a:rPr lang="en-US" sz="2400" dirty="0">
                <a:latin typeface="+mn-lt"/>
              </a:rPr>
              <a:t>• Leaflet.js / </a:t>
            </a:r>
            <a:r>
              <a:rPr lang="en-US" sz="2400" dirty="0" err="1">
                <a:latin typeface="+mn-lt"/>
              </a:rPr>
              <a:t>Mapbox</a:t>
            </a:r>
            <a:r>
              <a:rPr lang="en-US" sz="2400" dirty="0">
                <a:latin typeface="+mn-lt"/>
              </a:rPr>
              <a:t> for dengue risk maps</a:t>
            </a:r>
          </a:p>
        </p:txBody>
      </p:sp>
      <p:sp>
        <p:nvSpPr>
          <p:cNvPr id="4" name="Rectangle 3">
            <a:extLst>
              <a:ext uri="{FF2B5EF4-FFF2-40B4-BE49-F238E27FC236}">
                <a16:creationId xmlns:a16="http://schemas.microsoft.com/office/drawing/2014/main" id="{2339E420-97CB-9BA9-3AC4-34F166A58C08}"/>
              </a:ext>
            </a:extLst>
          </p:cNvPr>
          <p:cNvSpPr/>
          <p:nvPr/>
        </p:nvSpPr>
        <p:spPr>
          <a:xfrm>
            <a:off x="2544976" y="6492875"/>
            <a:ext cx="7542922"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   IT22165848 | Hettiarachchi A.T. | R26-IT-061 </a:t>
            </a:r>
            <a:endParaRPr lang="en-US" dirty="0">
              <a:solidFill>
                <a:schemeClr val="tx1"/>
              </a:solidFill>
              <a:ea typeface="Cambria"/>
            </a:endParaRPr>
          </a:p>
        </p:txBody>
      </p:sp>
      <p:pic>
        <p:nvPicPr>
          <p:cNvPr id="6" name="Picture 5">
            <a:extLst>
              <a:ext uri="{FF2B5EF4-FFF2-40B4-BE49-F238E27FC236}">
                <a16:creationId xmlns:a16="http://schemas.microsoft.com/office/drawing/2014/main" id="{0A011BD8-1B34-2030-24E0-254EBC93D4AF}"/>
              </a:ext>
            </a:extLst>
          </p:cNvPr>
          <p:cNvPicPr>
            <a:picLocks noChangeAspect="1"/>
          </p:cNvPicPr>
          <p:nvPr/>
        </p:nvPicPr>
        <p:blipFill>
          <a:blip r:embed="rId2">
            <a:extLst>
              <a:ext uri="{28A0092B-C50C-407E-A947-70E740481C1C}">
                <a14:useLocalDpi xmlns:a14="http://schemas.microsoft.com/office/drawing/2010/main" val="0"/>
              </a:ext>
            </a:extLst>
          </a:blip>
          <a:srcRect l="3767" t="5293" r="4254" b="7949"/>
          <a:stretch>
            <a:fillRect/>
          </a:stretch>
        </p:blipFill>
        <p:spPr>
          <a:xfrm>
            <a:off x="9400032" y="2368464"/>
            <a:ext cx="2569464" cy="1883665"/>
          </a:xfrm>
          <a:prstGeom prst="rect">
            <a:avLst/>
          </a:prstGeom>
        </p:spPr>
      </p:pic>
      <p:pic>
        <p:nvPicPr>
          <p:cNvPr id="8" name="Picture 7">
            <a:extLst>
              <a:ext uri="{FF2B5EF4-FFF2-40B4-BE49-F238E27FC236}">
                <a16:creationId xmlns:a16="http://schemas.microsoft.com/office/drawing/2014/main" id="{D766346E-1B7D-BD64-7FEE-2855F3AFDD27}"/>
              </a:ext>
            </a:extLst>
          </p:cNvPr>
          <p:cNvPicPr>
            <a:picLocks noChangeAspect="1"/>
          </p:cNvPicPr>
          <p:nvPr/>
        </p:nvPicPr>
        <p:blipFill>
          <a:blip r:embed="rId3" cstate="print">
            <a:extLst>
              <a:ext uri="{28A0092B-C50C-407E-A947-70E740481C1C}">
                <a14:useLocalDpi xmlns:a14="http://schemas.microsoft.com/office/drawing/2010/main" val="0"/>
              </a:ext>
            </a:extLst>
          </a:blip>
          <a:srcRect t="10350" b="11962"/>
          <a:stretch>
            <a:fillRect/>
          </a:stretch>
        </p:blipFill>
        <p:spPr>
          <a:xfrm>
            <a:off x="6550076" y="4379975"/>
            <a:ext cx="2636520" cy="2048257"/>
          </a:xfrm>
          <a:prstGeom prst="rect">
            <a:avLst/>
          </a:prstGeom>
        </p:spPr>
      </p:pic>
      <p:pic>
        <p:nvPicPr>
          <p:cNvPr id="10" name="Picture 9">
            <a:extLst>
              <a:ext uri="{FF2B5EF4-FFF2-40B4-BE49-F238E27FC236}">
                <a16:creationId xmlns:a16="http://schemas.microsoft.com/office/drawing/2014/main" id="{49B89712-D6F3-4006-5CF5-1520C8D007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7614" y="1437289"/>
            <a:ext cx="1616808" cy="1616808"/>
          </a:xfrm>
          <a:prstGeom prst="rect">
            <a:avLst/>
          </a:prstGeom>
        </p:spPr>
      </p:pic>
    </p:spTree>
    <p:extLst>
      <p:ext uri="{BB962C8B-B14F-4D97-AF65-F5344CB8AC3E}">
        <p14:creationId xmlns:p14="http://schemas.microsoft.com/office/powerpoint/2010/main" val="34223341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38890-769C-950B-FD7F-20C14C327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44230-83D9-4C42-927F-BFE7625259A0}"/>
              </a:ext>
            </a:extLst>
          </p:cNvPr>
          <p:cNvSpPr>
            <a:spLocks noGrp="1"/>
          </p:cNvSpPr>
          <p:nvPr>
            <p:ph type="ctrTitle"/>
          </p:nvPr>
        </p:nvSpPr>
        <p:spPr>
          <a:xfrm>
            <a:off x="4344924" y="73152"/>
            <a:ext cx="3502152" cy="638090"/>
          </a:xfrm>
        </p:spPr>
        <p:txBody>
          <a:bodyPr>
            <a:noAutofit/>
          </a:bodyPr>
          <a:lstStyle/>
          <a:p>
            <a:pPr algn="l"/>
            <a:r>
              <a:rPr lang="en-US" sz="3200" b="1" dirty="0">
                <a:latin typeface="+mn-lt"/>
              </a:rPr>
              <a:t>System Overview</a:t>
            </a:r>
          </a:p>
        </p:txBody>
      </p:sp>
      <p:sp>
        <p:nvSpPr>
          <p:cNvPr id="4" name="Rectangle 3">
            <a:extLst>
              <a:ext uri="{FF2B5EF4-FFF2-40B4-BE49-F238E27FC236}">
                <a16:creationId xmlns:a16="http://schemas.microsoft.com/office/drawing/2014/main" id="{E74C5299-412A-B7D9-F45A-3462446725AE}"/>
              </a:ext>
            </a:extLst>
          </p:cNvPr>
          <p:cNvSpPr/>
          <p:nvPr/>
        </p:nvSpPr>
        <p:spPr>
          <a:xfrm>
            <a:off x="2544976" y="6492875"/>
            <a:ext cx="7542922"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   IT22165848 | Hettiarachchi A.T. | R26-IT-061 </a:t>
            </a:r>
            <a:endParaRPr lang="en-US" dirty="0">
              <a:solidFill>
                <a:schemeClr val="tx1"/>
              </a:solidFill>
              <a:ea typeface="Cambria"/>
            </a:endParaRPr>
          </a:p>
        </p:txBody>
      </p:sp>
      <p:pic>
        <p:nvPicPr>
          <p:cNvPr id="5" name="Picture 4">
            <a:extLst>
              <a:ext uri="{FF2B5EF4-FFF2-40B4-BE49-F238E27FC236}">
                <a16:creationId xmlns:a16="http://schemas.microsoft.com/office/drawing/2014/main" id="{37C0BA60-CEC1-BCB4-BB86-887C35B53BBA}"/>
              </a:ext>
            </a:extLst>
          </p:cNvPr>
          <p:cNvPicPr>
            <a:picLocks noChangeAspect="1"/>
          </p:cNvPicPr>
          <p:nvPr/>
        </p:nvPicPr>
        <p:blipFill>
          <a:blip r:embed="rId2">
            <a:extLst>
              <a:ext uri="{28A0092B-C50C-407E-A947-70E740481C1C}">
                <a14:useLocalDpi xmlns:a14="http://schemas.microsoft.com/office/drawing/2010/main" val="0"/>
              </a:ext>
            </a:extLst>
          </a:blip>
          <a:srcRect l="2118" t="13466" r="1260" b="15600"/>
          <a:stretch>
            <a:fillRect/>
          </a:stretch>
        </p:blipFill>
        <p:spPr>
          <a:xfrm>
            <a:off x="883353" y="877824"/>
            <a:ext cx="10425294" cy="5102352"/>
          </a:xfrm>
          <a:prstGeom prst="rect">
            <a:avLst/>
          </a:prstGeom>
        </p:spPr>
      </p:pic>
    </p:spTree>
    <p:extLst>
      <p:ext uri="{BB962C8B-B14F-4D97-AF65-F5344CB8AC3E}">
        <p14:creationId xmlns:p14="http://schemas.microsoft.com/office/powerpoint/2010/main" val="3094245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963084" y="2837087"/>
            <a:ext cx="10363200" cy="949846"/>
          </a:xfrm>
        </p:spPr>
        <p:txBody>
          <a:bodyPr>
            <a:noAutofit/>
          </a:bodyPr>
          <a:lstStyle/>
          <a:p>
            <a:r>
              <a:rPr lang="en-US" sz="2400" b="1" dirty="0">
                <a:latin typeface="+mn-lt"/>
              </a:rPr>
              <a:t>IT22281982 | Adithya A.A.H</a:t>
            </a:r>
            <a:br>
              <a:rPr lang="en-US" sz="2400" b="1" dirty="0">
                <a:latin typeface="+mn-lt"/>
              </a:rPr>
            </a:br>
            <a:r>
              <a:rPr lang="en-US" sz="2400" b="1" dirty="0">
                <a:latin typeface="+mn-lt"/>
              </a:rPr>
              <a:t>Knowledge-Augmented NLP Framework for Dengue Intelligence</a:t>
            </a:r>
          </a:p>
        </p:txBody>
      </p:sp>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IT22281982 | Adithya A.A.H</a:t>
            </a:r>
            <a:endParaRPr lang="en-US" dirty="0">
              <a:solidFill>
                <a:schemeClr val="tx1"/>
              </a:solidFill>
              <a:ea typeface="Cambria"/>
            </a:endParaRPr>
          </a:p>
        </p:txBody>
      </p:sp>
      <p:pic>
        <p:nvPicPr>
          <p:cNvPr id="9" name="Picture 8">
            <a:extLst>
              <a:ext uri="{FF2B5EF4-FFF2-40B4-BE49-F238E27FC236}">
                <a16:creationId xmlns:a16="http://schemas.microsoft.com/office/drawing/2014/main" id="{6CDF072A-DA3B-468B-B04B-1487DFB54C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9200" y="154093"/>
            <a:ext cx="2021840" cy="2294468"/>
          </a:xfrm>
          <a:prstGeom prst="rect">
            <a:avLst/>
          </a:prstGeom>
        </p:spPr>
      </p:pic>
    </p:spTree>
    <p:extLst>
      <p:ext uri="{BB962C8B-B14F-4D97-AF65-F5344CB8AC3E}">
        <p14:creationId xmlns:p14="http://schemas.microsoft.com/office/powerpoint/2010/main" val="3418525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A6B5D-8AE7-614D-D0E3-AC9085FEDE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7E064-ECD9-6896-80DA-A0459534B161}"/>
              </a:ext>
            </a:extLst>
          </p:cNvPr>
          <p:cNvSpPr>
            <a:spLocks noGrp="1"/>
          </p:cNvSpPr>
          <p:nvPr>
            <p:ph type="ctrTitle"/>
          </p:nvPr>
        </p:nvSpPr>
        <p:spPr>
          <a:xfrm>
            <a:off x="914400" y="4343373"/>
            <a:ext cx="10363200" cy="1470025"/>
          </a:xfrm>
        </p:spPr>
        <p:txBody>
          <a:bodyPr>
            <a:noAutofit/>
          </a:bodyPr>
          <a:lstStyle/>
          <a:p>
            <a:pPr algn="l"/>
            <a:r>
              <a:rPr lang="en-US" sz="2800" b="1" dirty="0">
                <a:latin typeface="+mn-lt"/>
              </a:rPr>
              <a:t>Problem Definition</a:t>
            </a:r>
            <a:br>
              <a:rPr lang="en-US" sz="2800" b="1" dirty="0">
                <a:latin typeface="+mn-lt"/>
              </a:rPr>
            </a:br>
            <a:br>
              <a:rPr lang="en-US" sz="2800" dirty="0">
                <a:latin typeface="+mn-lt"/>
              </a:rPr>
            </a:br>
            <a:r>
              <a:rPr lang="en-US" sz="2800" dirty="0">
                <a:latin typeface="+mn-lt"/>
              </a:rPr>
              <a:t>Public health decision makers require reliable and interpretable information about dengue outbreaks, but existing surveillance systems mainly focus on </a:t>
            </a:r>
            <a:r>
              <a:rPr lang="en-US" sz="2800" b="1" dirty="0">
                <a:latin typeface="+mn-lt"/>
              </a:rPr>
              <a:t>numerical prediction outputs</a:t>
            </a:r>
            <a:r>
              <a:rPr lang="en-US" sz="2800" dirty="0">
                <a:latin typeface="+mn-lt"/>
              </a:rPr>
              <a:t>.</a:t>
            </a:r>
            <a:br>
              <a:rPr lang="en-US" sz="2800" dirty="0">
                <a:latin typeface="+mn-lt"/>
              </a:rPr>
            </a:br>
            <a:br>
              <a:rPr lang="en-US" sz="2800" dirty="0">
                <a:latin typeface="+mn-lt"/>
              </a:rPr>
            </a:br>
            <a:r>
              <a:rPr lang="en-US" sz="2800" dirty="0">
                <a:latin typeface="+mn-lt"/>
              </a:rPr>
              <a:t>These systems lack mechanisms to extract knowledge from textual sources such as:</a:t>
            </a:r>
            <a:br>
              <a:rPr lang="en-US" sz="2800" dirty="0">
                <a:latin typeface="+mn-lt"/>
              </a:rPr>
            </a:br>
            <a:r>
              <a:rPr lang="en-US" sz="2800" b="1" dirty="0">
                <a:latin typeface="+mn-lt"/>
              </a:rPr>
              <a:t>- public health guidelines</a:t>
            </a:r>
            <a:br>
              <a:rPr lang="en-US" sz="2800" b="1" dirty="0">
                <a:latin typeface="+mn-lt"/>
              </a:rPr>
            </a:br>
            <a:r>
              <a:rPr lang="en-US" sz="2800" b="1" dirty="0">
                <a:latin typeface="+mn-lt"/>
              </a:rPr>
              <a:t>- research publications</a:t>
            </a:r>
            <a:br>
              <a:rPr lang="en-US" sz="2800" b="1" dirty="0">
                <a:latin typeface="+mn-lt"/>
              </a:rPr>
            </a:br>
            <a:r>
              <a:rPr lang="en-US" sz="2800" b="1" dirty="0">
                <a:latin typeface="+mn-lt"/>
              </a:rPr>
              <a:t>- news reports</a:t>
            </a:r>
            <a:br>
              <a:rPr lang="en-US" sz="2800" b="1" dirty="0">
                <a:latin typeface="+mn-lt"/>
              </a:rPr>
            </a:br>
            <a:r>
              <a:rPr lang="en-US" sz="2800" b="1" dirty="0">
                <a:latin typeface="+mn-lt"/>
              </a:rPr>
              <a:t>- public advisories</a:t>
            </a:r>
            <a:br>
              <a:rPr lang="en-US" sz="2800" b="1" dirty="0">
                <a:latin typeface="+mn-lt"/>
              </a:rPr>
            </a:br>
            <a:br>
              <a:rPr lang="en-US" sz="2800" b="1" dirty="0">
                <a:latin typeface="+mn-lt"/>
              </a:rPr>
            </a:br>
            <a:endParaRPr lang="en-US" sz="2800" b="1" dirty="0">
              <a:latin typeface="+mn-lt"/>
            </a:endParaRPr>
          </a:p>
        </p:txBody>
      </p:sp>
      <p:sp>
        <p:nvSpPr>
          <p:cNvPr id="3" name="Rectangle 2">
            <a:extLst>
              <a:ext uri="{FF2B5EF4-FFF2-40B4-BE49-F238E27FC236}">
                <a16:creationId xmlns:a16="http://schemas.microsoft.com/office/drawing/2014/main" id="{71A38860-429E-7D91-EFA5-F09C7EB7A789}"/>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IT22281982 | Adithya A.A.H</a:t>
            </a:r>
            <a:endParaRPr lang="en-US" dirty="0">
              <a:solidFill>
                <a:schemeClr val="tx1"/>
              </a:solidFill>
              <a:ea typeface="Cambria"/>
            </a:endParaRPr>
          </a:p>
        </p:txBody>
      </p:sp>
      <p:pic>
        <p:nvPicPr>
          <p:cNvPr id="7" name="Picture 6">
            <a:extLst>
              <a:ext uri="{FF2B5EF4-FFF2-40B4-BE49-F238E27FC236}">
                <a16:creationId xmlns:a16="http://schemas.microsoft.com/office/drawing/2014/main" id="{B10A10A6-1D11-6A0F-A521-3A725A4A08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42499" y="3537767"/>
            <a:ext cx="2826619" cy="1995260"/>
          </a:xfrm>
          <a:prstGeom prst="rect">
            <a:avLst/>
          </a:prstGeom>
        </p:spPr>
      </p:pic>
      <p:pic>
        <p:nvPicPr>
          <p:cNvPr id="9" name="Picture 8">
            <a:extLst>
              <a:ext uri="{FF2B5EF4-FFF2-40B4-BE49-F238E27FC236}">
                <a16:creationId xmlns:a16="http://schemas.microsoft.com/office/drawing/2014/main" id="{C39B4E91-3742-2A63-6C15-214C5961DBDA}"/>
              </a:ext>
            </a:extLst>
          </p:cNvPr>
          <p:cNvPicPr>
            <a:picLocks noChangeAspect="1"/>
          </p:cNvPicPr>
          <p:nvPr/>
        </p:nvPicPr>
        <p:blipFill>
          <a:blip r:embed="rId4" cstate="print">
            <a:extLst>
              <a:ext uri="{28A0092B-C50C-407E-A947-70E740481C1C}">
                <a14:useLocalDpi xmlns:a14="http://schemas.microsoft.com/office/drawing/2010/main" val="0"/>
              </a:ext>
            </a:extLst>
          </a:blip>
          <a:srcRect l="8475" t="6267" r="7500" b="6667"/>
          <a:stretch>
            <a:fillRect/>
          </a:stretch>
        </p:blipFill>
        <p:spPr>
          <a:xfrm>
            <a:off x="5031125" y="4329700"/>
            <a:ext cx="3419856" cy="1993305"/>
          </a:xfrm>
          <a:prstGeom prst="rect">
            <a:avLst/>
          </a:prstGeom>
        </p:spPr>
      </p:pic>
      <p:pic>
        <p:nvPicPr>
          <p:cNvPr id="11" name="Picture 10">
            <a:extLst>
              <a:ext uri="{FF2B5EF4-FFF2-40B4-BE49-F238E27FC236}">
                <a16:creationId xmlns:a16="http://schemas.microsoft.com/office/drawing/2014/main" id="{14F82516-2B65-16B9-EEE8-8701C31736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79939" y="1953874"/>
            <a:ext cx="1847469" cy="1217156"/>
          </a:xfrm>
          <a:prstGeom prst="rect">
            <a:avLst/>
          </a:prstGeom>
        </p:spPr>
      </p:pic>
    </p:spTree>
    <p:extLst>
      <p:ext uri="{BB962C8B-B14F-4D97-AF65-F5344CB8AC3E}">
        <p14:creationId xmlns:p14="http://schemas.microsoft.com/office/powerpoint/2010/main" val="29471153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021F2-A6B5-D312-D04E-EC85B0530AEB}"/>
              </a:ext>
            </a:extLst>
          </p:cNvPr>
          <p:cNvSpPr>
            <a:spLocks noGrp="1"/>
          </p:cNvSpPr>
          <p:nvPr>
            <p:ph type="ctrTitle"/>
          </p:nvPr>
        </p:nvSpPr>
        <p:spPr>
          <a:xfrm>
            <a:off x="914400" y="4109267"/>
            <a:ext cx="10363200" cy="1470025"/>
          </a:xfrm>
        </p:spPr>
        <p:txBody>
          <a:bodyPr>
            <a:noAutofit/>
          </a:bodyPr>
          <a:lstStyle/>
          <a:p>
            <a:pPr algn="l"/>
            <a:r>
              <a:rPr lang="en-US" sz="2400" b="1" dirty="0">
                <a:latin typeface="+mn-lt"/>
              </a:rPr>
              <a:t>Research Objective</a:t>
            </a:r>
            <a:br>
              <a:rPr lang="en-US" sz="2400" dirty="0">
                <a:latin typeface="+mn-lt"/>
              </a:rPr>
            </a:br>
            <a:r>
              <a:rPr lang="en-US" sz="2400" dirty="0">
                <a:latin typeface="+mn-lt"/>
              </a:rPr>
              <a:t>To design and implement a Knowledge-Augmented </a:t>
            </a:r>
            <a:r>
              <a:rPr lang="en-US" sz="2400" b="1" dirty="0">
                <a:latin typeface="+mn-lt"/>
              </a:rPr>
              <a:t>Natural Language Processing (NLP) </a:t>
            </a:r>
            <a:r>
              <a:rPr lang="en-US" sz="2400" dirty="0">
                <a:latin typeface="+mn-lt"/>
              </a:rPr>
              <a:t>framework that integrates transformer-based intelligence with a dynamic dengue knowledge base to support evidence-based risk communication and automated surveillance reporting.</a:t>
            </a:r>
            <a:br>
              <a:rPr lang="en-US" sz="2400" dirty="0">
                <a:latin typeface="+mn-lt"/>
              </a:rPr>
            </a:br>
            <a:br>
              <a:rPr lang="en-US" sz="2400" dirty="0">
                <a:latin typeface="+mn-lt"/>
              </a:rPr>
            </a:br>
            <a:r>
              <a:rPr lang="en-US" sz="2400" b="1" dirty="0">
                <a:latin typeface="+mn-lt"/>
              </a:rPr>
              <a:t>Sub-Objectives</a:t>
            </a:r>
            <a:br>
              <a:rPr lang="en-US" sz="2400" dirty="0">
                <a:latin typeface="+mn-lt"/>
              </a:rPr>
            </a:br>
            <a:r>
              <a:rPr lang="en-US" sz="2400" dirty="0">
                <a:latin typeface="+mn-lt"/>
              </a:rPr>
              <a:t>• Build a multi-modal dengue knowledge base using </a:t>
            </a:r>
            <a:r>
              <a:rPr lang="en-US" sz="2400" b="1" dirty="0">
                <a:latin typeface="+mn-lt"/>
              </a:rPr>
              <a:t>authoritative textual sources.</a:t>
            </a:r>
            <a:br>
              <a:rPr lang="en-US" sz="2400" dirty="0">
                <a:latin typeface="+mn-lt"/>
              </a:rPr>
            </a:br>
            <a:r>
              <a:rPr lang="en-US" sz="2400" dirty="0">
                <a:latin typeface="+mn-lt"/>
              </a:rPr>
              <a:t>• Store semantic representations of dengue knowledge in a vector database.</a:t>
            </a:r>
            <a:br>
              <a:rPr lang="en-US" sz="2400" dirty="0">
                <a:latin typeface="+mn-lt"/>
              </a:rPr>
            </a:br>
            <a:r>
              <a:rPr lang="en-US" sz="2400" dirty="0">
                <a:latin typeface="+mn-lt"/>
              </a:rPr>
              <a:t>• Construct a dengue knowledge </a:t>
            </a:r>
            <a:r>
              <a:rPr lang="en-US" sz="2400" b="1" dirty="0">
                <a:latin typeface="+mn-lt"/>
              </a:rPr>
              <a:t>graph linking symptoms, environmental triggers, mosquito breeding patterns, and geographic risk zones</a:t>
            </a:r>
            <a:r>
              <a:rPr lang="en-US" sz="2400" dirty="0">
                <a:latin typeface="+mn-lt"/>
              </a:rPr>
              <a:t>.</a:t>
            </a:r>
            <a:br>
              <a:rPr lang="en-US" sz="2400" dirty="0">
                <a:latin typeface="+mn-lt"/>
              </a:rPr>
            </a:br>
            <a:r>
              <a:rPr lang="en-US" sz="2400" dirty="0">
                <a:latin typeface="+mn-lt"/>
              </a:rPr>
              <a:t>• Implement transformer-based NLP models for domain-specific knowledge extraction.</a:t>
            </a:r>
            <a:br>
              <a:rPr lang="en-US" sz="2400" dirty="0">
                <a:latin typeface="+mn-lt"/>
              </a:rPr>
            </a:br>
            <a:endParaRPr lang="en-US" sz="2400" dirty="0">
              <a:latin typeface="+mn-lt"/>
            </a:endParaRPr>
          </a:p>
        </p:txBody>
      </p:sp>
      <p:sp>
        <p:nvSpPr>
          <p:cNvPr id="3" name="Rectangle 2">
            <a:extLst>
              <a:ext uri="{FF2B5EF4-FFF2-40B4-BE49-F238E27FC236}">
                <a16:creationId xmlns:a16="http://schemas.microsoft.com/office/drawing/2014/main" id="{F1DC0D6B-EE11-7FDB-0F96-068A3491B119}"/>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IT22281982 | Adithya A.A.H</a:t>
            </a:r>
            <a:endParaRPr lang="en-US" dirty="0">
              <a:solidFill>
                <a:schemeClr val="tx1"/>
              </a:solidFill>
              <a:ea typeface="Cambria"/>
            </a:endParaRPr>
          </a:p>
        </p:txBody>
      </p:sp>
    </p:spTree>
    <p:extLst>
      <p:ext uri="{BB962C8B-B14F-4D97-AF65-F5344CB8AC3E}">
        <p14:creationId xmlns:p14="http://schemas.microsoft.com/office/powerpoint/2010/main" val="41771806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C5E71-F928-A6BB-1194-1079C6D6FCD0}"/>
              </a:ext>
            </a:extLst>
          </p:cNvPr>
          <p:cNvSpPr>
            <a:spLocks noGrp="1"/>
          </p:cNvSpPr>
          <p:nvPr>
            <p:ph type="ctrTitle"/>
          </p:nvPr>
        </p:nvSpPr>
        <p:spPr>
          <a:xfrm>
            <a:off x="914400" y="3915866"/>
            <a:ext cx="10363200" cy="1470025"/>
          </a:xfrm>
        </p:spPr>
        <p:txBody>
          <a:bodyPr>
            <a:noAutofit/>
          </a:bodyPr>
          <a:lstStyle/>
          <a:p>
            <a:pPr algn="l"/>
            <a:r>
              <a:rPr lang="en-US" sz="2800" b="1" dirty="0">
                <a:latin typeface="+mn-lt"/>
              </a:rPr>
              <a:t>Novelty</a:t>
            </a:r>
            <a:br>
              <a:rPr lang="en-US" sz="2800" dirty="0">
                <a:latin typeface="+mn-lt"/>
              </a:rPr>
            </a:br>
            <a:br>
              <a:rPr lang="en-US" sz="2800" dirty="0">
                <a:latin typeface="+mn-lt"/>
              </a:rPr>
            </a:br>
            <a:r>
              <a:rPr lang="en-US" sz="2800" dirty="0">
                <a:latin typeface="+mn-lt"/>
              </a:rPr>
              <a:t>Unlike traditional rule-based chatbots or purely generative models, this component introduces a hybrid intelligence layer that integrates:</a:t>
            </a:r>
            <a:br>
              <a:rPr lang="en-US" sz="2800" dirty="0">
                <a:latin typeface="+mn-lt"/>
              </a:rPr>
            </a:br>
            <a:br>
              <a:rPr lang="en-US" sz="2800" dirty="0">
                <a:latin typeface="+mn-lt"/>
              </a:rPr>
            </a:br>
            <a:r>
              <a:rPr lang="en-US" sz="2800" dirty="0">
                <a:latin typeface="+mn-lt"/>
              </a:rPr>
              <a:t>• </a:t>
            </a:r>
            <a:r>
              <a:rPr lang="en-US" sz="2800" b="1" dirty="0">
                <a:latin typeface="+mn-lt"/>
              </a:rPr>
              <a:t>Transformer-based language models</a:t>
            </a:r>
            <a:br>
              <a:rPr lang="en-US" sz="2800" b="1" dirty="0">
                <a:latin typeface="+mn-lt"/>
              </a:rPr>
            </a:br>
            <a:r>
              <a:rPr lang="en-US" sz="2800" b="1" dirty="0">
                <a:latin typeface="+mn-lt"/>
              </a:rPr>
              <a:t>• Vector-based semantic retrieval</a:t>
            </a:r>
            <a:br>
              <a:rPr lang="en-US" sz="2800" b="1" dirty="0">
                <a:latin typeface="+mn-lt"/>
              </a:rPr>
            </a:br>
            <a:r>
              <a:rPr lang="en-US" sz="2800" b="1" dirty="0">
                <a:latin typeface="+mn-lt"/>
              </a:rPr>
              <a:t>• Structured knowledge graphs</a:t>
            </a:r>
            <a:br>
              <a:rPr lang="en-US" sz="2800" b="1" dirty="0">
                <a:latin typeface="+mn-lt"/>
              </a:rPr>
            </a:br>
            <a:br>
              <a:rPr lang="en-US" sz="2800" dirty="0">
                <a:latin typeface="+mn-lt"/>
              </a:rPr>
            </a:br>
            <a:r>
              <a:rPr lang="en-US" sz="2800" dirty="0">
                <a:latin typeface="+mn-lt"/>
              </a:rPr>
              <a:t>This hybrid approach produces accurate, explainable, and verifiable dengue intelligence, bridging the gap between numerical outbreak predictions and human-interpretable health knowledge.</a:t>
            </a:r>
          </a:p>
        </p:txBody>
      </p:sp>
      <p:sp>
        <p:nvSpPr>
          <p:cNvPr id="3" name="Rectangle 2">
            <a:extLst>
              <a:ext uri="{FF2B5EF4-FFF2-40B4-BE49-F238E27FC236}">
                <a16:creationId xmlns:a16="http://schemas.microsoft.com/office/drawing/2014/main" id="{2FC7EBE1-6C17-C168-ACC5-ABD3104F0E2A}"/>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IT22281982 | Adithya A.A.H</a:t>
            </a:r>
            <a:endParaRPr lang="en-US" dirty="0">
              <a:solidFill>
                <a:schemeClr val="tx1"/>
              </a:solidFill>
              <a:ea typeface="Cambria"/>
            </a:endParaRPr>
          </a:p>
        </p:txBody>
      </p:sp>
    </p:spTree>
    <p:extLst>
      <p:ext uri="{BB962C8B-B14F-4D97-AF65-F5344CB8AC3E}">
        <p14:creationId xmlns:p14="http://schemas.microsoft.com/office/powerpoint/2010/main" val="4243172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884A0-6B51-C3E7-7C75-5F37FB792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5AD53-10E5-67DF-A54B-BCDED4BC0B5B}"/>
              </a:ext>
            </a:extLst>
          </p:cNvPr>
          <p:cNvSpPr>
            <a:spLocks noGrp="1"/>
          </p:cNvSpPr>
          <p:nvPr>
            <p:ph type="ctrTitle"/>
          </p:nvPr>
        </p:nvSpPr>
        <p:spPr>
          <a:xfrm>
            <a:off x="1002792" y="3429000"/>
            <a:ext cx="9988296" cy="2387600"/>
          </a:xfrm>
        </p:spPr>
        <p:txBody>
          <a:bodyPr>
            <a:noAutofit/>
          </a:bodyPr>
          <a:lstStyle/>
          <a:p>
            <a:pPr algn="l"/>
            <a:r>
              <a:rPr lang="en-US" sz="2800" b="1" dirty="0">
                <a:latin typeface="+mn-lt"/>
              </a:rPr>
              <a:t>Research Methodology</a:t>
            </a:r>
            <a:br>
              <a:rPr lang="en-US" sz="2000" b="1" dirty="0">
                <a:latin typeface="+mn-lt"/>
              </a:rPr>
            </a:br>
            <a:br>
              <a:rPr lang="en-US" sz="2000" b="1" dirty="0">
                <a:latin typeface="+mn-lt"/>
              </a:rPr>
            </a:br>
            <a:r>
              <a:rPr lang="en-US" sz="2000" b="1" dirty="0">
                <a:latin typeface="+mn-lt"/>
              </a:rPr>
              <a:t>Knowledge Base Construction</a:t>
            </a:r>
            <a:br>
              <a:rPr lang="en-US" sz="2000" dirty="0">
                <a:latin typeface="+mn-lt"/>
              </a:rPr>
            </a:br>
            <a:r>
              <a:rPr lang="en-US" sz="2000" dirty="0">
                <a:latin typeface="+mn-lt"/>
              </a:rPr>
              <a:t>Collect and curate dengue-related textual data from:</a:t>
            </a:r>
            <a:br>
              <a:rPr lang="en-US" sz="2000" dirty="0">
                <a:latin typeface="+mn-lt"/>
              </a:rPr>
            </a:br>
            <a:br>
              <a:rPr lang="en-US" sz="2000" dirty="0">
                <a:latin typeface="+mn-lt"/>
              </a:rPr>
            </a:br>
            <a:r>
              <a:rPr lang="en-US" sz="2000" b="1" dirty="0">
                <a:latin typeface="+mn-lt"/>
              </a:rPr>
              <a:t>• National health guidelines</a:t>
            </a:r>
            <a:br>
              <a:rPr lang="en-US" sz="2000" b="1" dirty="0">
                <a:latin typeface="+mn-lt"/>
              </a:rPr>
            </a:br>
            <a:r>
              <a:rPr lang="en-US" sz="2000" b="1" dirty="0">
                <a:latin typeface="+mn-lt"/>
              </a:rPr>
              <a:t>• Clinical research publications</a:t>
            </a:r>
            <a:br>
              <a:rPr lang="en-US" sz="2000" b="1" dirty="0">
                <a:latin typeface="+mn-lt"/>
              </a:rPr>
            </a:br>
            <a:r>
              <a:rPr lang="en-US" sz="2000" b="1" dirty="0">
                <a:latin typeface="+mn-lt"/>
              </a:rPr>
              <a:t>• Public health advisories</a:t>
            </a:r>
            <a:br>
              <a:rPr lang="en-US" sz="2000" b="1" dirty="0">
                <a:latin typeface="+mn-lt"/>
              </a:rPr>
            </a:br>
            <a:r>
              <a:rPr lang="en-US" sz="2000" b="1" dirty="0">
                <a:latin typeface="+mn-lt"/>
              </a:rPr>
              <a:t>• Local news reports</a:t>
            </a:r>
            <a:br>
              <a:rPr lang="en-US" sz="2000" dirty="0">
                <a:latin typeface="+mn-lt"/>
              </a:rPr>
            </a:br>
            <a:br>
              <a:rPr lang="en-US" sz="2000" dirty="0">
                <a:latin typeface="+mn-lt"/>
              </a:rPr>
            </a:br>
            <a:r>
              <a:rPr lang="en-US" sz="2000" b="1" dirty="0">
                <a:latin typeface="+mn-lt"/>
              </a:rPr>
              <a:t>Semantic Representation</a:t>
            </a:r>
            <a:br>
              <a:rPr lang="en-US" sz="2000" dirty="0">
                <a:latin typeface="+mn-lt"/>
              </a:rPr>
            </a:br>
            <a:r>
              <a:rPr lang="en-US" sz="2000" dirty="0">
                <a:latin typeface="+mn-lt"/>
              </a:rPr>
              <a:t>Convert textual knowledge into vector embeddings and store them in a vector database to support similarity-based retrieval.</a:t>
            </a:r>
            <a:br>
              <a:rPr lang="en-US" sz="2000" dirty="0">
                <a:latin typeface="+mn-lt"/>
              </a:rPr>
            </a:br>
            <a:br>
              <a:rPr lang="en-US" sz="2000" dirty="0">
                <a:latin typeface="+mn-lt"/>
              </a:rPr>
            </a:br>
            <a:r>
              <a:rPr lang="en-US" sz="2000" dirty="0">
                <a:latin typeface="+mn-lt"/>
              </a:rPr>
              <a:t>Vector Database Options:</a:t>
            </a:r>
            <a:br>
              <a:rPr lang="en-US" sz="2000" dirty="0">
                <a:latin typeface="+mn-lt"/>
              </a:rPr>
            </a:br>
            <a:br>
              <a:rPr lang="en-US" sz="2000" dirty="0">
                <a:latin typeface="+mn-lt"/>
              </a:rPr>
            </a:br>
            <a:r>
              <a:rPr lang="en-US" sz="2000" dirty="0">
                <a:latin typeface="+mn-lt"/>
              </a:rPr>
              <a:t>• </a:t>
            </a:r>
            <a:r>
              <a:rPr lang="en-US" sz="2000" dirty="0" err="1">
                <a:latin typeface="+mn-lt"/>
              </a:rPr>
              <a:t>ChromaDB</a:t>
            </a:r>
            <a:br>
              <a:rPr lang="en-US" sz="2000" dirty="0">
                <a:latin typeface="+mn-lt"/>
              </a:rPr>
            </a:br>
            <a:r>
              <a:rPr lang="en-US" sz="2000" dirty="0">
                <a:latin typeface="+mn-lt"/>
              </a:rPr>
              <a:t>• Pinecone</a:t>
            </a:r>
          </a:p>
        </p:txBody>
      </p:sp>
      <p:sp>
        <p:nvSpPr>
          <p:cNvPr id="3" name="Rectangle 2">
            <a:extLst>
              <a:ext uri="{FF2B5EF4-FFF2-40B4-BE49-F238E27FC236}">
                <a16:creationId xmlns:a16="http://schemas.microsoft.com/office/drawing/2014/main" id="{AD834894-4B3D-E6CB-842A-E85A0B4F3C3D}"/>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IT22281982 | Adithya A.A.H</a:t>
            </a:r>
            <a:endParaRPr lang="en-US" dirty="0">
              <a:solidFill>
                <a:schemeClr val="tx1"/>
              </a:solidFill>
              <a:ea typeface="Cambria"/>
            </a:endParaRPr>
          </a:p>
        </p:txBody>
      </p:sp>
    </p:spTree>
    <p:extLst>
      <p:ext uri="{BB962C8B-B14F-4D97-AF65-F5344CB8AC3E}">
        <p14:creationId xmlns:p14="http://schemas.microsoft.com/office/powerpoint/2010/main" val="34690524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19373-7A9B-6962-E0D2-98FD41E3F530}"/>
              </a:ext>
            </a:extLst>
          </p:cNvPr>
          <p:cNvSpPr>
            <a:spLocks noGrp="1"/>
          </p:cNvSpPr>
          <p:nvPr>
            <p:ph type="ctrTitle"/>
          </p:nvPr>
        </p:nvSpPr>
        <p:spPr>
          <a:xfrm>
            <a:off x="966216" y="2859723"/>
            <a:ext cx="9144000" cy="2387600"/>
          </a:xfrm>
        </p:spPr>
        <p:txBody>
          <a:bodyPr>
            <a:noAutofit/>
          </a:bodyPr>
          <a:lstStyle/>
          <a:p>
            <a:pPr algn="l"/>
            <a:r>
              <a:rPr lang="en-US" sz="2400" b="1" dirty="0">
                <a:latin typeface="+mn-lt"/>
              </a:rPr>
              <a:t>Knowledge Graph Development</a:t>
            </a:r>
            <a:br>
              <a:rPr lang="en-US" sz="2400" b="1" dirty="0">
                <a:latin typeface="+mn-lt"/>
              </a:rPr>
            </a:br>
            <a:br>
              <a:rPr lang="en-US" sz="2400" dirty="0">
                <a:latin typeface="+mn-lt"/>
              </a:rPr>
            </a:br>
            <a:r>
              <a:rPr lang="en-US" sz="2400" dirty="0">
                <a:latin typeface="+mn-lt"/>
              </a:rPr>
              <a:t>Design a Dengue Knowledge Graph using graph databases to represent relationships between:</a:t>
            </a:r>
            <a:br>
              <a:rPr lang="en-US" sz="2400" dirty="0">
                <a:latin typeface="+mn-lt"/>
              </a:rPr>
            </a:br>
            <a:br>
              <a:rPr lang="en-US" sz="2400" dirty="0">
                <a:latin typeface="+mn-lt"/>
              </a:rPr>
            </a:br>
            <a:r>
              <a:rPr lang="en-US" sz="2400" b="1" dirty="0">
                <a:latin typeface="+mn-lt"/>
              </a:rPr>
              <a:t>• Dengue symptoms</a:t>
            </a:r>
            <a:br>
              <a:rPr lang="en-US" sz="2400" b="1" dirty="0">
                <a:latin typeface="+mn-lt"/>
              </a:rPr>
            </a:br>
            <a:r>
              <a:rPr lang="en-US" sz="2400" b="1" dirty="0">
                <a:latin typeface="+mn-lt"/>
              </a:rPr>
              <a:t>• Mosquito breeding conditions</a:t>
            </a:r>
            <a:br>
              <a:rPr lang="en-US" sz="2400" b="1" dirty="0">
                <a:latin typeface="+mn-lt"/>
              </a:rPr>
            </a:br>
            <a:r>
              <a:rPr lang="en-US" sz="2400" b="1" dirty="0">
                <a:latin typeface="+mn-lt"/>
              </a:rPr>
              <a:t>• Environmental triggers</a:t>
            </a:r>
            <a:br>
              <a:rPr lang="en-US" sz="2400" b="1" dirty="0">
                <a:latin typeface="+mn-lt"/>
              </a:rPr>
            </a:br>
            <a:r>
              <a:rPr lang="en-US" sz="2400" b="1" dirty="0">
                <a:latin typeface="+mn-lt"/>
              </a:rPr>
              <a:t>• Geographic risk zones</a:t>
            </a:r>
            <a:br>
              <a:rPr lang="en-US" sz="2400" dirty="0">
                <a:latin typeface="+mn-lt"/>
              </a:rPr>
            </a:br>
            <a:br>
              <a:rPr lang="en-US" sz="2400" dirty="0">
                <a:latin typeface="+mn-lt"/>
              </a:rPr>
            </a:br>
            <a:r>
              <a:rPr lang="en-US" sz="2400" dirty="0">
                <a:latin typeface="+mn-lt"/>
              </a:rPr>
              <a:t>Graph database technology:</a:t>
            </a:r>
            <a:br>
              <a:rPr lang="en-US" sz="2400" dirty="0">
                <a:latin typeface="+mn-lt"/>
              </a:rPr>
            </a:br>
            <a:br>
              <a:rPr lang="en-US" sz="2400" dirty="0">
                <a:latin typeface="+mn-lt"/>
              </a:rPr>
            </a:br>
            <a:r>
              <a:rPr lang="en-US" sz="2400" dirty="0">
                <a:latin typeface="+mn-lt"/>
              </a:rPr>
              <a:t>• Neo4j</a:t>
            </a:r>
          </a:p>
        </p:txBody>
      </p:sp>
      <p:sp>
        <p:nvSpPr>
          <p:cNvPr id="3" name="Rectangle 2">
            <a:extLst>
              <a:ext uri="{FF2B5EF4-FFF2-40B4-BE49-F238E27FC236}">
                <a16:creationId xmlns:a16="http://schemas.microsoft.com/office/drawing/2014/main" id="{6451ABCD-32BF-CD12-CF10-0FBF74BE6DB0}"/>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IT22281982 | Adithya A.A.H</a:t>
            </a:r>
            <a:endParaRPr lang="en-US" dirty="0">
              <a:solidFill>
                <a:schemeClr val="tx1"/>
              </a:solidFill>
              <a:ea typeface="Cambria"/>
            </a:endParaRPr>
          </a:p>
        </p:txBody>
      </p:sp>
      <p:pic>
        <p:nvPicPr>
          <p:cNvPr id="5" name="Picture 4">
            <a:extLst>
              <a:ext uri="{FF2B5EF4-FFF2-40B4-BE49-F238E27FC236}">
                <a16:creationId xmlns:a16="http://schemas.microsoft.com/office/drawing/2014/main" id="{6592AF43-6EAE-D26B-564D-AFF94F1292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7714" y="3117273"/>
            <a:ext cx="4282172" cy="2752825"/>
          </a:xfrm>
          <a:prstGeom prst="rect">
            <a:avLst/>
          </a:prstGeom>
        </p:spPr>
      </p:pic>
    </p:spTree>
    <p:extLst>
      <p:ext uri="{BB962C8B-B14F-4D97-AF65-F5344CB8AC3E}">
        <p14:creationId xmlns:p14="http://schemas.microsoft.com/office/powerpoint/2010/main" val="1941512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87137-8719-6D98-745E-0FB882C5FAAC}"/>
              </a:ext>
            </a:extLst>
          </p:cNvPr>
          <p:cNvSpPr>
            <a:spLocks noGrp="1"/>
          </p:cNvSpPr>
          <p:nvPr>
            <p:ph type="ctrTitle"/>
          </p:nvPr>
        </p:nvSpPr>
        <p:spPr>
          <a:xfrm>
            <a:off x="685800" y="4112708"/>
            <a:ext cx="10363200" cy="1470025"/>
          </a:xfrm>
        </p:spPr>
        <p:txBody>
          <a:bodyPr>
            <a:noAutofit/>
          </a:bodyPr>
          <a:lstStyle/>
          <a:p>
            <a:pPr algn="l"/>
            <a:r>
              <a:rPr lang="en-US" sz="2400" b="1" dirty="0">
                <a:latin typeface="+mn-lt"/>
              </a:rPr>
              <a:t>Technologies, Validation &amp; Data</a:t>
            </a:r>
            <a:br>
              <a:rPr lang="en-US" sz="2400" b="1" dirty="0">
                <a:latin typeface="+mn-lt"/>
              </a:rPr>
            </a:br>
            <a:br>
              <a:rPr lang="en-US" sz="2400" dirty="0">
                <a:latin typeface="+mn-lt"/>
              </a:rPr>
            </a:br>
            <a:r>
              <a:rPr lang="en-US" sz="2400" b="1" dirty="0">
                <a:latin typeface="+mn-lt"/>
              </a:rPr>
              <a:t>Technologies Used</a:t>
            </a:r>
            <a:br>
              <a:rPr lang="en-US" sz="2400" dirty="0">
                <a:latin typeface="+mn-lt"/>
              </a:rPr>
            </a:br>
            <a:br>
              <a:rPr lang="en-US" sz="2400" dirty="0">
                <a:latin typeface="+mn-lt"/>
              </a:rPr>
            </a:br>
            <a:r>
              <a:rPr lang="en-US" sz="2400" b="1" dirty="0">
                <a:latin typeface="+mn-lt"/>
              </a:rPr>
              <a:t>Natural Language Processing</a:t>
            </a:r>
            <a:br>
              <a:rPr lang="en-US" sz="2400" dirty="0">
                <a:latin typeface="+mn-lt"/>
              </a:rPr>
            </a:br>
            <a:r>
              <a:rPr lang="en-US" sz="2400" dirty="0">
                <a:latin typeface="+mn-lt"/>
              </a:rPr>
              <a:t>• BERT</a:t>
            </a:r>
            <a:br>
              <a:rPr lang="en-US" sz="2400" dirty="0">
                <a:latin typeface="+mn-lt"/>
              </a:rPr>
            </a:br>
            <a:r>
              <a:rPr lang="en-US" sz="2400" dirty="0">
                <a:latin typeface="+mn-lt"/>
              </a:rPr>
              <a:t>• </a:t>
            </a:r>
            <a:r>
              <a:rPr lang="en-US" sz="2400" dirty="0" err="1">
                <a:latin typeface="+mn-lt"/>
              </a:rPr>
              <a:t>DistilBERT</a:t>
            </a:r>
            <a:br>
              <a:rPr lang="en-US" sz="2400" dirty="0">
                <a:latin typeface="+mn-lt"/>
              </a:rPr>
            </a:br>
            <a:r>
              <a:rPr lang="en-US" sz="2400" dirty="0">
                <a:latin typeface="+mn-lt"/>
              </a:rPr>
              <a:t>• GPT-based </a:t>
            </a:r>
            <a:r>
              <a:rPr lang="en-US" sz="2400" dirty="0" err="1">
                <a:latin typeface="+mn-lt"/>
              </a:rPr>
              <a:t>modelsa</a:t>
            </a:r>
            <a:br>
              <a:rPr lang="en-US" sz="2400" dirty="0">
                <a:latin typeface="+mn-lt"/>
              </a:rPr>
            </a:br>
            <a:br>
              <a:rPr lang="en-US" sz="2400" dirty="0">
                <a:latin typeface="+mn-lt"/>
              </a:rPr>
            </a:br>
            <a:r>
              <a:rPr lang="en-US" sz="2400" b="1" dirty="0">
                <a:latin typeface="+mn-lt"/>
              </a:rPr>
              <a:t>Knowledge Storage</a:t>
            </a:r>
            <a:br>
              <a:rPr lang="en-US" sz="2400" dirty="0">
                <a:latin typeface="+mn-lt"/>
              </a:rPr>
            </a:br>
            <a:r>
              <a:rPr lang="en-US" sz="2400" dirty="0">
                <a:latin typeface="+mn-lt"/>
              </a:rPr>
              <a:t>• Vector Database (</a:t>
            </a:r>
            <a:r>
              <a:rPr lang="en-US" sz="2400" dirty="0" err="1">
                <a:latin typeface="+mn-lt"/>
              </a:rPr>
              <a:t>ChromaDB</a:t>
            </a:r>
            <a:r>
              <a:rPr lang="en-US" sz="2400" dirty="0">
                <a:latin typeface="+mn-lt"/>
              </a:rPr>
              <a:t> / Pinecone)</a:t>
            </a:r>
            <a:br>
              <a:rPr lang="en-US" sz="2400" dirty="0">
                <a:latin typeface="+mn-lt"/>
              </a:rPr>
            </a:br>
            <a:r>
              <a:rPr lang="en-US" sz="2400" dirty="0">
                <a:latin typeface="+mn-lt"/>
              </a:rPr>
              <a:t>• Graph Database (Neo4j)</a:t>
            </a:r>
            <a:br>
              <a:rPr lang="en-US" sz="2400" dirty="0">
                <a:latin typeface="+mn-lt"/>
              </a:rPr>
            </a:br>
            <a:br>
              <a:rPr lang="en-US" sz="2400" dirty="0">
                <a:latin typeface="+mn-lt"/>
              </a:rPr>
            </a:br>
            <a:r>
              <a:rPr lang="en-US" sz="2400" b="1" dirty="0">
                <a:latin typeface="+mn-lt"/>
              </a:rPr>
              <a:t>NLP Processing</a:t>
            </a:r>
            <a:br>
              <a:rPr lang="en-US" sz="2400" dirty="0">
                <a:latin typeface="+mn-lt"/>
              </a:rPr>
            </a:br>
            <a:r>
              <a:rPr lang="en-US" sz="2400" dirty="0">
                <a:latin typeface="+mn-lt"/>
              </a:rPr>
              <a:t>• Python</a:t>
            </a:r>
            <a:br>
              <a:rPr lang="en-US" sz="2400" dirty="0">
                <a:latin typeface="+mn-lt"/>
              </a:rPr>
            </a:br>
            <a:r>
              <a:rPr lang="en-US" sz="2400" dirty="0">
                <a:latin typeface="+mn-lt"/>
              </a:rPr>
              <a:t>• </a:t>
            </a:r>
            <a:r>
              <a:rPr lang="en-US" sz="2400" dirty="0" err="1">
                <a:latin typeface="+mn-lt"/>
              </a:rPr>
              <a:t>HuggingFace</a:t>
            </a:r>
            <a:r>
              <a:rPr lang="en-US" sz="2400" dirty="0">
                <a:latin typeface="+mn-lt"/>
              </a:rPr>
              <a:t> Transformers</a:t>
            </a:r>
          </a:p>
        </p:txBody>
      </p:sp>
      <p:pic>
        <p:nvPicPr>
          <p:cNvPr id="4" name="Picture 3">
            <a:extLst>
              <a:ext uri="{FF2B5EF4-FFF2-40B4-BE49-F238E27FC236}">
                <a16:creationId xmlns:a16="http://schemas.microsoft.com/office/drawing/2014/main" id="{2C02421C-7271-4BC0-046C-2FC6A53A4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7073" y="2296182"/>
            <a:ext cx="1976131" cy="1976131"/>
          </a:xfrm>
          <a:prstGeom prst="rect">
            <a:avLst/>
          </a:prstGeom>
        </p:spPr>
      </p:pic>
      <p:sp>
        <p:nvSpPr>
          <p:cNvPr id="3" name="Rectangle 2">
            <a:extLst>
              <a:ext uri="{FF2B5EF4-FFF2-40B4-BE49-F238E27FC236}">
                <a16:creationId xmlns:a16="http://schemas.microsoft.com/office/drawing/2014/main" id="{CBC69C64-8CDF-E6CD-3367-BB9BE9CB0D48}"/>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IT22281982 | Adithya A.A.H</a:t>
            </a:r>
            <a:endParaRPr lang="en-US" dirty="0">
              <a:solidFill>
                <a:schemeClr val="tx1"/>
              </a:solidFill>
              <a:ea typeface="Cambria"/>
            </a:endParaRPr>
          </a:p>
        </p:txBody>
      </p:sp>
      <p:pic>
        <p:nvPicPr>
          <p:cNvPr id="6" name="Picture 5">
            <a:extLst>
              <a:ext uri="{FF2B5EF4-FFF2-40B4-BE49-F238E27FC236}">
                <a16:creationId xmlns:a16="http://schemas.microsoft.com/office/drawing/2014/main" id="{C6781C39-003A-3623-07DE-A0F14EBB4F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9343" y="2231123"/>
            <a:ext cx="3113314" cy="1307592"/>
          </a:xfrm>
          <a:prstGeom prst="rect">
            <a:avLst/>
          </a:prstGeom>
        </p:spPr>
      </p:pic>
      <p:pic>
        <p:nvPicPr>
          <p:cNvPr id="8" name="Picture 7">
            <a:extLst>
              <a:ext uri="{FF2B5EF4-FFF2-40B4-BE49-F238E27FC236}">
                <a16:creationId xmlns:a16="http://schemas.microsoft.com/office/drawing/2014/main" id="{90E0E1E0-C624-934C-4504-C8A2C3D149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78811" y="4272313"/>
            <a:ext cx="2311878" cy="1652926"/>
          </a:xfrm>
          <a:prstGeom prst="rect">
            <a:avLst/>
          </a:prstGeom>
        </p:spPr>
      </p:pic>
    </p:spTree>
    <p:extLst>
      <p:ext uri="{BB962C8B-B14F-4D97-AF65-F5344CB8AC3E}">
        <p14:creationId xmlns:p14="http://schemas.microsoft.com/office/powerpoint/2010/main" val="20119278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D5BA2-8F58-A91B-D1A7-38A7E6BC8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1313C6-0C16-2080-CAAB-DB5EADFC0C15}"/>
              </a:ext>
            </a:extLst>
          </p:cNvPr>
          <p:cNvSpPr>
            <a:spLocks noGrp="1"/>
          </p:cNvSpPr>
          <p:nvPr>
            <p:ph type="ctrTitle"/>
          </p:nvPr>
        </p:nvSpPr>
        <p:spPr>
          <a:xfrm>
            <a:off x="987552" y="4190874"/>
            <a:ext cx="10363200" cy="1470025"/>
          </a:xfrm>
        </p:spPr>
        <p:txBody>
          <a:bodyPr>
            <a:noAutofit/>
          </a:bodyPr>
          <a:lstStyle/>
          <a:p>
            <a:pPr algn="l"/>
            <a:r>
              <a:rPr lang="en-US" sz="2000" b="1" dirty="0">
                <a:latin typeface="+mn-lt"/>
              </a:rPr>
              <a:t>Retrieval-Augmented Generation (RAG)</a:t>
            </a:r>
            <a:br>
              <a:rPr lang="en-US" sz="2000" dirty="0">
                <a:latin typeface="+mn-lt"/>
              </a:rPr>
            </a:br>
            <a:br>
              <a:rPr lang="en-US" sz="2000" dirty="0">
                <a:latin typeface="+mn-lt"/>
              </a:rPr>
            </a:br>
            <a:r>
              <a:rPr lang="en-US" sz="2000" dirty="0">
                <a:latin typeface="+mn-lt"/>
              </a:rPr>
              <a:t>Implement RAG architecture that combines:</a:t>
            </a:r>
            <a:br>
              <a:rPr lang="en-US" sz="2000" dirty="0">
                <a:latin typeface="+mn-lt"/>
              </a:rPr>
            </a:br>
            <a:r>
              <a:rPr lang="en-US" sz="2000" b="1" dirty="0">
                <a:latin typeface="+mn-lt"/>
              </a:rPr>
              <a:t>• transformer language models</a:t>
            </a:r>
            <a:br>
              <a:rPr lang="en-US" sz="2000" b="1" dirty="0">
                <a:latin typeface="+mn-lt"/>
              </a:rPr>
            </a:br>
            <a:r>
              <a:rPr lang="en-US" sz="2000" b="1" dirty="0">
                <a:latin typeface="+mn-lt"/>
              </a:rPr>
              <a:t>• vector knowledge retrieval</a:t>
            </a:r>
            <a:br>
              <a:rPr lang="en-US" sz="2000" dirty="0">
                <a:latin typeface="+mn-lt"/>
              </a:rPr>
            </a:br>
            <a:br>
              <a:rPr lang="en-US" sz="2000" dirty="0">
                <a:latin typeface="+mn-lt"/>
              </a:rPr>
            </a:br>
            <a:r>
              <a:rPr lang="en-US" sz="2000" dirty="0">
                <a:latin typeface="+mn-lt"/>
              </a:rPr>
              <a:t>This ensures responses are grounded in verified dengue knowledge sources, reducing hallucinations and misinformation.</a:t>
            </a:r>
            <a:br>
              <a:rPr lang="en-US" sz="2000" dirty="0">
                <a:latin typeface="+mn-lt"/>
              </a:rPr>
            </a:br>
            <a:br>
              <a:rPr lang="en-US" sz="2000" dirty="0">
                <a:latin typeface="+mn-lt"/>
              </a:rPr>
            </a:br>
            <a:r>
              <a:rPr lang="en-US" sz="2000" b="1" dirty="0">
                <a:latin typeface="+mn-lt"/>
              </a:rPr>
              <a:t>Data Sources</a:t>
            </a:r>
            <a:br>
              <a:rPr lang="en-US" sz="2000" dirty="0">
                <a:latin typeface="+mn-lt"/>
              </a:rPr>
            </a:br>
            <a:r>
              <a:rPr lang="en-US" sz="2000" dirty="0">
                <a:latin typeface="+mn-lt"/>
              </a:rPr>
              <a:t>• National health guidelines</a:t>
            </a:r>
            <a:br>
              <a:rPr lang="en-US" sz="2000" dirty="0">
                <a:latin typeface="+mn-lt"/>
              </a:rPr>
            </a:br>
            <a:r>
              <a:rPr lang="en-US" sz="2000" dirty="0">
                <a:latin typeface="+mn-lt"/>
              </a:rPr>
              <a:t>• Dengue research articles</a:t>
            </a:r>
            <a:br>
              <a:rPr lang="en-US" sz="2000" dirty="0">
                <a:latin typeface="+mn-lt"/>
              </a:rPr>
            </a:br>
            <a:r>
              <a:rPr lang="en-US" sz="2000" dirty="0">
                <a:latin typeface="+mn-lt"/>
              </a:rPr>
              <a:t>• Public advisories</a:t>
            </a:r>
            <a:br>
              <a:rPr lang="en-US" sz="2000" dirty="0">
                <a:latin typeface="+mn-lt"/>
              </a:rPr>
            </a:br>
            <a:r>
              <a:rPr lang="en-US" sz="2000" dirty="0">
                <a:latin typeface="+mn-lt"/>
              </a:rPr>
              <a:t>• Local news sources related to dengue outbreaks</a:t>
            </a:r>
            <a:br>
              <a:rPr lang="en-US" sz="2000" dirty="0">
                <a:latin typeface="+mn-lt"/>
              </a:rPr>
            </a:br>
            <a:br>
              <a:rPr lang="en-US" sz="2000" dirty="0">
                <a:latin typeface="+mn-lt"/>
              </a:rPr>
            </a:br>
            <a:r>
              <a:rPr lang="en-US" sz="2000" b="1" dirty="0">
                <a:latin typeface="+mn-lt"/>
              </a:rPr>
              <a:t>Security &amp; Ethics</a:t>
            </a:r>
            <a:br>
              <a:rPr lang="en-US" sz="2000" dirty="0">
                <a:latin typeface="+mn-lt"/>
              </a:rPr>
            </a:br>
            <a:r>
              <a:rPr lang="en-US" sz="2000" dirty="0">
                <a:latin typeface="+mn-lt"/>
              </a:rPr>
              <a:t>• Use trusted public health sources</a:t>
            </a:r>
            <a:br>
              <a:rPr lang="en-US" sz="2000" dirty="0">
                <a:latin typeface="+mn-lt"/>
              </a:rPr>
            </a:br>
            <a:r>
              <a:rPr lang="en-US" sz="2000" dirty="0">
                <a:latin typeface="+mn-lt"/>
              </a:rPr>
              <a:t>• Prevent medical misinformation</a:t>
            </a:r>
            <a:br>
              <a:rPr lang="en-US" sz="2000" dirty="0">
                <a:latin typeface="+mn-lt"/>
              </a:rPr>
            </a:br>
            <a:r>
              <a:rPr lang="en-US" sz="2000" dirty="0">
                <a:latin typeface="+mn-lt"/>
              </a:rPr>
              <a:t>• Ensure responsible dissemination of health information.</a:t>
            </a:r>
          </a:p>
        </p:txBody>
      </p:sp>
      <p:sp>
        <p:nvSpPr>
          <p:cNvPr id="3" name="Rectangle 2">
            <a:extLst>
              <a:ext uri="{FF2B5EF4-FFF2-40B4-BE49-F238E27FC236}">
                <a16:creationId xmlns:a16="http://schemas.microsoft.com/office/drawing/2014/main" id="{A4AF785E-8FE2-9AF2-93D8-49995AAA4B5D}"/>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IT22281982 | Adithya A.A.H</a:t>
            </a:r>
            <a:endParaRPr lang="en-US" dirty="0">
              <a:solidFill>
                <a:schemeClr val="tx1"/>
              </a:solidFill>
              <a:ea typeface="Cambria"/>
            </a:endParaRPr>
          </a:p>
        </p:txBody>
      </p:sp>
    </p:spTree>
    <p:extLst>
      <p:ext uri="{BB962C8B-B14F-4D97-AF65-F5344CB8AC3E}">
        <p14:creationId xmlns:p14="http://schemas.microsoft.com/office/powerpoint/2010/main" val="4074654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65B8F-1BF5-B9AC-0EF4-C06EE2F1F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B01BA-C7ED-E595-64D2-25A9151077DC}"/>
              </a:ext>
            </a:extLst>
          </p:cNvPr>
          <p:cNvSpPr>
            <a:spLocks noGrp="1"/>
          </p:cNvSpPr>
          <p:nvPr>
            <p:ph type="ctrTitle"/>
          </p:nvPr>
        </p:nvSpPr>
        <p:spPr>
          <a:xfrm>
            <a:off x="914400" y="4341242"/>
            <a:ext cx="10363200" cy="1470025"/>
          </a:xfrm>
        </p:spPr>
        <p:txBody>
          <a:bodyPr>
            <a:normAutofit fontScale="90000"/>
          </a:bodyPr>
          <a:lstStyle/>
          <a:p>
            <a:pPr algn="l"/>
            <a:r>
              <a:rPr lang="en-US" sz="2000" b="1" dirty="0">
                <a:latin typeface="+mn-lt"/>
              </a:rPr>
              <a:t>Implementation Overview</a:t>
            </a:r>
            <a:br>
              <a:rPr lang="en-US" sz="2000" dirty="0">
                <a:latin typeface="+mn-lt"/>
              </a:rPr>
            </a:br>
            <a:r>
              <a:rPr lang="en-US" sz="2000" b="1" dirty="0">
                <a:latin typeface="+mn-lt"/>
              </a:rPr>
              <a:t>System Role</a:t>
            </a:r>
            <a:br>
              <a:rPr lang="en-US" sz="2000" dirty="0">
                <a:latin typeface="+mn-lt"/>
              </a:rPr>
            </a:br>
            <a:r>
              <a:rPr lang="en-US" sz="2000" dirty="0">
                <a:latin typeface="+mn-lt"/>
              </a:rPr>
              <a:t>The NLP component provides knowledge-based intelligence and automated insights that complement numerical outbreak predictions.</a:t>
            </a:r>
            <a:br>
              <a:rPr lang="en-US" sz="2000" dirty="0">
                <a:latin typeface="+mn-lt"/>
              </a:rPr>
            </a:br>
            <a:br>
              <a:rPr lang="en-US" sz="2000" b="1" dirty="0">
                <a:latin typeface="+mn-lt"/>
              </a:rPr>
            </a:br>
            <a:r>
              <a:rPr lang="en-US" sz="2000" b="1" dirty="0">
                <a:latin typeface="+mn-lt"/>
              </a:rPr>
              <a:t>Key Functionalities</a:t>
            </a:r>
            <a:br>
              <a:rPr lang="en-US" sz="2000" dirty="0">
                <a:latin typeface="+mn-lt"/>
              </a:rPr>
            </a:br>
            <a:br>
              <a:rPr lang="en-US" sz="2000" dirty="0">
                <a:latin typeface="+mn-lt"/>
              </a:rPr>
            </a:br>
            <a:r>
              <a:rPr lang="en-US" sz="2000" dirty="0">
                <a:latin typeface="+mn-lt"/>
              </a:rPr>
              <a:t>• Develop automated NLP pipelines to extract emerging dengue trends from news and public sources.</a:t>
            </a:r>
            <a:br>
              <a:rPr lang="en-US" sz="2000" dirty="0">
                <a:latin typeface="+mn-lt"/>
              </a:rPr>
            </a:br>
            <a:r>
              <a:rPr lang="en-US" sz="2000" dirty="0">
                <a:latin typeface="+mn-lt"/>
              </a:rPr>
              <a:t>• Update a surveillance knowledge database with extracted insights.</a:t>
            </a:r>
            <a:br>
              <a:rPr lang="en-US" sz="2000" dirty="0">
                <a:latin typeface="+mn-lt"/>
              </a:rPr>
            </a:br>
            <a:r>
              <a:rPr lang="en-US" sz="2000" dirty="0">
                <a:latin typeface="+mn-lt"/>
              </a:rPr>
              <a:t>• Perform cross-database synthesis by linking:</a:t>
            </a:r>
            <a:br>
              <a:rPr lang="en-US" sz="2000" dirty="0">
                <a:latin typeface="+mn-lt"/>
              </a:rPr>
            </a:br>
            <a:r>
              <a:rPr lang="en-US" sz="2000" dirty="0">
                <a:latin typeface="+mn-lt"/>
              </a:rPr>
              <a:t>- NLP-derived insights</a:t>
            </a:r>
            <a:br>
              <a:rPr lang="en-US" sz="2000" dirty="0">
                <a:latin typeface="+mn-lt"/>
              </a:rPr>
            </a:br>
            <a:r>
              <a:rPr lang="en-US" sz="2000" dirty="0">
                <a:latin typeface="+mn-lt"/>
              </a:rPr>
              <a:t>- Historical dengue case data</a:t>
            </a:r>
            <a:br>
              <a:rPr lang="en-US" sz="2000" dirty="0">
                <a:latin typeface="+mn-lt"/>
              </a:rPr>
            </a:br>
            <a:r>
              <a:rPr lang="en-US" sz="2000" dirty="0">
                <a:latin typeface="+mn-lt"/>
              </a:rPr>
              <a:t>- Climate data</a:t>
            </a:r>
            <a:br>
              <a:rPr lang="en-US" sz="2000" dirty="0">
                <a:latin typeface="+mn-lt"/>
              </a:rPr>
            </a:br>
            <a:br>
              <a:rPr lang="en-US" sz="2000" dirty="0">
                <a:latin typeface="+mn-lt"/>
              </a:rPr>
            </a:br>
            <a:r>
              <a:rPr lang="en-US" sz="2000" b="1" dirty="0">
                <a:latin typeface="+mn-lt"/>
              </a:rPr>
              <a:t>Output</a:t>
            </a:r>
            <a:br>
              <a:rPr lang="en-US" sz="2000" dirty="0">
                <a:latin typeface="+mn-lt"/>
              </a:rPr>
            </a:br>
            <a:br>
              <a:rPr lang="en-US" sz="2000" dirty="0">
                <a:latin typeface="+mn-lt"/>
              </a:rPr>
            </a:br>
            <a:r>
              <a:rPr lang="en-US" sz="2000" b="1" dirty="0">
                <a:latin typeface="+mn-lt"/>
              </a:rPr>
              <a:t>The system produces:</a:t>
            </a:r>
            <a:br>
              <a:rPr lang="en-US" sz="2000" dirty="0">
                <a:latin typeface="+mn-lt"/>
              </a:rPr>
            </a:br>
            <a:br>
              <a:rPr lang="en-US" sz="2000" dirty="0">
                <a:latin typeface="+mn-lt"/>
              </a:rPr>
            </a:br>
            <a:r>
              <a:rPr lang="en-US" sz="2000" dirty="0">
                <a:latin typeface="+mn-lt"/>
              </a:rPr>
              <a:t>• Evidence-based dengue intelligence</a:t>
            </a:r>
            <a:br>
              <a:rPr lang="en-US" sz="2000" dirty="0">
                <a:latin typeface="+mn-lt"/>
              </a:rPr>
            </a:br>
            <a:r>
              <a:rPr lang="en-US" sz="2000" dirty="0">
                <a:latin typeface="+mn-lt"/>
              </a:rPr>
              <a:t>• Automated surveillance reports</a:t>
            </a:r>
            <a:br>
              <a:rPr lang="en-US" sz="2000" dirty="0">
                <a:latin typeface="+mn-lt"/>
              </a:rPr>
            </a:br>
            <a:r>
              <a:rPr lang="en-US" sz="2000" dirty="0">
                <a:latin typeface="+mn-lt"/>
              </a:rPr>
              <a:t>• Structured health bulletins and situational reports</a:t>
            </a:r>
          </a:p>
        </p:txBody>
      </p:sp>
      <p:sp>
        <p:nvSpPr>
          <p:cNvPr id="3" name="Rectangle 2">
            <a:extLst>
              <a:ext uri="{FF2B5EF4-FFF2-40B4-BE49-F238E27FC236}">
                <a16:creationId xmlns:a16="http://schemas.microsoft.com/office/drawing/2014/main" id="{02D70AC0-E263-D612-1A74-20C916190693}"/>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IT22281982 | Adithya A.A.H</a:t>
            </a:r>
            <a:endParaRPr lang="en-US" dirty="0">
              <a:solidFill>
                <a:schemeClr val="tx1"/>
              </a:solidFill>
              <a:ea typeface="Cambria"/>
            </a:endParaRPr>
          </a:p>
        </p:txBody>
      </p:sp>
      <p:pic>
        <p:nvPicPr>
          <p:cNvPr id="5" name="Picture 4">
            <a:extLst>
              <a:ext uri="{FF2B5EF4-FFF2-40B4-BE49-F238E27FC236}">
                <a16:creationId xmlns:a16="http://schemas.microsoft.com/office/drawing/2014/main" id="{A466C321-8755-C807-EE21-65578B5D86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3175" y="3429000"/>
            <a:ext cx="4257085" cy="2196656"/>
          </a:xfrm>
          <a:prstGeom prst="rect">
            <a:avLst/>
          </a:prstGeom>
        </p:spPr>
      </p:pic>
    </p:spTree>
    <p:extLst>
      <p:ext uri="{BB962C8B-B14F-4D97-AF65-F5344CB8AC3E}">
        <p14:creationId xmlns:p14="http://schemas.microsoft.com/office/powerpoint/2010/main" val="35313436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75C64-1DCB-32FA-A68F-8B873612F4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924E3-723A-8CD2-BE30-4D4C3A29D59F}"/>
              </a:ext>
            </a:extLst>
          </p:cNvPr>
          <p:cNvSpPr>
            <a:spLocks noGrp="1"/>
          </p:cNvSpPr>
          <p:nvPr>
            <p:ph type="ctrTitle"/>
          </p:nvPr>
        </p:nvSpPr>
        <p:spPr>
          <a:xfrm>
            <a:off x="4258056" y="0"/>
            <a:ext cx="3675888" cy="626619"/>
          </a:xfrm>
        </p:spPr>
        <p:txBody>
          <a:bodyPr>
            <a:normAutofit/>
          </a:bodyPr>
          <a:lstStyle/>
          <a:p>
            <a:pPr algn="l"/>
            <a:r>
              <a:rPr lang="en-US" sz="3200" b="1" dirty="0">
                <a:latin typeface="+mn-lt"/>
              </a:rPr>
              <a:t>System Overview </a:t>
            </a:r>
          </a:p>
        </p:txBody>
      </p:sp>
      <p:sp>
        <p:nvSpPr>
          <p:cNvPr id="3" name="Rectangle 2">
            <a:extLst>
              <a:ext uri="{FF2B5EF4-FFF2-40B4-BE49-F238E27FC236}">
                <a16:creationId xmlns:a16="http://schemas.microsoft.com/office/drawing/2014/main" id="{8181FDF2-E00C-7986-8854-6FE0D1615DE5}"/>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IT22281982 | Adithya A.A.H</a:t>
            </a:r>
            <a:endParaRPr lang="en-US" dirty="0">
              <a:solidFill>
                <a:schemeClr val="tx1"/>
              </a:solidFill>
              <a:ea typeface="Cambria"/>
            </a:endParaRPr>
          </a:p>
        </p:txBody>
      </p:sp>
      <p:pic>
        <p:nvPicPr>
          <p:cNvPr id="6" name="Picture 5">
            <a:extLst>
              <a:ext uri="{FF2B5EF4-FFF2-40B4-BE49-F238E27FC236}">
                <a16:creationId xmlns:a16="http://schemas.microsoft.com/office/drawing/2014/main" id="{A299DFD9-F6DA-9FB9-523B-80047AA6653C}"/>
              </a:ext>
            </a:extLst>
          </p:cNvPr>
          <p:cNvPicPr>
            <a:picLocks noChangeAspect="1"/>
          </p:cNvPicPr>
          <p:nvPr/>
        </p:nvPicPr>
        <p:blipFill>
          <a:blip r:embed="rId2">
            <a:extLst>
              <a:ext uri="{28A0092B-C50C-407E-A947-70E740481C1C}">
                <a14:useLocalDpi xmlns:a14="http://schemas.microsoft.com/office/drawing/2010/main" val="0"/>
              </a:ext>
            </a:extLst>
          </a:blip>
          <a:srcRect l="1673" t="14667" r="1437" b="18934"/>
          <a:stretch>
            <a:fillRect/>
          </a:stretch>
        </p:blipFill>
        <p:spPr>
          <a:xfrm>
            <a:off x="562135" y="900684"/>
            <a:ext cx="11067729" cy="5056632"/>
          </a:xfrm>
          <a:prstGeom prst="rect">
            <a:avLst/>
          </a:prstGeom>
        </p:spPr>
      </p:pic>
    </p:spTree>
    <p:extLst>
      <p:ext uri="{BB962C8B-B14F-4D97-AF65-F5344CB8AC3E}">
        <p14:creationId xmlns:p14="http://schemas.microsoft.com/office/powerpoint/2010/main" val="29761712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87AAA-1685-E293-8243-D2D3F3D3B1DB}"/>
              </a:ext>
            </a:extLst>
          </p:cNvPr>
          <p:cNvSpPr>
            <a:spLocks noGrp="1"/>
          </p:cNvSpPr>
          <p:nvPr>
            <p:ph type="ctrTitle"/>
          </p:nvPr>
        </p:nvSpPr>
        <p:spPr/>
        <p:txBody>
          <a:bodyPr>
            <a:normAutofit/>
          </a:bodyPr>
          <a:lstStyle/>
          <a:p>
            <a:pPr algn="l"/>
            <a:r>
              <a:rPr lang="en-US" sz="2400" b="1" dirty="0">
                <a:latin typeface="+mn-lt"/>
              </a:rPr>
              <a:t>IT22214034 | </a:t>
            </a:r>
            <a:r>
              <a:rPr lang="en-US" sz="2400" b="1" dirty="0" err="1">
                <a:latin typeface="+mn-lt"/>
              </a:rPr>
              <a:t>Keenavinna</a:t>
            </a:r>
            <a:r>
              <a:rPr lang="en-US" sz="2400" b="1" dirty="0">
                <a:latin typeface="+mn-lt"/>
              </a:rPr>
              <a:t> K.A.I.U</a:t>
            </a:r>
            <a:br>
              <a:rPr lang="en-US" sz="2400" b="1" dirty="0">
                <a:latin typeface="+mn-lt"/>
              </a:rPr>
            </a:br>
            <a:r>
              <a:rPr lang="en-US" sz="2400" b="1" dirty="0">
                <a:latin typeface="+mn-lt"/>
              </a:rPr>
              <a:t>Machine Learning–Based Dengue Outbreak Prediction</a:t>
            </a:r>
          </a:p>
        </p:txBody>
      </p:sp>
      <p:pic>
        <p:nvPicPr>
          <p:cNvPr id="7" name="Picture 6">
            <a:extLst>
              <a:ext uri="{FF2B5EF4-FFF2-40B4-BE49-F238E27FC236}">
                <a16:creationId xmlns:a16="http://schemas.microsoft.com/office/drawing/2014/main" id="{DA5E7197-4B86-806A-E401-0D5A68ED07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8560" y="67947"/>
            <a:ext cx="2001520" cy="2177413"/>
          </a:xfrm>
          <a:prstGeom prst="rect">
            <a:avLst/>
          </a:prstGeom>
        </p:spPr>
      </p:pic>
      <p:sp>
        <p:nvSpPr>
          <p:cNvPr id="3" name="Rectangle 2">
            <a:extLst>
              <a:ext uri="{FF2B5EF4-FFF2-40B4-BE49-F238E27FC236}">
                <a16:creationId xmlns:a16="http://schemas.microsoft.com/office/drawing/2014/main" id="{8C287026-FA82-684C-5F69-F774FA017185}"/>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IT22214034 | </a:t>
            </a:r>
            <a:r>
              <a:rPr lang="en-US" dirty="0" err="1">
                <a:solidFill>
                  <a:schemeClr val="tx1"/>
                </a:solidFill>
              </a:rPr>
              <a:t>Keenavinna</a:t>
            </a:r>
            <a:r>
              <a:rPr lang="en-US" dirty="0">
                <a:solidFill>
                  <a:schemeClr val="tx1"/>
                </a:solidFill>
              </a:rPr>
              <a:t> K.A.I.U</a:t>
            </a:r>
            <a:endParaRPr lang="en-US" dirty="0">
              <a:solidFill>
                <a:schemeClr val="tx1"/>
              </a:solidFill>
              <a:ea typeface="Cambria"/>
            </a:endParaRPr>
          </a:p>
        </p:txBody>
      </p:sp>
    </p:spTree>
    <p:extLst>
      <p:ext uri="{BB962C8B-B14F-4D97-AF65-F5344CB8AC3E}">
        <p14:creationId xmlns:p14="http://schemas.microsoft.com/office/powerpoint/2010/main" val="4025457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2285D-FA60-832C-E9BF-762B5E29CC0D}"/>
              </a:ext>
            </a:extLst>
          </p:cNvPr>
          <p:cNvSpPr>
            <a:spLocks noGrp="1"/>
          </p:cNvSpPr>
          <p:nvPr>
            <p:ph type="ctrTitle"/>
          </p:nvPr>
        </p:nvSpPr>
        <p:spPr>
          <a:xfrm>
            <a:off x="1057656" y="1570419"/>
            <a:ext cx="9144000" cy="2387600"/>
          </a:xfrm>
        </p:spPr>
        <p:txBody>
          <a:bodyPr>
            <a:noAutofit/>
          </a:bodyPr>
          <a:lstStyle/>
          <a:p>
            <a:pPr algn="l"/>
            <a:r>
              <a:rPr lang="en-US" sz="2800" b="1" dirty="0">
                <a:latin typeface="+mn-lt"/>
              </a:rPr>
              <a:t>Problem Definition</a:t>
            </a:r>
            <a:br>
              <a:rPr lang="en-US" sz="2400" b="1" dirty="0">
                <a:latin typeface="+mn-lt"/>
              </a:rPr>
            </a:br>
            <a:br>
              <a:rPr lang="en-US" sz="2400" b="1" dirty="0">
                <a:latin typeface="+mn-lt"/>
              </a:rPr>
            </a:br>
            <a:r>
              <a:rPr lang="en-US" sz="2400" dirty="0">
                <a:latin typeface="+mn-lt"/>
              </a:rPr>
              <a:t>Accurate dengue outbreak prediction requires models that can capture </a:t>
            </a:r>
            <a:r>
              <a:rPr lang="en-US" sz="2400" b="1" dirty="0">
                <a:latin typeface="+mn-lt"/>
              </a:rPr>
              <a:t>complex temporal relationships between climate variables and dengue case patterns.</a:t>
            </a:r>
            <a:br>
              <a:rPr lang="en-US" sz="2400" b="1" dirty="0">
                <a:latin typeface="+mn-lt"/>
              </a:rPr>
            </a:br>
            <a:br>
              <a:rPr lang="en-US" sz="2400" dirty="0">
                <a:latin typeface="+mn-lt"/>
              </a:rPr>
            </a:br>
            <a:r>
              <a:rPr lang="en-US" sz="2400" dirty="0">
                <a:latin typeface="+mn-lt"/>
              </a:rPr>
              <a:t>However, many existing dengue prediction studies rely on </a:t>
            </a:r>
            <a:r>
              <a:rPr lang="en-US" sz="2400" b="1" dirty="0">
                <a:latin typeface="+mn-lt"/>
              </a:rPr>
              <a:t>single algorithms or national-level datasets</a:t>
            </a:r>
            <a:r>
              <a:rPr lang="en-US" sz="2400" dirty="0">
                <a:latin typeface="+mn-lt"/>
              </a:rPr>
              <a:t>, which may not effectively represent localized outbreak dynamics.</a:t>
            </a:r>
          </a:p>
        </p:txBody>
      </p:sp>
      <p:sp>
        <p:nvSpPr>
          <p:cNvPr id="6" name="Rectangle 5">
            <a:extLst>
              <a:ext uri="{FF2B5EF4-FFF2-40B4-BE49-F238E27FC236}">
                <a16:creationId xmlns:a16="http://schemas.microsoft.com/office/drawing/2014/main" id="{BB2F5A1C-7344-AE33-BC33-B895E4DE16C8}"/>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IT22214034 | </a:t>
            </a:r>
            <a:r>
              <a:rPr lang="en-US" dirty="0" err="1">
                <a:solidFill>
                  <a:schemeClr val="tx1"/>
                </a:solidFill>
              </a:rPr>
              <a:t>Keenavinna</a:t>
            </a:r>
            <a:r>
              <a:rPr lang="en-US" dirty="0">
                <a:solidFill>
                  <a:schemeClr val="tx1"/>
                </a:solidFill>
              </a:rPr>
              <a:t> K.A.I.U</a:t>
            </a:r>
            <a:endParaRPr lang="en-US" dirty="0">
              <a:solidFill>
                <a:schemeClr val="tx1"/>
              </a:solidFill>
              <a:ea typeface="Cambria"/>
            </a:endParaRPr>
          </a:p>
        </p:txBody>
      </p:sp>
      <p:pic>
        <p:nvPicPr>
          <p:cNvPr id="8" name="Picture 7">
            <a:extLst>
              <a:ext uri="{FF2B5EF4-FFF2-40B4-BE49-F238E27FC236}">
                <a16:creationId xmlns:a16="http://schemas.microsoft.com/office/drawing/2014/main" id="{73B4351E-B670-A4DE-D4FC-6521645A15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4764" y="3958019"/>
            <a:ext cx="3139580" cy="2168157"/>
          </a:xfrm>
          <a:prstGeom prst="rect">
            <a:avLst/>
          </a:prstGeom>
        </p:spPr>
      </p:pic>
    </p:spTree>
    <p:extLst>
      <p:ext uri="{BB962C8B-B14F-4D97-AF65-F5344CB8AC3E}">
        <p14:creationId xmlns:p14="http://schemas.microsoft.com/office/powerpoint/2010/main" val="281275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02B25-07D8-E83E-0141-9D8F83A012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0538F-9757-CFDF-D727-9DCE61E7E79F}"/>
              </a:ext>
            </a:extLst>
          </p:cNvPr>
          <p:cNvSpPr>
            <a:spLocks noGrp="1"/>
          </p:cNvSpPr>
          <p:nvPr>
            <p:ph type="ctrTitle"/>
          </p:nvPr>
        </p:nvSpPr>
        <p:spPr>
          <a:xfrm>
            <a:off x="883920" y="3234627"/>
            <a:ext cx="10207752" cy="2387600"/>
          </a:xfrm>
        </p:spPr>
        <p:txBody>
          <a:bodyPr>
            <a:noAutofit/>
          </a:bodyPr>
          <a:lstStyle/>
          <a:p>
            <a:pPr algn="l"/>
            <a:r>
              <a:rPr lang="en-US" sz="2000" b="1" dirty="0">
                <a:latin typeface="+mn-lt"/>
              </a:rPr>
              <a:t>R</a:t>
            </a:r>
            <a:r>
              <a:rPr lang="en-US" sz="2400" b="1" dirty="0">
                <a:latin typeface="+mn-lt"/>
              </a:rPr>
              <a:t>esearch Objective</a:t>
            </a:r>
            <a:br>
              <a:rPr lang="en-US" sz="2000" dirty="0">
                <a:latin typeface="+mn-lt"/>
              </a:rPr>
            </a:br>
            <a:br>
              <a:rPr lang="en-US" sz="2000" dirty="0">
                <a:latin typeface="+mn-lt"/>
              </a:rPr>
            </a:br>
            <a:r>
              <a:rPr lang="en-US" sz="2000" dirty="0">
                <a:latin typeface="+mn-lt"/>
              </a:rPr>
              <a:t>To develop, evaluate, and optimize machine learning models capable of predicting dengue outbreak risk levels and outbreak probabilities in advance using historical dengue surveillance and climate data from Colombo District.</a:t>
            </a:r>
            <a:br>
              <a:rPr lang="en-US" sz="2000" dirty="0">
                <a:latin typeface="+mn-lt"/>
              </a:rPr>
            </a:br>
            <a:br>
              <a:rPr lang="en-US" sz="2000" dirty="0">
                <a:latin typeface="+mn-lt"/>
              </a:rPr>
            </a:br>
            <a:r>
              <a:rPr lang="en-US" sz="2400" b="1" dirty="0">
                <a:latin typeface="+mn-lt"/>
              </a:rPr>
              <a:t>Sub-Objectives</a:t>
            </a:r>
            <a:br>
              <a:rPr lang="en-US" sz="2000" dirty="0">
                <a:latin typeface="+mn-lt"/>
              </a:rPr>
            </a:br>
            <a:br>
              <a:rPr lang="en-US" sz="2000" dirty="0">
                <a:latin typeface="+mn-lt"/>
              </a:rPr>
            </a:br>
            <a:r>
              <a:rPr lang="en-US" sz="2000" dirty="0">
                <a:latin typeface="+mn-lt"/>
              </a:rPr>
              <a:t>• Formulate dengue outbreak prediction as both</a:t>
            </a:r>
            <a:br>
              <a:rPr lang="en-US" sz="2000" dirty="0">
                <a:latin typeface="+mn-lt"/>
              </a:rPr>
            </a:br>
            <a:br>
              <a:rPr lang="en-US" sz="2000" b="1" dirty="0">
                <a:latin typeface="+mn-lt"/>
              </a:rPr>
            </a:br>
            <a:r>
              <a:rPr lang="en-US" sz="2000" b="1" dirty="0">
                <a:latin typeface="+mn-lt"/>
              </a:rPr>
              <a:t>           - A time-based classification problem (Low / Medium / High risk)</a:t>
            </a:r>
            <a:br>
              <a:rPr lang="en-US" sz="2000" b="1" dirty="0">
                <a:latin typeface="+mn-lt"/>
              </a:rPr>
            </a:br>
            <a:br>
              <a:rPr lang="en-US" sz="2000" b="1" dirty="0">
                <a:latin typeface="+mn-lt"/>
              </a:rPr>
            </a:br>
            <a:r>
              <a:rPr lang="en-US" sz="2000" b="1" dirty="0">
                <a:latin typeface="+mn-lt"/>
              </a:rPr>
              <a:t>           - A probabilistic forecasting task for outbreak likelihood.</a:t>
            </a:r>
            <a:br>
              <a:rPr lang="en-US" sz="2000" dirty="0">
                <a:latin typeface="+mn-lt"/>
              </a:rPr>
            </a:br>
            <a:br>
              <a:rPr lang="en-US" sz="2000" dirty="0">
                <a:latin typeface="+mn-lt"/>
              </a:rPr>
            </a:br>
            <a:r>
              <a:rPr lang="en-US" sz="2000" dirty="0">
                <a:latin typeface="+mn-lt"/>
              </a:rPr>
              <a:t>• Analyze temporal dengue patterns and seasonality.</a:t>
            </a:r>
            <a:br>
              <a:rPr lang="en-US" sz="2000" dirty="0">
                <a:latin typeface="+mn-lt"/>
              </a:rPr>
            </a:br>
            <a:br>
              <a:rPr lang="en-US" sz="2000" dirty="0">
                <a:latin typeface="+mn-lt"/>
              </a:rPr>
            </a:br>
            <a:r>
              <a:rPr lang="en-US" sz="2000" dirty="0">
                <a:latin typeface="+mn-lt"/>
              </a:rPr>
              <a:t>• Train and compare multiple machine learning and deep learning models.</a:t>
            </a:r>
          </a:p>
        </p:txBody>
      </p:sp>
      <p:sp>
        <p:nvSpPr>
          <p:cNvPr id="3" name="Rectangle 2">
            <a:extLst>
              <a:ext uri="{FF2B5EF4-FFF2-40B4-BE49-F238E27FC236}">
                <a16:creationId xmlns:a16="http://schemas.microsoft.com/office/drawing/2014/main" id="{461D352A-46F3-F6E3-ADCB-6AF11B513691}"/>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IT22214034 | </a:t>
            </a:r>
            <a:r>
              <a:rPr lang="en-US" dirty="0" err="1">
                <a:solidFill>
                  <a:schemeClr val="tx1"/>
                </a:solidFill>
              </a:rPr>
              <a:t>Keenavinna</a:t>
            </a:r>
            <a:r>
              <a:rPr lang="en-US" dirty="0">
                <a:solidFill>
                  <a:schemeClr val="tx1"/>
                </a:solidFill>
              </a:rPr>
              <a:t> K.A.I.U</a:t>
            </a:r>
            <a:endParaRPr lang="en-US" dirty="0">
              <a:solidFill>
                <a:schemeClr val="tx1"/>
              </a:solidFill>
              <a:ea typeface="Cambria"/>
            </a:endParaRPr>
          </a:p>
        </p:txBody>
      </p:sp>
      <p:pic>
        <p:nvPicPr>
          <p:cNvPr id="5" name="Picture 4">
            <a:extLst>
              <a:ext uri="{FF2B5EF4-FFF2-40B4-BE49-F238E27FC236}">
                <a16:creationId xmlns:a16="http://schemas.microsoft.com/office/drawing/2014/main" id="{4E0427F3-BB53-BA05-CCC9-DDA22DBCDCE7}"/>
              </a:ext>
            </a:extLst>
          </p:cNvPr>
          <p:cNvPicPr>
            <a:picLocks noChangeAspect="1"/>
          </p:cNvPicPr>
          <p:nvPr/>
        </p:nvPicPr>
        <p:blipFill>
          <a:blip r:embed="rId2" cstate="print">
            <a:extLst>
              <a:ext uri="{28A0092B-C50C-407E-A947-70E740481C1C}">
                <a14:useLocalDpi xmlns:a14="http://schemas.microsoft.com/office/drawing/2010/main" val="0"/>
              </a:ext>
            </a:extLst>
          </a:blip>
          <a:srcRect t="32000" r="16222" b="14000"/>
          <a:stretch>
            <a:fillRect/>
          </a:stretch>
        </p:blipFill>
        <p:spPr>
          <a:xfrm>
            <a:off x="9022080" y="2697480"/>
            <a:ext cx="3038856" cy="1958732"/>
          </a:xfrm>
          <a:prstGeom prst="rect">
            <a:avLst/>
          </a:prstGeom>
        </p:spPr>
      </p:pic>
    </p:spTree>
    <p:extLst>
      <p:ext uri="{BB962C8B-B14F-4D97-AF65-F5344CB8AC3E}">
        <p14:creationId xmlns:p14="http://schemas.microsoft.com/office/powerpoint/2010/main" val="1782879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6BDC9-087D-F94C-0F0A-1EEBF8FC4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62626-A74E-2111-D994-E28840A5B82D}"/>
              </a:ext>
            </a:extLst>
          </p:cNvPr>
          <p:cNvSpPr>
            <a:spLocks noGrp="1"/>
          </p:cNvSpPr>
          <p:nvPr>
            <p:ph type="ctrTitle"/>
          </p:nvPr>
        </p:nvSpPr>
        <p:spPr>
          <a:xfrm>
            <a:off x="1030224" y="2914587"/>
            <a:ext cx="10445496" cy="2387600"/>
          </a:xfrm>
        </p:spPr>
        <p:txBody>
          <a:bodyPr>
            <a:noAutofit/>
          </a:bodyPr>
          <a:lstStyle/>
          <a:p>
            <a:pPr algn="l"/>
            <a:r>
              <a:rPr lang="en-US" sz="2800" b="1" dirty="0"/>
              <a:t>Novelty</a:t>
            </a:r>
            <a:br>
              <a:rPr lang="en-US" sz="2000" dirty="0"/>
            </a:br>
            <a:br>
              <a:rPr lang="en-US" sz="2000" dirty="0"/>
            </a:br>
            <a:r>
              <a:rPr lang="en-US" sz="2000" dirty="0"/>
              <a:t>This component isolates and studies the temporal outbreak prediction problem, focusing on when dengue risk will increase rather than combining </a:t>
            </a:r>
            <a:r>
              <a:rPr lang="en-US" sz="2000" b="1" dirty="0"/>
              <a:t>spatial and temporal modeling simultaneously</a:t>
            </a:r>
            <a:r>
              <a:rPr lang="en-US" sz="2000" dirty="0"/>
              <a:t>.</a:t>
            </a:r>
            <a:br>
              <a:rPr lang="en-US" sz="2000" dirty="0"/>
            </a:br>
            <a:br>
              <a:rPr lang="en-US" sz="2000" dirty="0"/>
            </a:br>
            <a:r>
              <a:rPr lang="en-US" sz="2000" dirty="0"/>
              <a:t>It conducts a structured comparison </a:t>
            </a:r>
            <a:r>
              <a:rPr lang="en-US" sz="2000" b="1" dirty="0"/>
              <a:t>between classical machine learning models and deep learning time-series models </a:t>
            </a:r>
            <a:r>
              <a:rPr lang="en-US" sz="2000" dirty="0"/>
              <a:t>using localized Sri Lankan data, providing a robust early warning mechanism for dengue outbreaks.</a:t>
            </a:r>
            <a:br>
              <a:rPr lang="en-US" sz="2000" dirty="0"/>
            </a:br>
            <a:br>
              <a:rPr lang="en-US" sz="2000" dirty="0"/>
            </a:br>
            <a:r>
              <a:rPr lang="en-US" sz="2000" dirty="0"/>
              <a:t>This component isolates and studies the temporal outbreak prediction problem, focusing on when dengue risk will increase rather than combining spatial and temporal modeling simultaneously.</a:t>
            </a:r>
            <a:br>
              <a:rPr lang="en-US" sz="2000" dirty="0"/>
            </a:br>
            <a:br>
              <a:rPr lang="en-US" sz="2000" dirty="0"/>
            </a:br>
            <a:r>
              <a:rPr lang="en-US" sz="2000" dirty="0"/>
              <a:t>It conducts a structured comparison between classical machine learning models and deep learning time-series models using localized Sri Lankan data, providing a robust early warning mechanism for dengue outbreaks.</a:t>
            </a:r>
          </a:p>
        </p:txBody>
      </p:sp>
      <p:sp>
        <p:nvSpPr>
          <p:cNvPr id="3" name="Rectangle 2">
            <a:extLst>
              <a:ext uri="{FF2B5EF4-FFF2-40B4-BE49-F238E27FC236}">
                <a16:creationId xmlns:a16="http://schemas.microsoft.com/office/drawing/2014/main" id="{04E0D7FB-9E39-A0D7-967B-107DB67A737B}"/>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IT22214034 | </a:t>
            </a:r>
            <a:r>
              <a:rPr lang="en-US" dirty="0" err="1">
                <a:solidFill>
                  <a:schemeClr val="tx1"/>
                </a:solidFill>
              </a:rPr>
              <a:t>Keenavinna</a:t>
            </a:r>
            <a:r>
              <a:rPr lang="en-US" dirty="0">
                <a:solidFill>
                  <a:schemeClr val="tx1"/>
                </a:solidFill>
              </a:rPr>
              <a:t> K.A.I.U</a:t>
            </a:r>
            <a:endParaRPr lang="en-US" dirty="0">
              <a:solidFill>
                <a:schemeClr val="tx1"/>
              </a:solidFill>
              <a:ea typeface="Cambria"/>
            </a:endParaRPr>
          </a:p>
        </p:txBody>
      </p:sp>
    </p:spTree>
    <p:extLst>
      <p:ext uri="{BB962C8B-B14F-4D97-AF65-F5344CB8AC3E}">
        <p14:creationId xmlns:p14="http://schemas.microsoft.com/office/powerpoint/2010/main" val="44651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2AF2-B136-2FA6-9C6C-0C0A770FA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4A639-F9E0-FFBA-6675-816170F5CABE}"/>
              </a:ext>
            </a:extLst>
          </p:cNvPr>
          <p:cNvSpPr>
            <a:spLocks noGrp="1"/>
          </p:cNvSpPr>
          <p:nvPr>
            <p:ph type="ctrTitle"/>
          </p:nvPr>
        </p:nvSpPr>
        <p:spPr>
          <a:xfrm>
            <a:off x="874776" y="2798064"/>
            <a:ext cx="9144000" cy="2387600"/>
          </a:xfrm>
        </p:spPr>
        <p:txBody>
          <a:bodyPr>
            <a:noAutofit/>
          </a:bodyPr>
          <a:lstStyle/>
          <a:p>
            <a:pPr algn="l"/>
            <a:br>
              <a:rPr lang="en-US" sz="2000" dirty="0">
                <a:latin typeface="+mn-lt"/>
              </a:rPr>
            </a:br>
            <a:br>
              <a:rPr lang="en-US" sz="2000" dirty="0">
                <a:latin typeface="+mn-lt"/>
              </a:rPr>
            </a:br>
            <a:br>
              <a:rPr lang="en-US" sz="2000" dirty="0">
                <a:latin typeface="+mn-lt"/>
              </a:rPr>
            </a:br>
            <a:r>
              <a:rPr lang="en-US" sz="2800" b="1" dirty="0">
                <a:latin typeface="+mn-lt"/>
              </a:rPr>
              <a:t>Research Methodology</a:t>
            </a:r>
            <a:br>
              <a:rPr lang="en-US" sz="2000" dirty="0">
                <a:latin typeface="+mn-lt"/>
              </a:rPr>
            </a:br>
            <a:br>
              <a:rPr lang="en-US" sz="2000" dirty="0">
                <a:latin typeface="+mn-lt"/>
              </a:rPr>
            </a:br>
            <a:r>
              <a:rPr lang="en-US" sz="2000" b="1" dirty="0">
                <a:latin typeface="+mn-lt"/>
              </a:rPr>
              <a:t>Temporal Data Analysis</a:t>
            </a:r>
            <a:br>
              <a:rPr lang="en-US" sz="2000" dirty="0">
                <a:latin typeface="+mn-lt"/>
              </a:rPr>
            </a:br>
            <a:r>
              <a:rPr lang="en-US" sz="2000" dirty="0">
                <a:latin typeface="+mn-lt"/>
              </a:rPr>
              <a:t>• Perform exploratory analysis to identify seasonality and outbreak cycles in dengue cases.</a:t>
            </a:r>
            <a:br>
              <a:rPr lang="en-US" sz="2000" dirty="0">
                <a:latin typeface="+mn-lt"/>
              </a:rPr>
            </a:br>
            <a:br>
              <a:rPr lang="en-US" sz="2000" b="1" dirty="0">
                <a:latin typeface="+mn-lt"/>
              </a:rPr>
            </a:br>
            <a:r>
              <a:rPr lang="en-US" sz="2000" b="1" dirty="0">
                <a:latin typeface="+mn-lt"/>
              </a:rPr>
              <a:t>Machine Learning Model Development</a:t>
            </a:r>
            <a:br>
              <a:rPr lang="en-US" sz="2000" dirty="0">
                <a:latin typeface="+mn-lt"/>
              </a:rPr>
            </a:br>
            <a:r>
              <a:rPr lang="en-US" sz="2000" dirty="0">
                <a:latin typeface="+mn-lt"/>
              </a:rPr>
              <a:t>Train and compare multiple models:</a:t>
            </a:r>
            <a:br>
              <a:rPr lang="en-US" sz="2000" dirty="0">
                <a:latin typeface="+mn-lt"/>
              </a:rPr>
            </a:br>
            <a:r>
              <a:rPr lang="en-US" sz="2000" dirty="0">
                <a:latin typeface="+mn-lt"/>
              </a:rPr>
              <a:t>• Random Forest</a:t>
            </a:r>
            <a:br>
              <a:rPr lang="en-US" sz="2000" dirty="0">
                <a:latin typeface="+mn-lt"/>
              </a:rPr>
            </a:br>
            <a:r>
              <a:rPr lang="en-US" sz="2000" dirty="0">
                <a:latin typeface="+mn-lt"/>
              </a:rPr>
              <a:t>• </a:t>
            </a:r>
            <a:r>
              <a:rPr lang="en-US" sz="2000" dirty="0" err="1">
                <a:latin typeface="+mn-lt"/>
              </a:rPr>
              <a:t>XGBoost</a:t>
            </a:r>
            <a:br>
              <a:rPr lang="en-US" sz="2000" dirty="0">
                <a:latin typeface="+mn-lt"/>
              </a:rPr>
            </a:br>
            <a:r>
              <a:rPr lang="en-US" sz="2000" dirty="0">
                <a:latin typeface="+mn-lt"/>
              </a:rPr>
              <a:t>• LSTM (Long Short-Term Memory)</a:t>
            </a:r>
            <a:br>
              <a:rPr lang="en-US" sz="2000" dirty="0">
                <a:latin typeface="+mn-lt"/>
              </a:rPr>
            </a:br>
            <a:br>
              <a:rPr lang="en-US" sz="2000" b="1" dirty="0">
                <a:latin typeface="+mn-lt"/>
              </a:rPr>
            </a:br>
            <a:r>
              <a:rPr lang="en-US" sz="2000" b="1" dirty="0">
                <a:latin typeface="+mn-lt"/>
              </a:rPr>
              <a:t>Time-Series Validation Strategy</a:t>
            </a:r>
            <a:br>
              <a:rPr lang="en-US" sz="2000" dirty="0">
                <a:latin typeface="+mn-lt"/>
              </a:rPr>
            </a:br>
            <a:r>
              <a:rPr lang="en-US" sz="2000" dirty="0">
                <a:latin typeface="+mn-lt"/>
              </a:rPr>
              <a:t>Apply time-series-aware data splitting techniques:</a:t>
            </a:r>
            <a:br>
              <a:rPr lang="en-US" sz="2000" dirty="0">
                <a:latin typeface="+mn-lt"/>
              </a:rPr>
            </a:br>
            <a:r>
              <a:rPr lang="en-US" sz="2000" dirty="0">
                <a:latin typeface="+mn-lt"/>
              </a:rPr>
              <a:t>• Walk-forward validation</a:t>
            </a:r>
            <a:br>
              <a:rPr lang="en-US" sz="2000" dirty="0">
                <a:latin typeface="+mn-lt"/>
              </a:rPr>
            </a:br>
            <a:r>
              <a:rPr lang="en-US" sz="2000" dirty="0">
                <a:latin typeface="+mn-lt"/>
              </a:rPr>
              <a:t>• Rolling window validation</a:t>
            </a:r>
          </a:p>
        </p:txBody>
      </p:sp>
      <p:sp>
        <p:nvSpPr>
          <p:cNvPr id="3" name="Rectangle 2">
            <a:extLst>
              <a:ext uri="{FF2B5EF4-FFF2-40B4-BE49-F238E27FC236}">
                <a16:creationId xmlns:a16="http://schemas.microsoft.com/office/drawing/2014/main" id="{8A4207CC-EC9F-E3A4-9669-5664D94547A4}"/>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IT22214034 | </a:t>
            </a:r>
            <a:r>
              <a:rPr lang="en-US" dirty="0" err="1">
                <a:solidFill>
                  <a:schemeClr val="tx1"/>
                </a:solidFill>
              </a:rPr>
              <a:t>Keenavinna</a:t>
            </a:r>
            <a:r>
              <a:rPr lang="en-US" dirty="0">
                <a:solidFill>
                  <a:schemeClr val="tx1"/>
                </a:solidFill>
              </a:rPr>
              <a:t> K.A.I.U</a:t>
            </a:r>
            <a:endParaRPr lang="en-US" dirty="0">
              <a:solidFill>
                <a:schemeClr val="tx1"/>
              </a:solidFill>
              <a:ea typeface="Cambria"/>
            </a:endParaRPr>
          </a:p>
        </p:txBody>
      </p:sp>
      <p:pic>
        <p:nvPicPr>
          <p:cNvPr id="5" name="Picture 4">
            <a:extLst>
              <a:ext uri="{FF2B5EF4-FFF2-40B4-BE49-F238E27FC236}">
                <a16:creationId xmlns:a16="http://schemas.microsoft.com/office/drawing/2014/main" id="{C70B174F-9B97-2F2E-EECD-F8815F69FD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53784" y="1975104"/>
            <a:ext cx="2334768" cy="2334768"/>
          </a:xfrm>
          <a:prstGeom prst="rect">
            <a:avLst/>
          </a:prstGeom>
        </p:spPr>
      </p:pic>
      <p:pic>
        <p:nvPicPr>
          <p:cNvPr id="7" name="Picture 6">
            <a:extLst>
              <a:ext uri="{FF2B5EF4-FFF2-40B4-BE49-F238E27FC236}">
                <a16:creationId xmlns:a16="http://schemas.microsoft.com/office/drawing/2014/main" id="{989262B2-4AD3-26B2-4B8E-B28E695F68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3960" y="4480560"/>
            <a:ext cx="3099816" cy="1743647"/>
          </a:xfrm>
          <a:prstGeom prst="rect">
            <a:avLst/>
          </a:prstGeom>
        </p:spPr>
      </p:pic>
    </p:spTree>
    <p:extLst>
      <p:ext uri="{BB962C8B-B14F-4D97-AF65-F5344CB8AC3E}">
        <p14:creationId xmlns:p14="http://schemas.microsoft.com/office/powerpoint/2010/main" val="37484073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85581-FDCC-8368-7E5E-EB5F3EFE9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61533-2928-0221-3A38-C053964D3559}"/>
              </a:ext>
            </a:extLst>
          </p:cNvPr>
          <p:cNvSpPr>
            <a:spLocks noGrp="1"/>
          </p:cNvSpPr>
          <p:nvPr>
            <p:ph type="ctrTitle"/>
          </p:nvPr>
        </p:nvSpPr>
        <p:spPr>
          <a:xfrm>
            <a:off x="792480" y="3080930"/>
            <a:ext cx="9144000" cy="2387600"/>
          </a:xfrm>
        </p:spPr>
        <p:txBody>
          <a:bodyPr>
            <a:noAutofit/>
          </a:bodyPr>
          <a:lstStyle/>
          <a:p>
            <a:pPr algn="l"/>
            <a:r>
              <a:rPr lang="en-US" sz="2800" b="1" dirty="0"/>
              <a:t>Technologies, Validation &amp; Data</a:t>
            </a:r>
            <a:br>
              <a:rPr lang="en-US" sz="2400" dirty="0"/>
            </a:br>
            <a:br>
              <a:rPr lang="en-US" sz="2400" dirty="0"/>
            </a:br>
            <a:r>
              <a:rPr lang="en-US" sz="2400" b="1" dirty="0"/>
              <a:t>Technologies Used</a:t>
            </a:r>
            <a:br>
              <a:rPr lang="en-US" sz="2400" dirty="0"/>
            </a:br>
            <a:br>
              <a:rPr lang="en-US" sz="2400" dirty="0"/>
            </a:br>
            <a:r>
              <a:rPr lang="en-US" sz="2400" b="1" dirty="0"/>
              <a:t>Machine Learning</a:t>
            </a:r>
            <a:br>
              <a:rPr lang="en-US" sz="2400" dirty="0"/>
            </a:br>
            <a:br>
              <a:rPr lang="en-US" sz="2400" dirty="0"/>
            </a:br>
            <a:r>
              <a:rPr lang="en-US" sz="2400" dirty="0"/>
              <a:t>• Python</a:t>
            </a:r>
            <a:br>
              <a:rPr lang="en-US" sz="2400" dirty="0"/>
            </a:br>
            <a:r>
              <a:rPr lang="en-US" sz="2400" dirty="0"/>
              <a:t>• Scikit-learn</a:t>
            </a:r>
            <a:br>
              <a:rPr lang="en-US" sz="2400" dirty="0"/>
            </a:br>
            <a:r>
              <a:rPr lang="en-US" sz="2400" dirty="0"/>
              <a:t>• </a:t>
            </a:r>
            <a:r>
              <a:rPr lang="en-US" sz="2400" dirty="0" err="1"/>
              <a:t>XGBoost</a:t>
            </a:r>
            <a:br>
              <a:rPr lang="en-US" sz="2400" dirty="0"/>
            </a:br>
            <a:r>
              <a:rPr lang="en-US" sz="2400" dirty="0"/>
              <a:t>• TensorFlow / </a:t>
            </a:r>
            <a:r>
              <a:rPr lang="en-US" sz="2400" dirty="0" err="1"/>
              <a:t>PyTorch</a:t>
            </a:r>
            <a:r>
              <a:rPr lang="en-US" sz="2400" dirty="0"/>
              <a:t> (for LSTM)</a:t>
            </a:r>
            <a:br>
              <a:rPr lang="en-US" sz="2400" dirty="0"/>
            </a:br>
            <a:br>
              <a:rPr lang="en-US" sz="2400" b="1" dirty="0"/>
            </a:br>
            <a:r>
              <a:rPr lang="en-US" sz="2400" b="1" dirty="0"/>
              <a:t>Data Processing</a:t>
            </a:r>
            <a:br>
              <a:rPr lang="en-US" sz="2400" dirty="0"/>
            </a:br>
            <a:r>
              <a:rPr lang="en-US" sz="2400" dirty="0"/>
              <a:t>• Pandas</a:t>
            </a:r>
            <a:br>
              <a:rPr lang="en-US" sz="2400" dirty="0"/>
            </a:br>
            <a:r>
              <a:rPr lang="en-US" sz="2400" dirty="0"/>
              <a:t>• NumPy</a:t>
            </a:r>
          </a:p>
        </p:txBody>
      </p:sp>
      <p:pic>
        <p:nvPicPr>
          <p:cNvPr id="4" name="Picture 3">
            <a:extLst>
              <a:ext uri="{FF2B5EF4-FFF2-40B4-BE49-F238E27FC236}">
                <a16:creationId xmlns:a16="http://schemas.microsoft.com/office/drawing/2014/main" id="{6BAEB17D-A7B9-36FB-4831-301DEF98D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4450" y="440146"/>
            <a:ext cx="2143125" cy="2143125"/>
          </a:xfrm>
          <a:prstGeom prst="rect">
            <a:avLst/>
          </a:prstGeom>
        </p:spPr>
      </p:pic>
      <p:pic>
        <p:nvPicPr>
          <p:cNvPr id="6" name="Picture 5">
            <a:extLst>
              <a:ext uri="{FF2B5EF4-FFF2-40B4-BE49-F238E27FC236}">
                <a16:creationId xmlns:a16="http://schemas.microsoft.com/office/drawing/2014/main" id="{9A6605A2-BCD8-EEB5-8501-3913C669BE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0461" y="3340048"/>
            <a:ext cx="3886200" cy="1495425"/>
          </a:xfrm>
          <a:prstGeom prst="rect">
            <a:avLst/>
          </a:prstGeom>
        </p:spPr>
      </p:pic>
      <p:sp>
        <p:nvSpPr>
          <p:cNvPr id="5" name="Rectangle 4">
            <a:extLst>
              <a:ext uri="{FF2B5EF4-FFF2-40B4-BE49-F238E27FC236}">
                <a16:creationId xmlns:a16="http://schemas.microsoft.com/office/drawing/2014/main" id="{441F07F1-AE4D-346A-4F98-89C06158FD8D}"/>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IT22214034 | </a:t>
            </a:r>
            <a:r>
              <a:rPr lang="en-US" dirty="0" err="1">
                <a:solidFill>
                  <a:schemeClr val="tx1"/>
                </a:solidFill>
              </a:rPr>
              <a:t>Keenavinna</a:t>
            </a:r>
            <a:r>
              <a:rPr lang="en-US" dirty="0">
                <a:solidFill>
                  <a:schemeClr val="tx1"/>
                </a:solidFill>
              </a:rPr>
              <a:t> K.A.I.U</a:t>
            </a:r>
            <a:endParaRPr lang="en-US" dirty="0">
              <a:solidFill>
                <a:schemeClr val="tx1"/>
              </a:solidFill>
              <a:ea typeface="Cambria"/>
            </a:endParaRPr>
          </a:p>
        </p:txBody>
      </p:sp>
    </p:spTree>
    <p:extLst>
      <p:ext uri="{BB962C8B-B14F-4D97-AF65-F5344CB8AC3E}">
        <p14:creationId xmlns:p14="http://schemas.microsoft.com/office/powerpoint/2010/main" val="33782014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62B87-C929-B972-5E97-6661D5948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5A944-D5C3-70F6-D2F8-A6265B25A33E}"/>
              </a:ext>
            </a:extLst>
          </p:cNvPr>
          <p:cNvSpPr>
            <a:spLocks noGrp="1"/>
          </p:cNvSpPr>
          <p:nvPr>
            <p:ph type="ctrTitle"/>
          </p:nvPr>
        </p:nvSpPr>
        <p:spPr>
          <a:xfrm>
            <a:off x="938784" y="3225483"/>
            <a:ext cx="9144000" cy="2387600"/>
          </a:xfrm>
        </p:spPr>
        <p:txBody>
          <a:bodyPr>
            <a:noAutofit/>
          </a:bodyPr>
          <a:lstStyle/>
          <a:p>
            <a:pPr algn="l"/>
            <a:r>
              <a:rPr lang="en-US" sz="2400" b="1" dirty="0">
                <a:latin typeface="+mn-lt"/>
              </a:rPr>
              <a:t>Hyperparameter Optimization</a:t>
            </a:r>
            <a:br>
              <a:rPr lang="en-US" sz="2400" dirty="0">
                <a:latin typeface="+mn-lt"/>
              </a:rPr>
            </a:br>
            <a:br>
              <a:rPr lang="en-US" sz="2400" dirty="0">
                <a:latin typeface="+mn-lt"/>
              </a:rPr>
            </a:br>
            <a:r>
              <a:rPr lang="en-US" sz="2400" dirty="0">
                <a:latin typeface="+mn-lt"/>
              </a:rPr>
              <a:t>Model performance is optimized using:</a:t>
            </a:r>
            <a:br>
              <a:rPr lang="en-US" sz="2400" dirty="0">
                <a:latin typeface="+mn-lt"/>
              </a:rPr>
            </a:br>
            <a:br>
              <a:rPr lang="en-US" sz="2400" dirty="0">
                <a:latin typeface="+mn-lt"/>
              </a:rPr>
            </a:br>
            <a:r>
              <a:rPr lang="en-US" sz="2400" dirty="0">
                <a:latin typeface="+mn-lt"/>
              </a:rPr>
              <a:t>• Grid Search</a:t>
            </a:r>
            <a:br>
              <a:rPr lang="en-US" sz="2400" dirty="0">
                <a:latin typeface="+mn-lt"/>
              </a:rPr>
            </a:br>
            <a:r>
              <a:rPr lang="en-US" sz="2400" dirty="0">
                <a:latin typeface="+mn-lt"/>
              </a:rPr>
              <a:t>• Random Search</a:t>
            </a:r>
            <a:br>
              <a:rPr lang="en-US" sz="2400" dirty="0">
                <a:latin typeface="+mn-lt"/>
              </a:rPr>
            </a:br>
            <a:br>
              <a:rPr lang="en-US" sz="2400" dirty="0">
                <a:latin typeface="+mn-lt"/>
              </a:rPr>
            </a:br>
            <a:r>
              <a:rPr lang="en-US" sz="2400" b="1" dirty="0">
                <a:latin typeface="+mn-lt"/>
              </a:rPr>
              <a:t>Model Evaluation Metrics</a:t>
            </a:r>
            <a:br>
              <a:rPr lang="en-US" sz="2400" dirty="0">
                <a:latin typeface="+mn-lt"/>
              </a:rPr>
            </a:br>
            <a:br>
              <a:rPr lang="en-US" sz="2400" dirty="0">
                <a:latin typeface="+mn-lt"/>
              </a:rPr>
            </a:br>
            <a:r>
              <a:rPr lang="en-US" sz="2400" dirty="0">
                <a:latin typeface="+mn-lt"/>
              </a:rPr>
              <a:t>Models are evaluated using:</a:t>
            </a:r>
            <a:br>
              <a:rPr lang="en-US" sz="2400" dirty="0">
                <a:latin typeface="+mn-lt"/>
              </a:rPr>
            </a:br>
            <a:r>
              <a:rPr lang="en-US" sz="2400" dirty="0">
                <a:latin typeface="+mn-lt"/>
              </a:rPr>
              <a:t>• Accuracy</a:t>
            </a:r>
            <a:br>
              <a:rPr lang="en-US" sz="2400" dirty="0">
                <a:latin typeface="+mn-lt"/>
              </a:rPr>
            </a:br>
            <a:r>
              <a:rPr lang="en-US" sz="2400" dirty="0">
                <a:latin typeface="+mn-lt"/>
              </a:rPr>
              <a:t>• Recall</a:t>
            </a:r>
            <a:br>
              <a:rPr lang="en-US" sz="2400" dirty="0">
                <a:latin typeface="+mn-lt"/>
              </a:rPr>
            </a:br>
            <a:r>
              <a:rPr lang="en-US" sz="2400" dirty="0">
                <a:latin typeface="+mn-lt"/>
              </a:rPr>
              <a:t>• F1-Score</a:t>
            </a:r>
            <a:br>
              <a:rPr lang="en-US" sz="2400" dirty="0">
                <a:latin typeface="+mn-lt"/>
              </a:rPr>
            </a:br>
            <a:r>
              <a:rPr lang="en-US" sz="2400" dirty="0">
                <a:latin typeface="+mn-lt"/>
              </a:rPr>
              <a:t>• ROC-AUC</a:t>
            </a:r>
            <a:br>
              <a:rPr lang="en-US" sz="2400" dirty="0">
                <a:latin typeface="+mn-lt"/>
              </a:rPr>
            </a:br>
            <a:r>
              <a:rPr lang="en-US" sz="2400" dirty="0">
                <a:latin typeface="+mn-lt"/>
              </a:rPr>
              <a:t>• RMSE</a:t>
            </a:r>
          </a:p>
        </p:txBody>
      </p:sp>
      <p:sp>
        <p:nvSpPr>
          <p:cNvPr id="3" name="Rectangle 2">
            <a:extLst>
              <a:ext uri="{FF2B5EF4-FFF2-40B4-BE49-F238E27FC236}">
                <a16:creationId xmlns:a16="http://schemas.microsoft.com/office/drawing/2014/main" id="{F15CC839-0B20-4A38-60A5-5FA5A89B77C3}"/>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IT22214034 | </a:t>
            </a:r>
            <a:r>
              <a:rPr lang="en-US" dirty="0" err="1">
                <a:solidFill>
                  <a:schemeClr val="tx1"/>
                </a:solidFill>
              </a:rPr>
              <a:t>Keenavinna</a:t>
            </a:r>
            <a:r>
              <a:rPr lang="en-US" dirty="0">
                <a:solidFill>
                  <a:schemeClr val="tx1"/>
                </a:solidFill>
              </a:rPr>
              <a:t> K.A.I.U</a:t>
            </a:r>
            <a:endParaRPr lang="en-US" dirty="0">
              <a:solidFill>
                <a:schemeClr val="tx1"/>
              </a:solidFill>
              <a:ea typeface="Cambria"/>
            </a:endParaRPr>
          </a:p>
        </p:txBody>
      </p:sp>
      <p:pic>
        <p:nvPicPr>
          <p:cNvPr id="5" name="Picture 4">
            <a:extLst>
              <a:ext uri="{FF2B5EF4-FFF2-40B4-BE49-F238E27FC236}">
                <a16:creationId xmlns:a16="http://schemas.microsoft.com/office/drawing/2014/main" id="{908A3286-B396-951F-CBA9-A7BBAC3161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71688" y="2608771"/>
            <a:ext cx="3621024" cy="3621024"/>
          </a:xfrm>
          <a:prstGeom prst="rect">
            <a:avLst/>
          </a:prstGeom>
        </p:spPr>
      </p:pic>
    </p:spTree>
    <p:extLst>
      <p:ext uri="{BB962C8B-B14F-4D97-AF65-F5344CB8AC3E}">
        <p14:creationId xmlns:p14="http://schemas.microsoft.com/office/powerpoint/2010/main" val="36443949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BBBB0-C19C-0838-80C1-AE3670CE9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6549C-182A-5933-7C51-5195D6505226}"/>
              </a:ext>
            </a:extLst>
          </p:cNvPr>
          <p:cNvSpPr>
            <a:spLocks noGrp="1"/>
          </p:cNvSpPr>
          <p:nvPr>
            <p:ph type="ctrTitle"/>
          </p:nvPr>
        </p:nvSpPr>
        <p:spPr>
          <a:xfrm>
            <a:off x="717804" y="3730752"/>
            <a:ext cx="10756392" cy="2387600"/>
          </a:xfrm>
        </p:spPr>
        <p:txBody>
          <a:bodyPr>
            <a:noAutofit/>
          </a:bodyPr>
          <a:lstStyle/>
          <a:p>
            <a:pPr algn="l"/>
            <a:br>
              <a:rPr lang="en-US" sz="2000" dirty="0">
                <a:latin typeface="+mn-lt"/>
              </a:rPr>
            </a:br>
            <a:br>
              <a:rPr lang="en-US" sz="2000" dirty="0">
                <a:latin typeface="+mn-lt"/>
              </a:rPr>
            </a:br>
            <a:r>
              <a:rPr lang="en-US" sz="2400" b="1" dirty="0">
                <a:latin typeface="+mn-lt"/>
              </a:rPr>
              <a:t>Implementation Overview</a:t>
            </a:r>
            <a:br>
              <a:rPr lang="en-US" sz="2000" b="1" dirty="0">
                <a:latin typeface="+mn-lt"/>
              </a:rPr>
            </a:br>
            <a:br>
              <a:rPr lang="en-US" sz="2000" dirty="0">
                <a:latin typeface="+mn-lt"/>
              </a:rPr>
            </a:br>
            <a:r>
              <a:rPr lang="en-US" sz="2000" b="1" dirty="0">
                <a:latin typeface="+mn-lt"/>
              </a:rPr>
              <a:t>System Role</a:t>
            </a:r>
            <a:br>
              <a:rPr lang="en-US" sz="2000" dirty="0">
                <a:latin typeface="+mn-lt"/>
              </a:rPr>
            </a:br>
            <a:r>
              <a:rPr lang="en-US" sz="2000" dirty="0">
                <a:latin typeface="+mn-lt"/>
              </a:rPr>
              <a:t>The Machine Learning module generates early dengue outbreak predictions based on climate and dengue surveillance data.</a:t>
            </a:r>
            <a:br>
              <a:rPr lang="en-US" sz="2000" dirty="0">
                <a:latin typeface="+mn-lt"/>
              </a:rPr>
            </a:br>
            <a:br>
              <a:rPr lang="en-US" sz="2000" dirty="0">
                <a:latin typeface="+mn-lt"/>
              </a:rPr>
            </a:br>
            <a:r>
              <a:rPr lang="en-US" sz="2000" b="1" dirty="0">
                <a:latin typeface="+mn-lt"/>
              </a:rPr>
              <a:t>Forecasting Strategy</a:t>
            </a:r>
            <a:br>
              <a:rPr lang="en-US" sz="2000" dirty="0">
                <a:latin typeface="+mn-lt"/>
              </a:rPr>
            </a:br>
            <a:r>
              <a:rPr lang="en-US" sz="2000" dirty="0">
                <a:latin typeface="+mn-lt"/>
              </a:rPr>
              <a:t>• Analyze prediction reliability across different forecast horizons (1–4 weeks).</a:t>
            </a:r>
            <a:br>
              <a:rPr lang="en-US" sz="2000" dirty="0">
                <a:latin typeface="+mn-lt"/>
              </a:rPr>
            </a:br>
            <a:r>
              <a:rPr lang="en-US" sz="2000" dirty="0">
                <a:latin typeface="+mn-lt"/>
              </a:rPr>
              <a:t>• Identify the most stable and accurate prediction model.</a:t>
            </a:r>
            <a:br>
              <a:rPr lang="en-US" sz="2000" dirty="0">
                <a:latin typeface="+mn-lt"/>
              </a:rPr>
            </a:br>
            <a:br>
              <a:rPr lang="en-US" sz="2000" dirty="0">
                <a:latin typeface="+mn-lt"/>
              </a:rPr>
            </a:br>
            <a:r>
              <a:rPr lang="en-US" sz="2000" b="1" dirty="0">
                <a:latin typeface="+mn-lt"/>
              </a:rPr>
              <a:t>Dependencies</a:t>
            </a:r>
            <a:br>
              <a:rPr lang="en-US" sz="2000" dirty="0">
                <a:latin typeface="+mn-lt"/>
              </a:rPr>
            </a:br>
            <a:r>
              <a:rPr lang="en-US" sz="2000" dirty="0">
                <a:latin typeface="+mn-lt"/>
              </a:rPr>
              <a:t>This component depends on:</a:t>
            </a:r>
            <a:br>
              <a:rPr lang="en-US" sz="2000" dirty="0">
                <a:latin typeface="+mn-lt"/>
              </a:rPr>
            </a:br>
            <a:r>
              <a:rPr lang="en-US" sz="2000" dirty="0">
                <a:latin typeface="+mn-lt"/>
              </a:rPr>
              <a:t>• Data Engineering Module (clean dataset)</a:t>
            </a:r>
            <a:br>
              <a:rPr lang="en-US" sz="2000" dirty="0">
                <a:latin typeface="+mn-lt"/>
              </a:rPr>
            </a:br>
            <a:r>
              <a:rPr lang="en-US" sz="2000" dirty="0">
                <a:latin typeface="+mn-lt"/>
              </a:rPr>
              <a:t>• Central Database</a:t>
            </a:r>
            <a:br>
              <a:rPr lang="en-US" sz="2000" dirty="0">
                <a:latin typeface="+mn-lt"/>
              </a:rPr>
            </a:br>
            <a:r>
              <a:rPr lang="en-US" sz="2000" dirty="0">
                <a:latin typeface="+mn-lt"/>
              </a:rPr>
              <a:t>• Climate and dengue datasets</a:t>
            </a:r>
            <a:br>
              <a:rPr lang="en-US" sz="2000" dirty="0">
                <a:latin typeface="+mn-lt"/>
              </a:rPr>
            </a:br>
            <a:br>
              <a:rPr lang="en-US" sz="2000" dirty="0">
                <a:latin typeface="+mn-lt"/>
              </a:rPr>
            </a:br>
            <a:r>
              <a:rPr lang="en-US" sz="2000" b="1" dirty="0">
                <a:latin typeface="+mn-lt"/>
              </a:rPr>
              <a:t>Output</a:t>
            </a:r>
            <a:br>
              <a:rPr lang="en-US" sz="2000" dirty="0">
                <a:latin typeface="+mn-lt"/>
              </a:rPr>
            </a:br>
            <a:r>
              <a:rPr lang="en-US" sz="2000" dirty="0">
                <a:latin typeface="+mn-lt"/>
              </a:rPr>
              <a:t>The module produces:</a:t>
            </a:r>
            <a:br>
              <a:rPr lang="en-US" sz="2000" dirty="0">
                <a:latin typeface="+mn-lt"/>
              </a:rPr>
            </a:br>
            <a:r>
              <a:rPr lang="en-US" sz="2000" dirty="0">
                <a:latin typeface="+mn-lt"/>
              </a:rPr>
              <a:t>• Dengue outbreak risk classification (Low / Medium / High)</a:t>
            </a:r>
            <a:br>
              <a:rPr lang="en-US" sz="2000" dirty="0">
                <a:latin typeface="+mn-lt"/>
              </a:rPr>
            </a:br>
            <a:r>
              <a:rPr lang="en-US" sz="2000" dirty="0">
                <a:latin typeface="+mn-lt"/>
              </a:rPr>
              <a:t>• Probabilistic outbreak predictions</a:t>
            </a:r>
            <a:br>
              <a:rPr lang="en-US" sz="2000" dirty="0">
                <a:latin typeface="+mn-lt"/>
              </a:rPr>
            </a:br>
            <a:r>
              <a:rPr lang="en-US" sz="2000" dirty="0">
                <a:latin typeface="+mn-lt"/>
              </a:rPr>
              <a:t>• Optimized model used by the analytics dashboard for visualization</a:t>
            </a:r>
          </a:p>
        </p:txBody>
      </p:sp>
      <p:sp>
        <p:nvSpPr>
          <p:cNvPr id="3" name="Rectangle 2">
            <a:extLst>
              <a:ext uri="{FF2B5EF4-FFF2-40B4-BE49-F238E27FC236}">
                <a16:creationId xmlns:a16="http://schemas.microsoft.com/office/drawing/2014/main" id="{F9DFF66B-9AED-575F-2F72-6C6252F0AB4A}"/>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IT22214034 | </a:t>
            </a:r>
            <a:r>
              <a:rPr lang="en-US" dirty="0" err="1">
                <a:solidFill>
                  <a:schemeClr val="tx1"/>
                </a:solidFill>
              </a:rPr>
              <a:t>Keenavinna</a:t>
            </a:r>
            <a:r>
              <a:rPr lang="en-US" dirty="0">
                <a:solidFill>
                  <a:schemeClr val="tx1"/>
                </a:solidFill>
              </a:rPr>
              <a:t> K.A.I.U</a:t>
            </a:r>
            <a:endParaRPr lang="en-US" dirty="0">
              <a:solidFill>
                <a:schemeClr val="tx1"/>
              </a:solidFill>
              <a:ea typeface="Cambria"/>
            </a:endParaRPr>
          </a:p>
        </p:txBody>
      </p:sp>
      <p:pic>
        <p:nvPicPr>
          <p:cNvPr id="5" name="Picture 4">
            <a:extLst>
              <a:ext uri="{FF2B5EF4-FFF2-40B4-BE49-F238E27FC236}">
                <a16:creationId xmlns:a16="http://schemas.microsoft.com/office/drawing/2014/main" id="{F5920FA1-8D43-9A88-3A48-BACB3122065E}"/>
              </a:ext>
            </a:extLst>
          </p:cNvPr>
          <p:cNvPicPr>
            <a:picLocks noChangeAspect="1"/>
          </p:cNvPicPr>
          <p:nvPr/>
        </p:nvPicPr>
        <p:blipFill>
          <a:blip r:embed="rId2" cstate="print">
            <a:extLst>
              <a:ext uri="{28A0092B-C50C-407E-A947-70E740481C1C}">
                <a14:useLocalDpi xmlns:a14="http://schemas.microsoft.com/office/drawing/2010/main" val="0"/>
              </a:ext>
            </a:extLst>
          </a:blip>
          <a:srcRect l="10296" t="26667" r="9615" b="23334"/>
          <a:stretch>
            <a:fillRect/>
          </a:stretch>
        </p:blipFill>
        <p:spPr>
          <a:xfrm>
            <a:off x="8677656" y="4501677"/>
            <a:ext cx="2889504" cy="1202624"/>
          </a:xfrm>
          <a:prstGeom prst="rect">
            <a:avLst/>
          </a:prstGeom>
        </p:spPr>
      </p:pic>
    </p:spTree>
    <p:extLst>
      <p:ext uri="{BB962C8B-B14F-4D97-AF65-F5344CB8AC3E}">
        <p14:creationId xmlns:p14="http://schemas.microsoft.com/office/powerpoint/2010/main" val="35179861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BDCED-CC88-AA7E-464A-9786061C5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73591-03E7-16B1-6384-C8549C1DA39E}"/>
              </a:ext>
            </a:extLst>
          </p:cNvPr>
          <p:cNvSpPr>
            <a:spLocks noGrp="1"/>
          </p:cNvSpPr>
          <p:nvPr>
            <p:ph type="ctrTitle"/>
          </p:nvPr>
        </p:nvSpPr>
        <p:spPr>
          <a:xfrm>
            <a:off x="4204959" y="0"/>
            <a:ext cx="3671316" cy="586232"/>
          </a:xfrm>
        </p:spPr>
        <p:txBody>
          <a:bodyPr>
            <a:noAutofit/>
          </a:bodyPr>
          <a:lstStyle/>
          <a:p>
            <a:pPr algn="l"/>
            <a:r>
              <a:rPr lang="en-US" sz="3200" b="1" dirty="0">
                <a:latin typeface="+mn-lt"/>
              </a:rPr>
              <a:t>System Overview </a:t>
            </a:r>
          </a:p>
        </p:txBody>
      </p:sp>
      <p:sp>
        <p:nvSpPr>
          <p:cNvPr id="3" name="Rectangle 2">
            <a:extLst>
              <a:ext uri="{FF2B5EF4-FFF2-40B4-BE49-F238E27FC236}">
                <a16:creationId xmlns:a16="http://schemas.microsoft.com/office/drawing/2014/main" id="{7A6AFB92-5002-66A6-47BF-C55C076224DD}"/>
              </a:ext>
            </a:extLst>
          </p:cNvPr>
          <p:cNvSpPr/>
          <p:nvPr/>
        </p:nvSpPr>
        <p:spPr>
          <a:xfrm>
            <a:off x="2632435" y="6492874"/>
            <a:ext cx="681636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IT22214034 | </a:t>
            </a:r>
            <a:r>
              <a:rPr lang="en-US" dirty="0" err="1">
                <a:solidFill>
                  <a:schemeClr val="tx1"/>
                </a:solidFill>
              </a:rPr>
              <a:t>Keenavinna</a:t>
            </a:r>
            <a:r>
              <a:rPr lang="en-US" dirty="0">
                <a:solidFill>
                  <a:schemeClr val="tx1"/>
                </a:solidFill>
              </a:rPr>
              <a:t> K.A.I.U</a:t>
            </a:r>
            <a:endParaRPr lang="en-US" dirty="0">
              <a:solidFill>
                <a:schemeClr val="tx1"/>
              </a:solidFill>
              <a:ea typeface="Cambria"/>
            </a:endParaRPr>
          </a:p>
        </p:txBody>
      </p:sp>
      <p:pic>
        <p:nvPicPr>
          <p:cNvPr id="6" name="Picture 5">
            <a:extLst>
              <a:ext uri="{FF2B5EF4-FFF2-40B4-BE49-F238E27FC236}">
                <a16:creationId xmlns:a16="http://schemas.microsoft.com/office/drawing/2014/main" id="{68ADE88D-2AF6-9367-8AB0-57B6951E9F25}"/>
              </a:ext>
            </a:extLst>
          </p:cNvPr>
          <p:cNvPicPr>
            <a:picLocks noChangeAspect="1"/>
          </p:cNvPicPr>
          <p:nvPr/>
        </p:nvPicPr>
        <p:blipFill>
          <a:blip r:embed="rId2">
            <a:extLst>
              <a:ext uri="{28A0092B-C50C-407E-A947-70E740481C1C}">
                <a14:useLocalDpi xmlns:a14="http://schemas.microsoft.com/office/drawing/2010/main" val="0"/>
              </a:ext>
            </a:extLst>
          </a:blip>
          <a:srcRect l="1585" t="17066" r="1437" b="16266"/>
          <a:stretch>
            <a:fillRect/>
          </a:stretch>
        </p:blipFill>
        <p:spPr>
          <a:xfrm>
            <a:off x="748808" y="1088136"/>
            <a:ext cx="10694383" cy="4901184"/>
          </a:xfrm>
          <a:prstGeom prst="rect">
            <a:avLst/>
          </a:prstGeom>
        </p:spPr>
      </p:pic>
    </p:spTree>
    <p:extLst>
      <p:ext uri="{BB962C8B-B14F-4D97-AF65-F5344CB8AC3E}">
        <p14:creationId xmlns:p14="http://schemas.microsoft.com/office/powerpoint/2010/main" val="356404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1229DB-0814-7C43-67EC-654D1E274A71}"/>
              </a:ext>
            </a:extLst>
          </p:cNvPr>
          <p:cNvSpPr txBox="1"/>
          <p:nvPr/>
        </p:nvSpPr>
        <p:spPr>
          <a:xfrm>
            <a:off x="547416" y="422792"/>
            <a:ext cx="10349088" cy="53860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t>Commercialization Potential</a:t>
            </a:r>
          </a:p>
          <a:p>
            <a:endParaRPr lang="en-US" sz="2400" b="1" dirty="0"/>
          </a:p>
          <a:p>
            <a:r>
              <a:rPr lang="en-US" sz="2400" b="1" dirty="0"/>
              <a:t>Target Market</a:t>
            </a:r>
          </a:p>
          <a:p>
            <a:r>
              <a:rPr lang="en-US" sz="2400" dirty="0"/>
              <a:t>• Ministry of Health – Sri Lanka</a:t>
            </a:r>
            <a:br>
              <a:rPr lang="en-US" sz="2400" dirty="0"/>
            </a:br>
            <a:r>
              <a:rPr lang="en-US" sz="2400" dirty="0"/>
              <a:t>• National Dengue Control Unit (NDCU)</a:t>
            </a:r>
            <a:br>
              <a:rPr lang="en-US" sz="2400" dirty="0"/>
            </a:br>
            <a:r>
              <a:rPr lang="en-US" sz="2400" dirty="0"/>
              <a:t>• Medical Officer of Health (MOH) offices</a:t>
            </a:r>
            <a:br>
              <a:rPr lang="en-US" sz="2400" dirty="0"/>
            </a:br>
            <a:r>
              <a:rPr lang="en-US" sz="2400" dirty="0"/>
              <a:t>• Public health research institutions</a:t>
            </a:r>
            <a:br>
              <a:rPr lang="en-US" sz="2400" dirty="0"/>
            </a:br>
            <a:r>
              <a:rPr lang="en-US" sz="2400" dirty="0"/>
              <a:t>• Smart city and public health monitoring systems</a:t>
            </a:r>
          </a:p>
          <a:p>
            <a:endParaRPr lang="en-US" sz="2400" dirty="0"/>
          </a:p>
          <a:p>
            <a:r>
              <a:rPr lang="en-US" sz="2400" b="1" dirty="0"/>
              <a:t>Customer Profile</a:t>
            </a:r>
          </a:p>
          <a:p>
            <a:r>
              <a:rPr lang="en-US" sz="2400" dirty="0"/>
              <a:t>• Public health decision-makers</a:t>
            </a:r>
            <a:br>
              <a:rPr lang="en-US" sz="2400" dirty="0"/>
            </a:br>
            <a:r>
              <a:rPr lang="en-US" sz="2400" dirty="0"/>
              <a:t>• Epidemiologists and researchers</a:t>
            </a:r>
            <a:br>
              <a:rPr lang="en-US" sz="2400" dirty="0"/>
            </a:br>
            <a:r>
              <a:rPr lang="en-US" sz="2400" dirty="0"/>
              <a:t>• Government health surveillance units</a:t>
            </a:r>
          </a:p>
          <a:p>
            <a:endParaRPr lang="en-US" sz="2400" dirty="0">
              <a:latin typeface="Verdana Pro"/>
              <a:cs typeface="Segoe UI"/>
            </a:endParaRPr>
          </a:p>
        </p:txBody>
      </p:sp>
      <p:sp>
        <p:nvSpPr>
          <p:cNvPr id="5" name="Rectangle 4">
            <a:extLst>
              <a:ext uri="{FF2B5EF4-FFF2-40B4-BE49-F238E27FC236}">
                <a16:creationId xmlns:a16="http://schemas.microsoft.com/office/drawing/2014/main" id="{38D75492-D3AF-EEB9-2980-C34FB706F320}"/>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R26-IT-061</a:t>
            </a:r>
            <a:endParaRPr lang="en-US" dirty="0">
              <a:solidFill>
                <a:schemeClr val="tx1"/>
              </a:solidFill>
              <a:ea typeface="Cambria"/>
            </a:endParaRPr>
          </a:p>
        </p:txBody>
      </p:sp>
      <p:pic>
        <p:nvPicPr>
          <p:cNvPr id="9" name="Picture 8">
            <a:extLst>
              <a:ext uri="{FF2B5EF4-FFF2-40B4-BE49-F238E27FC236}">
                <a16:creationId xmlns:a16="http://schemas.microsoft.com/office/drawing/2014/main" id="{4BC977FF-301E-E212-EA1A-BEEB358A3728}"/>
              </a:ext>
            </a:extLst>
          </p:cNvPr>
          <p:cNvPicPr>
            <a:picLocks noChangeAspect="1"/>
          </p:cNvPicPr>
          <p:nvPr/>
        </p:nvPicPr>
        <p:blipFill>
          <a:blip r:embed="rId2">
            <a:extLst>
              <a:ext uri="{28A0092B-C50C-407E-A947-70E740481C1C}">
                <a14:useLocalDpi xmlns:a14="http://schemas.microsoft.com/office/drawing/2010/main" val="0"/>
              </a:ext>
            </a:extLst>
          </a:blip>
          <a:srcRect b="36537"/>
          <a:stretch>
            <a:fillRect/>
          </a:stretch>
        </p:blipFill>
        <p:spPr>
          <a:xfrm>
            <a:off x="6096000" y="621955"/>
            <a:ext cx="3302752" cy="2257262"/>
          </a:xfrm>
          <a:prstGeom prst="rect">
            <a:avLst/>
          </a:prstGeom>
        </p:spPr>
      </p:pic>
      <p:pic>
        <p:nvPicPr>
          <p:cNvPr id="11" name="Picture 10">
            <a:extLst>
              <a:ext uri="{FF2B5EF4-FFF2-40B4-BE49-F238E27FC236}">
                <a16:creationId xmlns:a16="http://schemas.microsoft.com/office/drawing/2014/main" id="{5E2F300F-04B6-AFE1-765D-91C74ABAFE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68657" y="4679798"/>
            <a:ext cx="2980143" cy="1788086"/>
          </a:xfrm>
          <a:prstGeom prst="rect">
            <a:avLst/>
          </a:prstGeom>
        </p:spPr>
      </p:pic>
      <p:pic>
        <p:nvPicPr>
          <p:cNvPr id="13" name="Picture 12">
            <a:extLst>
              <a:ext uri="{FF2B5EF4-FFF2-40B4-BE49-F238E27FC236}">
                <a16:creationId xmlns:a16="http://schemas.microsoft.com/office/drawing/2014/main" id="{30321AA6-7CD4-1459-2428-7C434BB8B6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62872" y="2327170"/>
            <a:ext cx="2914553" cy="1788086"/>
          </a:xfrm>
          <a:prstGeom prst="rect">
            <a:avLst/>
          </a:prstGeom>
        </p:spPr>
      </p:pic>
    </p:spTree>
    <p:extLst>
      <p:ext uri="{BB962C8B-B14F-4D97-AF65-F5344CB8AC3E}">
        <p14:creationId xmlns:p14="http://schemas.microsoft.com/office/powerpoint/2010/main" val="10456043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CC3C7-3CF1-B497-0169-73B31CBE55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CEA141-BBF4-AC63-3CD0-FA7EC7BCAAD2}"/>
              </a:ext>
            </a:extLst>
          </p:cNvPr>
          <p:cNvSpPr txBox="1"/>
          <p:nvPr/>
        </p:nvSpPr>
        <p:spPr>
          <a:xfrm>
            <a:off x="786384" y="614816"/>
            <a:ext cx="10951368"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Value Proposition</a:t>
            </a:r>
          </a:p>
          <a:p>
            <a:r>
              <a:rPr lang="en-US" sz="2800" dirty="0"/>
              <a:t>• Early dengue outbreak prediction using machine learning</a:t>
            </a:r>
            <a:br>
              <a:rPr lang="en-US" sz="2800" dirty="0"/>
            </a:br>
            <a:r>
              <a:rPr lang="en-US" sz="2800" dirty="0"/>
              <a:t>• Data-driven decision support for public health authorities</a:t>
            </a:r>
            <a:br>
              <a:rPr lang="en-US" sz="2800" dirty="0"/>
            </a:br>
            <a:r>
              <a:rPr lang="en-US" sz="2800" dirty="0"/>
              <a:t>• Interactive dashboards with spatial dengue risk visualization</a:t>
            </a:r>
            <a:br>
              <a:rPr lang="en-US" sz="2800" dirty="0"/>
            </a:br>
            <a:r>
              <a:rPr lang="en-US" sz="2800" dirty="0"/>
              <a:t>• Explainable AI insights for understanding outbreak causes</a:t>
            </a:r>
          </a:p>
          <a:p>
            <a:endParaRPr lang="en-US" sz="2800" dirty="0"/>
          </a:p>
          <a:p>
            <a:r>
              <a:rPr lang="en-US" sz="2800" b="1" dirty="0"/>
              <a:t>Intellectual Property (IP)</a:t>
            </a:r>
          </a:p>
          <a:p>
            <a:r>
              <a:rPr lang="en-US" sz="2800" dirty="0"/>
              <a:t>• Machine learning prediction framework</a:t>
            </a:r>
            <a:br>
              <a:rPr lang="en-US" sz="2800" dirty="0"/>
            </a:br>
            <a:r>
              <a:rPr lang="en-US" sz="2800" dirty="0"/>
              <a:t>• Knowledge-augmented dengue intelligence system</a:t>
            </a:r>
            <a:br>
              <a:rPr lang="en-US" sz="2800" dirty="0"/>
            </a:br>
            <a:r>
              <a:rPr lang="en-US" sz="2800" dirty="0"/>
              <a:t>• Interactive analytics dashboard architecture</a:t>
            </a:r>
            <a:br>
              <a:rPr lang="en-US" sz="2800" dirty="0"/>
            </a:br>
            <a:r>
              <a:rPr lang="en-US" sz="2800" dirty="0"/>
              <a:t>• Potential for software licensing and research innovation</a:t>
            </a:r>
          </a:p>
        </p:txBody>
      </p:sp>
      <p:sp>
        <p:nvSpPr>
          <p:cNvPr id="5" name="Rectangle 4">
            <a:extLst>
              <a:ext uri="{FF2B5EF4-FFF2-40B4-BE49-F238E27FC236}">
                <a16:creationId xmlns:a16="http://schemas.microsoft.com/office/drawing/2014/main" id="{12AE0E09-0390-A630-124F-1B5EA2FAD875}"/>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R26-IT-061</a:t>
            </a:r>
            <a:endParaRPr lang="en-US" dirty="0">
              <a:solidFill>
                <a:schemeClr val="tx1"/>
              </a:solidFill>
              <a:ea typeface="Cambria"/>
            </a:endParaRPr>
          </a:p>
        </p:txBody>
      </p:sp>
    </p:spTree>
    <p:extLst>
      <p:ext uri="{BB962C8B-B14F-4D97-AF65-F5344CB8AC3E}">
        <p14:creationId xmlns:p14="http://schemas.microsoft.com/office/powerpoint/2010/main" val="101202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7C8B4-A836-E34A-11D3-40CAB83145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A4474B4-4898-8D82-1A58-5BE0E5A3C140}"/>
              </a:ext>
            </a:extLst>
          </p:cNvPr>
          <p:cNvSpPr txBox="1"/>
          <p:nvPr/>
        </p:nvSpPr>
        <p:spPr>
          <a:xfrm>
            <a:off x="777240" y="413648"/>
            <a:ext cx="10951368" cy="53860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Investment / Cost Estimation</a:t>
            </a:r>
          </a:p>
          <a:p>
            <a:endParaRPr lang="en-US" sz="2800" b="1" dirty="0"/>
          </a:p>
          <a:p>
            <a:r>
              <a:rPr lang="en-US" sz="2400" b="1" dirty="0"/>
              <a:t>Labour Cost</a:t>
            </a:r>
          </a:p>
          <a:p>
            <a:r>
              <a:rPr lang="en-US" sz="2400" dirty="0"/>
              <a:t>• Data Engineers</a:t>
            </a:r>
            <a:br>
              <a:rPr lang="en-US" sz="2400" dirty="0"/>
            </a:br>
            <a:r>
              <a:rPr lang="en-US" sz="2400" dirty="0"/>
              <a:t>• Machine Learning Engineers</a:t>
            </a:r>
            <a:br>
              <a:rPr lang="en-US" sz="2400" dirty="0"/>
            </a:br>
            <a:r>
              <a:rPr lang="en-US" sz="2400" dirty="0"/>
              <a:t>• NLP Engineers</a:t>
            </a:r>
            <a:br>
              <a:rPr lang="en-US" sz="2400" dirty="0"/>
            </a:br>
            <a:r>
              <a:rPr lang="en-US" sz="2400" dirty="0"/>
              <a:t>• Data Visualization Developers</a:t>
            </a:r>
            <a:br>
              <a:rPr lang="en-US" sz="2400" dirty="0"/>
            </a:br>
            <a:r>
              <a:rPr lang="en-US" sz="2400" dirty="0"/>
              <a:t>• System integration and testing personnel</a:t>
            </a:r>
          </a:p>
          <a:p>
            <a:endParaRPr lang="en-US" sz="2400" dirty="0"/>
          </a:p>
          <a:p>
            <a:r>
              <a:rPr lang="en-US" sz="2400" b="1" dirty="0"/>
              <a:t>Material / Infrastructure Cost</a:t>
            </a:r>
          </a:p>
          <a:p>
            <a:r>
              <a:rPr lang="en-US" sz="2400" dirty="0"/>
              <a:t>• Cloud computing infrastructure</a:t>
            </a:r>
            <a:br>
              <a:rPr lang="en-US" sz="2400" dirty="0"/>
            </a:br>
            <a:r>
              <a:rPr lang="en-US" sz="2400" dirty="0"/>
              <a:t>• Data storage and database systems</a:t>
            </a:r>
            <a:br>
              <a:rPr lang="en-US" sz="2400" dirty="0"/>
            </a:br>
            <a:r>
              <a:rPr lang="en-US" sz="2400" dirty="0"/>
              <a:t>• API and server hosting</a:t>
            </a:r>
            <a:br>
              <a:rPr lang="en-US" sz="2400" dirty="0"/>
            </a:br>
            <a:r>
              <a:rPr lang="en-US" sz="2400" dirty="0"/>
              <a:t>• Visualization and mapping tools</a:t>
            </a:r>
          </a:p>
        </p:txBody>
      </p:sp>
      <p:sp>
        <p:nvSpPr>
          <p:cNvPr id="5" name="Rectangle 4">
            <a:extLst>
              <a:ext uri="{FF2B5EF4-FFF2-40B4-BE49-F238E27FC236}">
                <a16:creationId xmlns:a16="http://schemas.microsoft.com/office/drawing/2014/main" id="{FBB6C1A5-E121-6EE0-C3D5-66D553774BDE}"/>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R26-IT-061</a:t>
            </a:r>
            <a:endParaRPr lang="en-US" dirty="0">
              <a:solidFill>
                <a:schemeClr val="tx1"/>
              </a:solidFill>
              <a:ea typeface="Cambria"/>
            </a:endParaRPr>
          </a:p>
        </p:txBody>
      </p:sp>
      <p:pic>
        <p:nvPicPr>
          <p:cNvPr id="4" name="Picture 3">
            <a:extLst>
              <a:ext uri="{FF2B5EF4-FFF2-40B4-BE49-F238E27FC236}">
                <a16:creationId xmlns:a16="http://schemas.microsoft.com/office/drawing/2014/main" id="{42694C97-43FA-33FE-4B64-D83084A52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55584" y="413648"/>
            <a:ext cx="3303016" cy="2204986"/>
          </a:xfrm>
          <a:prstGeom prst="rect">
            <a:avLst/>
          </a:prstGeom>
        </p:spPr>
      </p:pic>
      <p:pic>
        <p:nvPicPr>
          <p:cNvPr id="7" name="Picture 6">
            <a:extLst>
              <a:ext uri="{FF2B5EF4-FFF2-40B4-BE49-F238E27FC236}">
                <a16:creationId xmlns:a16="http://schemas.microsoft.com/office/drawing/2014/main" id="{025917FC-1B3B-63C6-DFB3-0D0C198CC3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8946" y="3799506"/>
            <a:ext cx="3934206" cy="2346800"/>
          </a:xfrm>
          <a:prstGeom prst="rect">
            <a:avLst/>
          </a:prstGeom>
        </p:spPr>
      </p:pic>
    </p:spTree>
    <p:extLst>
      <p:ext uri="{BB962C8B-B14F-4D97-AF65-F5344CB8AC3E}">
        <p14:creationId xmlns:p14="http://schemas.microsoft.com/office/powerpoint/2010/main" val="23960812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ECE79-3A1E-98BF-5DAD-9D3BEF44B30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8E7C33-B3BF-382F-C7B8-B151BFFC90FA}"/>
              </a:ext>
            </a:extLst>
          </p:cNvPr>
          <p:cNvSpPr txBox="1"/>
          <p:nvPr/>
        </p:nvSpPr>
        <p:spPr>
          <a:xfrm>
            <a:off x="564933" y="386030"/>
            <a:ext cx="10951368"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Revenue / Cost Recovery (Pricing Model)</a:t>
            </a:r>
          </a:p>
          <a:p>
            <a:r>
              <a:rPr lang="en-US" sz="2800" dirty="0"/>
              <a:t>• Government health system implementation projects</a:t>
            </a:r>
            <a:br>
              <a:rPr lang="en-US" sz="2800" dirty="0"/>
            </a:br>
            <a:r>
              <a:rPr lang="en-US" sz="2800" dirty="0"/>
              <a:t>• Licensing of the dengue prediction analytics platform</a:t>
            </a:r>
            <a:br>
              <a:rPr lang="en-US" sz="2800" dirty="0"/>
            </a:br>
            <a:r>
              <a:rPr lang="en-US" sz="2800" dirty="0"/>
              <a:t>• Public health data analytics consulting services</a:t>
            </a:r>
            <a:br>
              <a:rPr lang="en-US" sz="2800" dirty="0"/>
            </a:br>
            <a:r>
              <a:rPr lang="en-US" sz="2800" dirty="0"/>
              <a:t>• Subscription-based analytics dashboards for health organizations</a:t>
            </a:r>
          </a:p>
          <a:p>
            <a:endParaRPr lang="en-US" sz="2800" dirty="0"/>
          </a:p>
          <a:p>
            <a:r>
              <a:rPr lang="en-US" sz="2800" b="1" dirty="0"/>
              <a:t>Commercial Value</a:t>
            </a:r>
          </a:p>
          <a:p>
            <a:r>
              <a:rPr lang="en-US" sz="2800" dirty="0"/>
              <a:t>This system can serve as an </a:t>
            </a:r>
            <a:r>
              <a:rPr lang="en-US" sz="2800" b="1" dirty="0"/>
              <a:t>AI-based public health decision support platform</a:t>
            </a:r>
            <a:r>
              <a:rPr lang="en-US" sz="2800" dirty="0"/>
              <a:t> that helps authorities detect dengue outbreaks early and implement preventive measures, reducing public health risks and improving disease surveillance efficiency.</a:t>
            </a:r>
          </a:p>
          <a:p>
            <a:endParaRPr lang="en-US" sz="2800" dirty="0"/>
          </a:p>
        </p:txBody>
      </p:sp>
      <p:sp>
        <p:nvSpPr>
          <p:cNvPr id="5" name="Rectangle 4">
            <a:extLst>
              <a:ext uri="{FF2B5EF4-FFF2-40B4-BE49-F238E27FC236}">
                <a16:creationId xmlns:a16="http://schemas.microsoft.com/office/drawing/2014/main" id="{53818D3C-31DE-0DE4-0BF2-28F879C70332}"/>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R26-IT-061</a:t>
            </a:r>
            <a:endParaRPr lang="en-US" dirty="0">
              <a:solidFill>
                <a:schemeClr val="tx1"/>
              </a:solidFill>
              <a:ea typeface="Cambria"/>
            </a:endParaRPr>
          </a:p>
        </p:txBody>
      </p:sp>
      <p:pic>
        <p:nvPicPr>
          <p:cNvPr id="4" name="Picture 3">
            <a:extLst>
              <a:ext uri="{FF2B5EF4-FFF2-40B4-BE49-F238E27FC236}">
                <a16:creationId xmlns:a16="http://schemas.microsoft.com/office/drawing/2014/main" id="{E56E60A7-C9C9-4A20-FB17-C5FF19EC0D24}"/>
              </a:ext>
            </a:extLst>
          </p:cNvPr>
          <p:cNvPicPr>
            <a:picLocks noChangeAspect="1"/>
          </p:cNvPicPr>
          <p:nvPr/>
        </p:nvPicPr>
        <p:blipFill>
          <a:blip r:embed="rId2">
            <a:extLst>
              <a:ext uri="{28A0092B-C50C-407E-A947-70E740481C1C}">
                <a14:useLocalDpi xmlns:a14="http://schemas.microsoft.com/office/drawing/2010/main" val="0"/>
              </a:ext>
            </a:extLst>
          </a:blip>
          <a:srcRect l="21555" t="12877" r="23708" b="40807"/>
          <a:stretch>
            <a:fillRect/>
          </a:stretch>
        </p:blipFill>
        <p:spPr>
          <a:xfrm>
            <a:off x="7372951" y="4904706"/>
            <a:ext cx="1876926" cy="1588168"/>
          </a:xfrm>
          <a:prstGeom prst="rect">
            <a:avLst/>
          </a:prstGeom>
        </p:spPr>
      </p:pic>
    </p:spTree>
    <p:extLst>
      <p:ext uri="{BB962C8B-B14F-4D97-AF65-F5344CB8AC3E}">
        <p14:creationId xmlns:p14="http://schemas.microsoft.com/office/powerpoint/2010/main" val="13008659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0C4F6-DF61-590E-19C9-B6E1A9E72B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E14F0BA-A32B-6FEE-0810-1A3D77D6A83D}"/>
              </a:ext>
            </a:extLst>
          </p:cNvPr>
          <p:cNvSpPr txBox="1"/>
          <p:nvPr/>
        </p:nvSpPr>
        <p:spPr>
          <a:xfrm>
            <a:off x="2804160" y="84278"/>
            <a:ext cx="658368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t>Work Breakdown Structure</a:t>
            </a:r>
          </a:p>
        </p:txBody>
      </p:sp>
      <p:sp>
        <p:nvSpPr>
          <p:cNvPr id="5" name="Rectangle 4">
            <a:extLst>
              <a:ext uri="{FF2B5EF4-FFF2-40B4-BE49-F238E27FC236}">
                <a16:creationId xmlns:a16="http://schemas.microsoft.com/office/drawing/2014/main" id="{8A595637-3EE3-7EFC-3422-AC82B36BDF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R26-IT-061</a:t>
            </a:r>
            <a:endParaRPr lang="en-US" dirty="0">
              <a:solidFill>
                <a:schemeClr val="tx1"/>
              </a:solidFill>
              <a:ea typeface="Cambria"/>
            </a:endParaRPr>
          </a:p>
        </p:txBody>
      </p:sp>
      <p:pic>
        <p:nvPicPr>
          <p:cNvPr id="4" name="Picture 3">
            <a:extLst>
              <a:ext uri="{FF2B5EF4-FFF2-40B4-BE49-F238E27FC236}">
                <a16:creationId xmlns:a16="http://schemas.microsoft.com/office/drawing/2014/main" id="{7D3CAA64-3FD7-C8F3-A50B-D42B5AC6C3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6668" y="669053"/>
            <a:ext cx="8558664" cy="5705776"/>
          </a:xfrm>
          <a:prstGeom prst="rect">
            <a:avLst/>
          </a:prstGeom>
        </p:spPr>
      </p:pic>
    </p:spTree>
    <p:extLst>
      <p:ext uri="{BB962C8B-B14F-4D97-AF65-F5344CB8AC3E}">
        <p14:creationId xmlns:p14="http://schemas.microsoft.com/office/powerpoint/2010/main" val="12576950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B89B-86AA-F2B1-3BBD-3CDFC493EC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D14A4F-1D35-2C80-02DE-4E0BD47B4B54}"/>
              </a:ext>
            </a:extLst>
          </p:cNvPr>
          <p:cNvSpPr txBox="1"/>
          <p:nvPr/>
        </p:nvSpPr>
        <p:spPr>
          <a:xfrm>
            <a:off x="2804160" y="84278"/>
            <a:ext cx="658368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t>Gantt Chart</a:t>
            </a:r>
          </a:p>
        </p:txBody>
      </p:sp>
      <p:sp>
        <p:nvSpPr>
          <p:cNvPr id="5" name="Rectangle 4">
            <a:extLst>
              <a:ext uri="{FF2B5EF4-FFF2-40B4-BE49-F238E27FC236}">
                <a16:creationId xmlns:a16="http://schemas.microsoft.com/office/drawing/2014/main" id="{DDE6C61E-D206-4CE6-6555-919D65C9FDD9}"/>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R26-IT-061</a:t>
            </a:r>
            <a:endParaRPr lang="en-US" dirty="0">
              <a:solidFill>
                <a:schemeClr val="tx1"/>
              </a:solidFill>
              <a:ea typeface="Cambria"/>
            </a:endParaRPr>
          </a:p>
        </p:txBody>
      </p:sp>
      <p:pic>
        <p:nvPicPr>
          <p:cNvPr id="4" name="Picture 3">
            <a:extLst>
              <a:ext uri="{FF2B5EF4-FFF2-40B4-BE49-F238E27FC236}">
                <a16:creationId xmlns:a16="http://schemas.microsoft.com/office/drawing/2014/main" id="{86FDA349-9DB3-9DE5-F65C-264AC9E444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6826" y="616217"/>
            <a:ext cx="8438348" cy="5625565"/>
          </a:xfrm>
          <a:prstGeom prst="rect">
            <a:avLst/>
          </a:prstGeom>
        </p:spPr>
      </p:pic>
    </p:spTree>
    <p:extLst>
      <p:ext uri="{BB962C8B-B14F-4D97-AF65-F5344CB8AC3E}">
        <p14:creationId xmlns:p14="http://schemas.microsoft.com/office/powerpoint/2010/main" val="16955376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BADEB34-F143-0AC8-D76D-4A3177B3E5FB}"/>
              </a:ext>
            </a:extLst>
          </p:cNvPr>
          <p:cNvSpPr>
            <a:spLocks noGrp="1"/>
          </p:cNvSpPr>
          <p:nvPr/>
        </p:nvSpPr>
        <p:spPr>
          <a:xfrm>
            <a:off x="1197864" y="2785522"/>
            <a:ext cx="3622247" cy="996696"/>
          </a:xfrm>
          <a:prstGeom prst="rect">
            <a:avLst/>
          </a:prstGeom>
        </p:spPr>
        <p:txBody>
          <a:bodyPr vert="horz" lIns="91440" tIns="45720" rIns="91440" bIns="45720" rtlCol="0" anchor="b">
            <a:normAutofit/>
          </a:bodyPr>
          <a:lstStyle>
            <a:lvl1pPr algn="l" defTabSz="914400" rtl="0" eaLnBrk="1" latinLnBrk="0" hangingPunct="1">
              <a:spcBef>
                <a:spcPct val="0"/>
              </a:spcBef>
              <a:buNone/>
              <a:defRPr sz="2000" b="1" kern="1200">
                <a:solidFill>
                  <a:schemeClr val="tx1"/>
                </a:solidFill>
                <a:latin typeface="Adobe Devanagari" pitchFamily="18" charset="0"/>
                <a:ea typeface="+mj-ea"/>
                <a:cs typeface="Adobe Devanagari" pitchFamily="18" charset="0"/>
              </a:defRPr>
            </a:lvl1pPr>
          </a:lstStyle>
          <a:p>
            <a:r>
              <a:rPr lang="en-US" sz="4800" b="1" dirty="0">
                <a:solidFill>
                  <a:schemeClr val="tx1">
                    <a:lumMod val="75000"/>
                    <a:lumOff val="25000"/>
                  </a:schemeClr>
                </a:solidFill>
                <a:latin typeface="+mn-lt"/>
              </a:rPr>
              <a:t>Thank You!</a:t>
            </a:r>
            <a:endParaRPr lang="en-US" sz="4800" dirty="0">
              <a:solidFill>
                <a:schemeClr val="tx1">
                  <a:lumMod val="75000"/>
                  <a:lumOff val="25000"/>
                </a:schemeClr>
              </a:solidFill>
              <a:latin typeface="+mn-lt"/>
            </a:endParaRPr>
          </a:p>
        </p:txBody>
      </p:sp>
      <p:sp>
        <p:nvSpPr>
          <p:cNvPr id="2" name="Rectangle 1">
            <a:extLst>
              <a:ext uri="{FF2B5EF4-FFF2-40B4-BE49-F238E27FC236}">
                <a16:creationId xmlns:a16="http://schemas.microsoft.com/office/drawing/2014/main" id="{D9704D3A-AFF4-5845-8EF5-54E06810D8BA}"/>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R26-IT-061</a:t>
            </a:r>
            <a:endParaRPr lang="en-US" dirty="0">
              <a:solidFill>
                <a:schemeClr val="tx1"/>
              </a:solidFill>
              <a:ea typeface="Cambria"/>
            </a:endParaRPr>
          </a:p>
        </p:txBody>
      </p:sp>
      <p:pic>
        <p:nvPicPr>
          <p:cNvPr id="6" name="Picture 5">
            <a:extLst>
              <a:ext uri="{FF2B5EF4-FFF2-40B4-BE49-F238E27FC236}">
                <a16:creationId xmlns:a16="http://schemas.microsoft.com/office/drawing/2014/main" id="{A6A9AF48-4861-8031-7948-D6C9E3A222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2330" y="1182322"/>
            <a:ext cx="6390550" cy="4493355"/>
          </a:xfrm>
          <a:prstGeom prst="rect">
            <a:avLst/>
          </a:prstGeom>
        </p:spPr>
      </p:pic>
    </p:spTree>
    <p:extLst>
      <p:ext uri="{BB962C8B-B14F-4D97-AF65-F5344CB8AC3E}">
        <p14:creationId xmlns:p14="http://schemas.microsoft.com/office/powerpoint/2010/main" val="2289987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a48ffe4-904f-4768-bc85-3c9ca8e9f3cf">
      <Terms xmlns="http://schemas.microsoft.com/office/infopath/2007/PartnerControls"/>
    </lcf76f155ced4ddcb4097134ff3c332f>
    <TaxCatchAll xmlns="db72c12f-87a4-44ab-bbc5-4cc8306b158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FDB2B50B239E24A8F82F0D49E394E58" ma:contentTypeVersion="13" ma:contentTypeDescription="Create a new document." ma:contentTypeScope="" ma:versionID="c3d4b1adbb03c06b422352b6ccea2af3">
  <xsd:schema xmlns:xsd="http://www.w3.org/2001/XMLSchema" xmlns:xs="http://www.w3.org/2001/XMLSchema" xmlns:p="http://schemas.microsoft.com/office/2006/metadata/properties" xmlns:ns2="8a48ffe4-904f-4768-bc85-3c9ca8e9f3cf" xmlns:ns3="db72c12f-87a4-44ab-bbc5-4cc8306b158a" targetNamespace="http://schemas.microsoft.com/office/2006/metadata/properties" ma:root="true" ma:fieldsID="9f5211e28f6927930d2394165b3e87e7" ns2:_="" ns3:_="">
    <xsd:import namespace="8a48ffe4-904f-4768-bc85-3c9ca8e9f3cf"/>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48ffe4-904f-4768-bc85-3c9ca8e9f3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B7A000-DA15-48C2-B3B3-5FAE4A657151}">
  <ds:schemaRefs>
    <ds:schemaRef ds:uri="41006854-1d0d-454e-adae-98504d4e4d66"/>
    <ds:schemaRef ds:uri="e6242bf1-7d2e-4509-94a6-f48364d56a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8a48ffe4-904f-4768-bc85-3c9ca8e9f3cf"/>
    <ds:schemaRef ds:uri="db72c12f-87a4-44ab-bbc5-4cc8306b158a"/>
  </ds:schemaRefs>
</ds:datastoreItem>
</file>

<file path=customXml/itemProps2.xml><?xml version="1.0" encoding="utf-8"?>
<ds:datastoreItem xmlns:ds="http://schemas.openxmlformats.org/officeDocument/2006/customXml" ds:itemID="{2363A713-3836-4CB1-8AF7-22E0F99FC503}">
  <ds:schemaRefs>
    <ds:schemaRef ds:uri="http://schemas.microsoft.com/sharepoint/v3/contenttype/forms"/>
  </ds:schemaRefs>
</ds:datastoreItem>
</file>

<file path=customXml/itemProps3.xml><?xml version="1.0" encoding="utf-8"?>
<ds:datastoreItem xmlns:ds="http://schemas.openxmlformats.org/officeDocument/2006/customXml" ds:itemID="{9DCCBDC6-6642-4834-A86F-2D034E0B53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48ffe4-904f-4768-bc85-3c9ca8e9f3cf"/>
    <ds:schemaRef ds:uri="db72c12f-87a4-44ab-bbc5-4cc8306b15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731</TotalTime>
  <Words>3392</Words>
  <Application>Microsoft Office PowerPoint</Application>
  <PresentationFormat>Widescreen</PresentationFormat>
  <Paragraphs>205</Paragraphs>
  <Slides>58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Aptos</vt:lpstr>
      <vt:lpstr>Aptos Display</vt:lpstr>
      <vt:lpstr>Arial</vt:lpstr>
      <vt:lpstr>Calibri</vt:lpstr>
      <vt:lpstr>Cambria</vt:lpstr>
      <vt:lpstr>Verdana Pro</vt:lpstr>
      <vt:lpstr>Office Theme</vt:lpstr>
      <vt:lpstr>Machine Learning-Based Dengue Outbreak Prediction System for Colombo District</vt:lpstr>
      <vt:lpstr>PowerPoint Presentation</vt:lpstr>
      <vt:lpstr>PowerPoint Presentation</vt:lpstr>
      <vt:lpstr>PowerPoint Presentation</vt:lpstr>
      <vt:lpstr>PowerPoint Presentation</vt:lpstr>
      <vt:lpstr>PowerPoint Presentation</vt:lpstr>
      <vt:lpstr> Problem  Dengue Outbreak Challenge  Dengue is a major public health problem in Sri Lanka. Colombo District records high dengue incidence. Current dengue monitoring mainly uses retrospective analysis. Problem Existing systems cannot predict outbreaks early and mainly analyze past trends. </vt:lpstr>
      <vt:lpstr>PowerPoint Presentation</vt:lpstr>
      <vt:lpstr>PowerPoint Presentation</vt:lpstr>
      <vt:lpstr>PowerPoint Presentation</vt:lpstr>
      <vt:lpstr>System Diagram</vt:lpstr>
      <vt:lpstr>PowerPoint Presentation</vt:lpstr>
      <vt:lpstr>PowerPoint Presentation</vt:lpstr>
      <vt:lpstr>Research Objective  To design, analyze, and optimize a reliable, spatially and temporally consistent dataset that accurately represents dengue outbreaks and climate-driven transmission dynamics for machine learning–based prediction in Colombo District.  Sub-Objectives  • Collect dengue case data and climate data. • Perform exploratory data analysis (EDA). • Clean and preprocess datasets. • Engineer biologically meaningful temporal features. • Produce optimized machine-learning-ready datasets.</vt:lpstr>
      <vt:lpstr>Novelty  This component treats data engineering as a standalone research problem rather than a routine preprocessing step, exploring multiple preprocessing, normalization, feature engineering, and feature selection strategies to determine how each affects dengue outbreak prediction performance.</vt:lpstr>
      <vt:lpstr>  Research Methodology  Data Collection • Historical dengue case data from National Dengue Control Unit • Climate data from Department of Meteorology  Exploratory Data Analysis (EDA) Analyze datasets to identify: Seasonal dengue patterns Data quality issues Climate–dengue relationships  Data Preprocessing • Handle missing values and inconsistencies • Detect and remove outliers • Normalize and scale climate variables</vt:lpstr>
      <vt:lpstr>Feature Engineering Generate biologically informed time-lag features (1–4 weeks) based on mosquito life cycle dynamics.  Feature Selection Apply techniques such as: Correlation analysis Mutual information Model-based feature importance to identify the most influential climate and temporal feature</vt:lpstr>
      <vt:lpstr>Technologies, Validation &amp; Data  Technologies Used  Data Processing • Python • Pandas • NumPy  Feature Engineering &amp; Analysis • Scikit-learn preprocessing tools • Statistical analysis libraries  Validation Strategy • Compare prediction performance across multiple dataset variants. • Evaluate the influence of different preprocessing strategies. • Analyze feature importance to identify critical climate variables.</vt:lpstr>
      <vt:lpstr>Data Availability • National Dengue Control Unit (Sri Lanka) • Department of Meteorology (Sri Lanka)   Security &amp; Ethical Considerations • Use publicly available government datasets • Ensure responsible handling of epidemiological data • Maintain ethical standards in health data research.</vt:lpstr>
      <vt:lpstr>PowerPoint Presentation</vt:lpstr>
      <vt:lpstr>PowerPoint Presentation</vt:lpstr>
      <vt:lpstr>PowerPoint Presentation</vt:lpstr>
      <vt:lpstr>PowerPoint Presentation</vt:lpstr>
      <vt:lpstr>PowerPoint Presentation</vt:lpstr>
      <vt:lpstr>Research Objective To design an advanced analytics and explainable dashboard that transforms machine learning prediction outputs into interpretable and actionable insights for dengue outbreak monitoring in Colombo District.  Sub-Objectives • Perform data analysis of dengue cases and climate variables to identify trends and relationships. • Develop temporal trend visualizations and climate–dengue correlation analysis. • Integrate machine learning prediction outputs into an interactive analytics dashboard. • Apply Explainable AI techniques such as Feature Importance and SHAP to explain predictions. • Develop spatial visualization tools to identify high-risk dengue regions.</vt:lpstr>
      <vt:lpstr>Novelty  Integrates data analysis, Explainable AI, and spatial visualization within a single analytical platform. Converts machine learning predictions into transparent and interpretable insights for public health decision-makers. Enhances practical usability of dengue prediction systems through interactive dashboards and spatial intelligence.</vt:lpstr>
      <vt:lpstr>Research Methodology   Data Analysis Methods The component focuses on advanced data analysis techniques to identify dengue risk patterns.  1. Exploratory Data Analysis (EDA) • Identify dengue outbreak trends and seasonality in Colombo District.  2. Temporal Trend Analysis • Analyze changes in dengue cases across time periods.  3. Climate–Dengue Correlation Analysis • Examine relationships between dengue cases and climate variables such as:  </vt:lpstr>
      <vt:lpstr>4. Spatial Pattern Analysis • Identify geographic dengue risk patterns across MOH areas in Colombo District.  5. Explainable AI Analysis • Feature Importance analysis • SHAP explanations for individual predictions  </vt:lpstr>
      <vt:lpstr>Technologies, Validation &amp; Data  Technologies Used  Data Analysis • Python • Pandas • NumPy  Explainable AI • SHAP  Dashboard Development • React • Plotly / Chart.js  Spatial Visualization (GIS Mapping Tools ) • Leaflet.js / Mapbox</vt:lpstr>
      <vt:lpstr>Validation Strategy • Compare predicted dengue risk levels with historical dengue case data. • Evaluate spatial accuracy of dengue risk maps. • Assess the interpretability of Explainable AI outputs.  Data Availability Data used in this component includes: • Historical dengue case data from National Dengue Control Unit (Sri Lanka) • Climate data from Department of Meteorology (Sri Lanka)  Security &amp; Ethical Considerations • Use publicly available government datasets • Ensure secure handling of epidemiological data • Maintain responsible use of public health information.</vt:lpstr>
      <vt:lpstr>Dependencies and Common Components  ML Prediction Module • Provides dengue outbreak risk predictions  Central Database • Stores dengue case data and weather data  Data Processing Layer • Python-based preprocessing and feature extraction  Frontend Dashboard • React-based interactive interface  GIS Tools • Leaflet.js / Mapbox for dengue risk maps</vt:lpstr>
      <vt:lpstr>System Overview</vt:lpstr>
      <vt:lpstr>IT22281982 | Adithya A.A.H Knowledge-Augmented NLP Framework for Dengue Intelligence</vt:lpstr>
      <vt:lpstr>Problem Definition  Public health decision makers require reliable and interpretable information about dengue outbreaks, but existing surveillance systems mainly focus on numerical prediction outputs.  These systems lack mechanisms to extract knowledge from textual sources such as: - public health guidelines - research publications - news reports - public advisories  </vt:lpstr>
      <vt:lpstr>Research Objective To design and implement a Knowledge-Augmented Natural Language Processing (NLP) framework that integrates transformer-based intelligence with a dynamic dengue knowledge base to support evidence-based risk communication and automated surveillance reporting.  Sub-Objectives • Build a multi-modal dengue knowledge base using authoritative textual sources. • Store semantic representations of dengue knowledge in a vector database. • Construct a dengue knowledge graph linking symptoms, environmental triggers, mosquito breeding patterns, and geographic risk zones. • Implement transformer-based NLP models for domain-specific knowledge extraction. </vt:lpstr>
      <vt:lpstr>Novelty  Unlike traditional rule-based chatbots or purely generative models, this component introduces a hybrid intelligence layer that integrates:  • Transformer-based language models • Vector-based semantic retrieval • Structured knowledge graphs  This hybrid approach produces accurate, explainable, and verifiable dengue intelligence, bridging the gap between numerical outbreak predictions and human-interpretable health knowledge.</vt:lpstr>
      <vt:lpstr>Research Methodology  Knowledge Base Construction Collect and curate dengue-related textual data from:  • National health guidelines • Clinical research publications • Public health advisories • Local news reports  Semantic Representation Convert textual knowledge into vector embeddings and store them in a vector database to support similarity-based retrieval.  Vector Database Options:  • ChromaDB • Pinecone</vt:lpstr>
      <vt:lpstr>Knowledge Graph Development  Design a Dengue Knowledge Graph using graph databases to represent relationships between:  • Dengue symptoms • Mosquito breeding conditions • Environmental triggers • Geographic risk zones  Graph database technology:  • Neo4j</vt:lpstr>
      <vt:lpstr>Technologies, Validation &amp; Data  Technologies Used  Natural Language Processing • BERT • DistilBERT • GPT-based modelsa  Knowledge Storage • Vector Database (ChromaDB / Pinecone) • Graph Database (Neo4j)  NLP Processing • Python • HuggingFace Transformers</vt:lpstr>
      <vt:lpstr>Retrieval-Augmented Generation (RAG)  Implement RAG architecture that combines: • transformer language models • vector knowledge retrieval  This ensures responses are grounded in verified dengue knowledge sources, reducing hallucinations and misinformation.  Data Sources • National health guidelines • Dengue research articles • Public advisories • Local news sources related to dengue outbreaks  Security &amp; Ethics • Use trusted public health sources • Prevent medical misinformation • Ensure responsible dissemination of health information.</vt:lpstr>
      <vt:lpstr>Implementation Overview System Role The NLP component provides knowledge-based intelligence and automated insights that complement numerical outbreak predictions.  Key Functionalities  • Develop automated NLP pipelines to extract emerging dengue trends from news and public sources. • Update a surveillance knowledge database with extracted insights. • Perform cross-database synthesis by linking: - NLP-derived insights - Historical dengue case data - Climate data  Output  The system produces:  • Evidence-based dengue intelligence • Automated surveillance reports • Structured health bulletins and situational reports</vt:lpstr>
      <vt:lpstr>System Overview </vt:lpstr>
      <vt:lpstr>IT22214034 | Keenavinna K.A.I.U Machine Learning–Based Dengue Outbreak Prediction</vt:lpstr>
      <vt:lpstr>Problem Definition  Accurate dengue outbreak prediction requires models that can capture complex temporal relationships between climate variables and dengue case patterns.  However, many existing dengue prediction studies rely on single algorithms or national-level datasets, which may not effectively represent localized outbreak dynamics.</vt:lpstr>
      <vt:lpstr>Research Objective  To develop, evaluate, and optimize machine learning models capable of predicting dengue outbreak risk levels and outbreak probabilities in advance using historical dengue surveillance and climate data from Colombo District.  Sub-Objectives  • Formulate dengue outbreak prediction as both             - A time-based classification problem (Low / Medium / High risk)             - A probabilistic forecasting task for outbreak likelihood.  • Analyze temporal dengue patterns and seasonality.  • Train and compare multiple machine learning and deep learning models.</vt:lpstr>
      <vt:lpstr>Novelty  This component isolates and studies the temporal outbreak prediction problem, focusing on when dengue risk will increase rather than combining spatial and temporal modeling simultaneously.  It conducts a structured comparison between classical machine learning models and deep learning time-series models using localized Sri Lankan data, providing a robust early warning mechanism for dengue outbreaks.  This component isolates and studies the temporal outbreak prediction problem, focusing on when dengue risk will increase rather than combining spatial and temporal modeling simultaneously.  It conducts a structured comparison between classical machine learning models and deep learning time-series models using localized Sri Lankan data, providing a robust early warning mechanism for dengue outbreaks.</vt:lpstr>
      <vt:lpstr>   Research Methodology  Temporal Data Analysis • Perform exploratory analysis to identify seasonality and outbreak cycles in dengue cases.  Machine Learning Model Development Train and compare multiple models: • Random Forest • XGBoost • LSTM (Long Short-Term Memory)  Time-Series Validation Strategy Apply time-series-aware data splitting techniques: • Walk-forward validation • Rolling window validation</vt:lpstr>
      <vt:lpstr>Technologies, Validation &amp; Data  Technologies Used  Machine Learning  • Python • Scikit-learn • XGBoost • TensorFlow / PyTorch (for LSTM)  Data Processing • Pandas • NumPy</vt:lpstr>
      <vt:lpstr>Hyperparameter Optimization  Model performance is optimized using:  • Grid Search • Random Search  Model Evaluation Metrics  Models are evaluated using: • Accuracy • Recall • F1-Score • ROC-AUC • RMSE</vt:lpstr>
      <vt:lpstr>  Implementation Overview  System Role The Machine Learning module generates early dengue outbreak predictions based on climate and dengue surveillance data.  Forecasting Strategy • Analyze prediction reliability across different forecast horizons (1–4 weeks). • Identify the most stable and accurate prediction model.  Dependencies This component depends on: • Data Engineering Module (clean dataset) • Central Database • Climate and dengue datasets  Output The module produces: • Dengue outbreak risk classification (Low / Medium / High) • Probabilistic outbreak predictions • Optimized model used by the analytics dashboard for visualization</vt:lpstr>
      <vt:lpstr>System Overview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Jayaweera M.D it20618254</dc:creator>
  <cp:lastModifiedBy>HETTIARACHCHI A T it22165848</cp:lastModifiedBy>
  <cp:revision>17</cp:revision>
  <dcterms:created xsi:type="dcterms:W3CDTF">2023-08-07T18:18:22Z</dcterms:created>
  <dcterms:modified xsi:type="dcterms:W3CDTF">2026-03-16T03:54:30Z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0x0101002D5D4D2256EBCC4C929BC5BAFAEE2723</vt:lpwstr>
  </property>
</Properties>
</file>
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71" r:id="rId3"/>
    <p:sldId id="273" r:id="rId4"/>
    <p:sldId id="274" r:id="rId5"/>
    <p:sldId id="269" r:id="rId6"/>
    <p:sldId id="257" r:id="rId7"/>
    <p:sldId id="258" r:id="rId8"/>
    <p:sldId id="286" r:id="rId9"/>
    <p:sldId id="287" r:id="rId10"/>
    <p:sldId id="260" r:id="rId11"/>
    <p:sldId id="279" r:id="rId12"/>
    <p:sldId id="276" r:id="rId13"/>
    <p:sldId id="280" r:id="rId14"/>
    <p:sldId id="277" r:id="rId15"/>
    <p:sldId id="282" r:id="rId16"/>
    <p:sldId id="278" r:id="rId17"/>
    <p:sldId id="281" r:id="rId18"/>
    <p:sldId id="263" r:id="rId19"/>
    <p:sldId id="264" r:id="rId20"/>
    <p:sldId id="265" r:id="rId21"/>
    <p:sldId id="285" r:id="rId22"/>
    <p:sldId id="266" r:id="rId23"/>
    <p:sldId id="267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cer" initials="a" lastIdx="1" clrIdx="0">
    <p:extLst>
      <p:ext uri="{19B8F6BF-5375-455C-9EA6-DF929625EA0E}">
        <p15:presenceInfo xmlns:p15="http://schemas.microsoft.com/office/powerpoint/2012/main" userId="ac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0D6D"/>
    <a:srgbClr val="050F0F"/>
    <a:srgbClr val="141BA6"/>
    <a:srgbClr val="ED8013"/>
    <a:srgbClr val="008080"/>
    <a:srgbClr val="1ABCBC"/>
    <a:srgbClr val="1A0C6E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76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1152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3180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FC63A5-364E-4456-BF6F-C9E5CC493A1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3434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324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949338" y="745031"/>
            <a:ext cx="6050219" cy="28623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0">
                <a:solidFill>
                  <a:srgbClr val="525B5B"/>
                </a:solidFill>
                <a:latin typeface="Aptos"/>
              </a:defRPr>
            </a:pPr>
            <a:r>
              <a:rPr lang="en-US" sz="3600" dirty="0">
                <a:solidFill>
                  <a:srgbClr val="120D6D"/>
                </a:solidFill>
                <a:latin typeface="Aptos"/>
              </a:rPr>
              <a:t>An AI-Based Dengue Outbreak Prediction and Intervention Optimization System for the Colombo District, Sri Lanka</a:t>
            </a:r>
            <a:endParaRPr sz="3600" b="1" dirty="0">
              <a:solidFill>
                <a:srgbClr val="120D6D"/>
              </a:solidFill>
              <a:latin typeface="Canva Sans" panose="020B060402020202020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26369" y="4324958"/>
            <a:ext cx="5973188" cy="4571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7BDC18-83EB-95EC-61B4-8482DB75997E}"/>
              </a:ext>
            </a:extLst>
          </p:cNvPr>
          <p:cNvSpPr txBox="1"/>
          <p:nvPr/>
        </p:nvSpPr>
        <p:spPr>
          <a:xfrm>
            <a:off x="6536268" y="4606884"/>
            <a:ext cx="23862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Canva Sans" panose="020B0604020202020204"/>
                <a:ea typeface="Calibri" pitchFamily="34" charset="-122"/>
                <a:cs typeface="Calibri" pitchFamily="34" charset="-120"/>
              </a:rPr>
              <a:t>Project ID: R26-IT-061</a:t>
            </a:r>
            <a:endParaRPr lang="en-US" sz="1800" dirty="0">
              <a:solidFill>
                <a:schemeClr val="accent1">
                  <a:lumMod val="50000"/>
                </a:schemeClr>
              </a:solidFill>
              <a:latin typeface="Canva Sans" panose="020B0604020202020204"/>
            </a:endParaRP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C5675921-CF3D-3678-4A8B-D92B66074899}"/>
              </a:ext>
            </a:extLst>
          </p:cNvPr>
          <p:cNvSpPr txBox="1"/>
          <p:nvPr/>
        </p:nvSpPr>
        <p:spPr>
          <a:xfrm>
            <a:off x="11151" y="4882648"/>
            <a:ext cx="9144000" cy="298835"/>
          </a:xfrm>
          <a:prstGeom prst="rect">
            <a:avLst/>
          </a:prstGeom>
        </p:spPr>
        <p:txBody>
          <a:bodyPr lIns="25400" tIns="25400" rIns="25400" bIns="25400" rtlCol="0" anchor="ctr"/>
          <a:lstStyle/>
          <a:p>
            <a:pPr>
              <a:lnSpc>
                <a:spcPts val="1330"/>
              </a:lnSpc>
            </a:pPr>
            <a:r>
              <a:rPr lang="en-US" sz="94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R26 - IT - 085 | Mobile App for Drug Addiction Recovery                                                                                                                                              SLIIT  |  IT4010-2026</a:t>
            </a: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253B77C4-8D8F-F16D-E0BA-79B9A6996894}"/>
              </a:ext>
            </a:extLst>
          </p:cNvPr>
          <p:cNvSpPr txBox="1"/>
          <p:nvPr/>
        </p:nvSpPr>
        <p:spPr>
          <a:xfrm>
            <a:off x="0" y="4856857"/>
            <a:ext cx="9144000" cy="298835"/>
          </a:xfrm>
          <a:prstGeom prst="rect">
            <a:avLst/>
          </a:prstGeom>
        </p:spPr>
        <p:txBody>
          <a:bodyPr lIns="25400" tIns="25400" rIns="25400" bIns="25400" rtlCol="0" anchor="ctr"/>
          <a:lstStyle/>
          <a:p>
            <a:pPr>
              <a:lnSpc>
                <a:spcPts val="1330"/>
              </a:lnSpc>
            </a:pPr>
            <a:r>
              <a:rPr lang="en-US" sz="94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  |  IT4010-2026</a:t>
            </a:r>
          </a:p>
        </p:txBody>
      </p:sp>
      <p:grpSp>
        <p:nvGrpSpPr>
          <p:cNvPr id="17" name="Group 6">
            <a:extLst>
              <a:ext uri="{FF2B5EF4-FFF2-40B4-BE49-F238E27FC236}">
                <a16:creationId xmlns:a16="http://schemas.microsoft.com/office/drawing/2014/main" id="{B77B5F3B-966F-99A6-5F8A-B48DE3E6B533}"/>
              </a:ext>
            </a:extLst>
          </p:cNvPr>
          <p:cNvGrpSpPr/>
          <p:nvPr/>
        </p:nvGrpSpPr>
        <p:grpSpPr>
          <a:xfrm>
            <a:off x="-14868" y="5017164"/>
            <a:ext cx="9144000" cy="177993"/>
            <a:chOff x="0" y="-38100"/>
            <a:chExt cx="4816593" cy="157410"/>
          </a:xfrm>
        </p:grpSpPr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60F58879-B25F-9E7E-5DFC-51782924CE3A}"/>
                </a:ext>
              </a:extLst>
            </p:cNvPr>
            <p:cNvSpPr/>
            <p:nvPr/>
          </p:nvSpPr>
          <p:spPr>
            <a:xfrm>
              <a:off x="0" y="-13098"/>
              <a:ext cx="4816592" cy="119310"/>
            </a:xfrm>
            <a:custGeom>
              <a:avLst/>
              <a:gdLst/>
              <a:ahLst/>
              <a:cxnLst/>
              <a:rect l="l" t="t" r="r" b="b"/>
              <a:pathLst>
                <a:path w="4816592" h="119310">
                  <a:moveTo>
                    <a:pt x="0" y="0"/>
                  </a:moveTo>
                  <a:lnTo>
                    <a:pt x="4816592" y="0"/>
                  </a:lnTo>
                  <a:lnTo>
                    <a:pt x="4816592" y="119310"/>
                  </a:lnTo>
                  <a:lnTo>
                    <a:pt x="0" y="11931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 sz="900" dirty="0"/>
            </a:p>
          </p:txBody>
        </p:sp>
        <p:sp>
          <p:nvSpPr>
            <p:cNvPr id="19" name="TextBox 8">
              <a:extLst>
                <a:ext uri="{FF2B5EF4-FFF2-40B4-BE49-F238E27FC236}">
                  <a16:creationId xmlns:a16="http://schemas.microsoft.com/office/drawing/2014/main" id="{6E9B1BFB-F0D8-FD56-2096-79C2AF7C0F9E}"/>
                </a:ext>
              </a:extLst>
            </p:cNvPr>
            <p:cNvSpPr txBox="1"/>
            <p:nvPr/>
          </p:nvSpPr>
          <p:spPr>
            <a:xfrm>
              <a:off x="0" y="-38100"/>
              <a:ext cx="4816593" cy="15741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>
                <a:lnSpc>
                  <a:spcPts val="1330"/>
                </a:lnSpc>
              </a:pPr>
              <a:endParaRPr lang="en-US" sz="94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E59D9E8D-0440-5435-92E2-AEFE41948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24" y="774446"/>
            <a:ext cx="2693963" cy="2693963"/>
          </a:xfrm>
          <a:prstGeom prst="rect">
            <a:avLst/>
          </a:prstGeom>
        </p:spPr>
      </p:pic>
      <p:sp>
        <p:nvSpPr>
          <p:cNvPr id="9" name="Freeform 7">
            <a:extLst>
              <a:ext uri="{FF2B5EF4-FFF2-40B4-BE49-F238E27FC236}">
                <a16:creationId xmlns:a16="http://schemas.microsoft.com/office/drawing/2014/main" id="{874256E8-11D0-F2CB-C12B-0CBC2D05994E}"/>
              </a:ext>
            </a:extLst>
          </p:cNvPr>
          <p:cNvSpPr/>
          <p:nvPr/>
        </p:nvSpPr>
        <p:spPr>
          <a:xfrm>
            <a:off x="2" y="-6411"/>
            <a:ext cx="9143998" cy="134911"/>
          </a:xfrm>
          <a:custGeom>
            <a:avLst/>
            <a:gdLst/>
            <a:ahLst/>
            <a:cxnLst/>
            <a:rect l="l" t="t" r="r" b="b"/>
            <a:pathLst>
              <a:path w="4816592" h="119310">
                <a:moveTo>
                  <a:pt x="0" y="0"/>
                </a:moveTo>
                <a:lnTo>
                  <a:pt x="4816592" y="0"/>
                </a:lnTo>
                <a:lnTo>
                  <a:pt x="4816592" y="119310"/>
                </a:lnTo>
                <a:lnTo>
                  <a:pt x="0" y="119310"/>
                </a:lnTo>
                <a:close/>
              </a:path>
            </a:pathLst>
          </a:custGeom>
          <a:solidFill>
            <a:srgbClr val="002060"/>
          </a:solidFill>
        </p:spPr>
        <p:txBody>
          <a:bodyPr/>
          <a:lstStyle/>
          <a:p>
            <a:endParaRPr lang="en-GB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2" grpId="0"/>
      <p:bldP spid="6" grpId="0"/>
      <p:bldP spid="16" grpId="0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4856857"/>
            <a:ext cx="9144000" cy="298835"/>
            <a:chOff x="0" y="-38100"/>
            <a:chExt cx="4816593" cy="157410"/>
          </a:xfrm>
        </p:grpSpPr>
        <p:sp>
          <p:nvSpPr>
            <p:cNvPr id="7" name="Freeform 7"/>
            <p:cNvSpPr/>
            <p:nvPr/>
          </p:nvSpPr>
          <p:spPr>
            <a:xfrm>
              <a:off x="0" y="-13098"/>
              <a:ext cx="4816592" cy="119310"/>
            </a:xfrm>
            <a:custGeom>
              <a:avLst/>
              <a:gdLst/>
              <a:ahLst/>
              <a:cxnLst/>
              <a:rect l="l" t="t" r="r" b="b"/>
              <a:pathLst>
                <a:path w="4816592" h="119310">
                  <a:moveTo>
                    <a:pt x="0" y="0"/>
                  </a:moveTo>
                  <a:lnTo>
                    <a:pt x="4816592" y="0"/>
                  </a:lnTo>
                  <a:lnTo>
                    <a:pt x="4816592" y="119310"/>
                  </a:lnTo>
                  <a:lnTo>
                    <a:pt x="0" y="119310"/>
                  </a:lnTo>
                  <a:close/>
                </a:path>
              </a:pathLst>
            </a:custGeom>
            <a:solidFill>
              <a:srgbClr val="120D6D"/>
            </a:solidFill>
            <a:ln>
              <a:solidFill>
                <a:srgbClr val="120D6D"/>
              </a:solidFill>
            </a:ln>
          </p:spPr>
          <p:txBody>
            <a:bodyPr/>
            <a:lstStyle/>
            <a:p>
              <a:endParaRPr lang="en-GB" sz="90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15741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>
                <a:lnSpc>
                  <a:spcPts val="1330"/>
                </a:lnSpc>
              </a:pPr>
              <a:endParaRPr lang="en-US" sz="94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>
                <a:lnSpc>
                  <a:spcPts val="1330"/>
                </a:lnSpc>
              </a:pPr>
              <a:r>
                <a:rPr lang="en-US" sz="800" b="1" dirty="0">
                  <a:solidFill>
                    <a:schemeClr val="bg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R26 - IT - 061 | </a:t>
              </a:r>
              <a:r>
                <a:rPr lang="en-US" sz="800" dirty="0">
                  <a:solidFill>
                    <a:schemeClr val="bg1"/>
                  </a:solidFill>
                  <a:latin typeface="Aptos"/>
                </a:rPr>
                <a:t>An AI-Based Dengue Outbreak Prediction and Intervention Optimization System for the Colombo District, Sri Lanka</a:t>
              </a:r>
              <a:endParaRPr lang="en-US" sz="800" b="1" dirty="0">
                <a:solidFill>
                  <a:schemeClr val="bg1"/>
                </a:solidFill>
                <a:latin typeface="Canva Sans" panose="020B0604020202020204" charset="0"/>
              </a:endParaRPr>
            </a:p>
            <a:p>
              <a:pPr>
                <a:lnSpc>
                  <a:spcPts val="1330"/>
                </a:lnSpc>
              </a:pPr>
              <a:r>
                <a:rPr lang="en-US" sz="949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                                                                                                                                                                                                                                                              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622588" y="9525"/>
            <a:ext cx="1869368" cy="73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723"/>
              </a:lnSpc>
            </a:pPr>
            <a:r>
              <a:rPr lang="en-US" sz="4850" dirty="0">
                <a:solidFill>
                  <a:srgbClr val="120D6D"/>
                </a:solidFill>
                <a:latin typeface="Canva Sans"/>
                <a:ea typeface="Canva Sans"/>
                <a:cs typeface="Canva Sans"/>
                <a:sym typeface="Canva Sans"/>
              </a:rPr>
              <a:t>Team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94190" y="2138338"/>
            <a:ext cx="3664977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65"/>
              </a:lnSpc>
            </a:pPr>
            <a:r>
              <a:rPr lang="en-US" sz="1750" dirty="0">
                <a:solidFill>
                  <a:srgbClr val="358580"/>
                </a:solidFill>
                <a:latin typeface="Canva Sans"/>
                <a:ea typeface="Canva Sans"/>
                <a:cs typeface="Canva Sans"/>
                <a:sym typeface="Canva Sans"/>
              </a:rPr>
              <a:t>Supervisor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04354" y="2433765"/>
            <a:ext cx="3421615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60"/>
              </a:lnSpc>
            </a:pPr>
            <a:r>
              <a:rPr lang="en-US" sz="2000" b="1" dirty="0">
                <a:solidFill>
                  <a:srgbClr val="35858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Ms. Shashika </a:t>
            </a:r>
            <a:r>
              <a:rPr lang="en-US" sz="2000" b="1" dirty="0" err="1">
                <a:solidFill>
                  <a:srgbClr val="35858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Lokuliyana</a:t>
            </a:r>
            <a:endParaRPr lang="en-US" sz="2000" b="1" dirty="0">
              <a:solidFill>
                <a:srgbClr val="35858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14350" y="4143946"/>
            <a:ext cx="1577340" cy="4737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47"/>
              </a:lnSpc>
            </a:pPr>
            <a:r>
              <a:rPr lang="en-US" sz="1400" dirty="0">
                <a:solidFill>
                  <a:srgbClr val="358580"/>
                </a:solidFill>
                <a:latin typeface="Canva Sans"/>
                <a:ea typeface="Canva Sans"/>
                <a:cs typeface="Canva Sans"/>
                <a:sym typeface="Canva Sans"/>
              </a:rPr>
              <a:t>Wickramarachchi T.T.</a:t>
            </a:r>
          </a:p>
          <a:p>
            <a:pPr>
              <a:lnSpc>
                <a:spcPts val="1947"/>
              </a:lnSpc>
            </a:pPr>
            <a:r>
              <a:rPr lang="en-US" sz="1400" dirty="0">
                <a:solidFill>
                  <a:srgbClr val="358580"/>
                </a:solidFill>
                <a:latin typeface="Canva Sans"/>
                <a:ea typeface="Canva Sans"/>
                <a:cs typeface="Canva Sans"/>
                <a:sym typeface="Canva Sans"/>
              </a:rPr>
              <a:t>IT22243980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51016" y="4143946"/>
            <a:ext cx="2743144" cy="467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7"/>
              </a:lnSpc>
            </a:pPr>
            <a:r>
              <a:rPr lang="en-US" sz="1200" dirty="0">
                <a:solidFill>
                  <a:srgbClr val="358580"/>
                </a:solidFill>
                <a:latin typeface="Canva Sans"/>
                <a:ea typeface="Canva Sans"/>
                <a:cs typeface="Canva Sans"/>
                <a:sym typeface="Canva Sans"/>
              </a:rPr>
              <a:t>Hettiarachchi A.T.</a:t>
            </a:r>
          </a:p>
          <a:p>
            <a:pPr algn="ctr">
              <a:lnSpc>
                <a:spcPts val="1947"/>
              </a:lnSpc>
            </a:pPr>
            <a:r>
              <a:rPr lang="en-US" sz="1200" dirty="0">
                <a:solidFill>
                  <a:srgbClr val="358580"/>
                </a:solidFill>
                <a:latin typeface="Canva Sans"/>
                <a:ea typeface="Canva Sans"/>
                <a:cs typeface="Canva Sans"/>
                <a:sym typeface="Canva Sans"/>
              </a:rPr>
              <a:t>IT22165848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73400" y="4143946"/>
            <a:ext cx="1806671" cy="467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47"/>
              </a:lnSpc>
            </a:pPr>
            <a:r>
              <a:rPr lang="en-US" sz="1200" dirty="0">
                <a:solidFill>
                  <a:srgbClr val="358580"/>
                </a:solidFill>
                <a:latin typeface="Canva Sans"/>
                <a:ea typeface="Canva Sans"/>
                <a:cs typeface="Canva Sans"/>
                <a:sym typeface="Canva Sans"/>
              </a:rPr>
              <a:t>Adithya A.A.H.</a:t>
            </a:r>
          </a:p>
          <a:p>
            <a:pPr>
              <a:lnSpc>
                <a:spcPts val="1947"/>
              </a:lnSpc>
            </a:pPr>
            <a:r>
              <a:rPr lang="en-US" sz="1200" dirty="0">
                <a:solidFill>
                  <a:srgbClr val="358580"/>
                </a:solidFill>
                <a:latin typeface="Canva Sans"/>
                <a:ea typeface="Canva Sans"/>
                <a:cs typeface="Canva Sans"/>
                <a:sym typeface="Canva Sans"/>
              </a:rPr>
              <a:t>IT22281982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35208" y="4143947"/>
            <a:ext cx="1884100" cy="467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47"/>
              </a:lnSpc>
            </a:pPr>
            <a:r>
              <a:rPr lang="en-US" sz="1200" dirty="0" err="1">
                <a:solidFill>
                  <a:srgbClr val="358580"/>
                </a:solidFill>
                <a:latin typeface="Canva Sans"/>
                <a:ea typeface="Canva Sans"/>
                <a:cs typeface="Canva Sans"/>
                <a:sym typeface="Canva Sans"/>
              </a:rPr>
              <a:t>Keenavinna</a:t>
            </a:r>
            <a:r>
              <a:rPr lang="en-US" sz="1200" dirty="0">
                <a:solidFill>
                  <a:srgbClr val="358580"/>
                </a:solidFill>
                <a:latin typeface="Canva Sans"/>
                <a:ea typeface="Canva Sans"/>
                <a:cs typeface="Canva Sans"/>
                <a:sym typeface="Canva Sans"/>
              </a:rPr>
              <a:t> K.A.A.I.U</a:t>
            </a:r>
          </a:p>
          <a:p>
            <a:pPr>
              <a:lnSpc>
                <a:spcPts val="1947"/>
              </a:lnSpc>
            </a:pPr>
            <a:r>
              <a:rPr lang="en-US" sz="1200" dirty="0">
                <a:solidFill>
                  <a:srgbClr val="358580"/>
                </a:solidFill>
                <a:latin typeface="Canva Sans"/>
                <a:ea typeface="Canva Sans"/>
                <a:cs typeface="Canva Sans"/>
                <a:sym typeface="Canva Sans"/>
              </a:rPr>
              <a:t>IT22214034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40912" y="2399958"/>
            <a:ext cx="3664977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60"/>
              </a:lnSpc>
            </a:pPr>
            <a:r>
              <a:rPr lang="en-US" sz="2000" b="1" dirty="0">
                <a:solidFill>
                  <a:srgbClr val="35858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Ms. Narmada Gamage</a:t>
            </a:r>
          </a:p>
          <a:p>
            <a:pPr>
              <a:lnSpc>
                <a:spcPts val="2360"/>
              </a:lnSpc>
            </a:pPr>
            <a:endParaRPr lang="en-US" sz="2000" b="1" dirty="0">
              <a:solidFill>
                <a:srgbClr val="35858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491956" y="2172145"/>
            <a:ext cx="1811258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65"/>
              </a:lnSpc>
            </a:pPr>
            <a:r>
              <a:rPr lang="en-US" sz="1750">
                <a:solidFill>
                  <a:srgbClr val="358580"/>
                </a:solidFill>
                <a:latin typeface="Canva Sans"/>
                <a:ea typeface="Canva Sans"/>
                <a:cs typeface="Canva Sans"/>
                <a:sym typeface="Canva Sans"/>
              </a:rPr>
              <a:t>Co-Supervisor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8DBD366-5FA0-8751-79A4-38046B5EE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925" y="2805821"/>
            <a:ext cx="1008857" cy="134514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EE875E5-2481-40F3-262A-36CC4DF08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401" y="2805821"/>
            <a:ext cx="1641785" cy="131439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E09A50D-EB07-322D-D623-1CBA33323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711" y="2846828"/>
            <a:ext cx="1263127" cy="126312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CB3B25E-8878-6142-C049-3295B4FA25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5716" y="810801"/>
            <a:ext cx="1287161" cy="128716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F90C70D-7B48-7F75-1C20-372E78F463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1956" y="824867"/>
            <a:ext cx="1323545" cy="132354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642E503-E3DE-FF20-0BB9-C6E601CA79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0935" y="2802063"/>
            <a:ext cx="1354355" cy="1299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77520" y="9525"/>
            <a:ext cx="8766480" cy="53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6"/>
              </a:lnSpc>
            </a:pPr>
            <a:r>
              <a:rPr lang="en-US" sz="3200" b="1" dirty="0">
                <a:solidFill>
                  <a:srgbClr val="120D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Comments received &amp; Improvements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-11908" y="4943655"/>
            <a:ext cx="9155908" cy="298835"/>
            <a:chOff x="-5017" y="-38100"/>
            <a:chExt cx="4821610" cy="157410"/>
          </a:xfrm>
        </p:grpSpPr>
        <p:sp>
          <p:nvSpPr>
            <p:cNvPr id="6" name="Freeform 6"/>
            <p:cNvSpPr/>
            <p:nvPr/>
          </p:nvSpPr>
          <p:spPr>
            <a:xfrm>
              <a:off x="-5017" y="-16674"/>
              <a:ext cx="4816592" cy="119310"/>
            </a:xfrm>
            <a:custGeom>
              <a:avLst/>
              <a:gdLst/>
              <a:ahLst/>
              <a:cxnLst/>
              <a:rect l="l" t="t" r="r" b="b"/>
              <a:pathLst>
                <a:path w="4816592" h="119310">
                  <a:moveTo>
                    <a:pt x="0" y="0"/>
                  </a:moveTo>
                  <a:lnTo>
                    <a:pt x="4816592" y="0"/>
                  </a:lnTo>
                  <a:lnTo>
                    <a:pt x="4816592" y="119310"/>
                  </a:lnTo>
                  <a:lnTo>
                    <a:pt x="0" y="119310"/>
                  </a:lnTo>
                  <a:close/>
                </a:path>
              </a:pathLst>
            </a:custGeom>
            <a:solidFill>
              <a:srgbClr val="11676A"/>
            </a:solidFill>
          </p:spPr>
          <p:txBody>
            <a:bodyPr/>
            <a:lstStyle/>
            <a:p>
              <a:endParaRPr lang="en-GB" sz="9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16593" cy="157410"/>
            </a:xfrm>
            <a:prstGeom prst="rect">
              <a:avLst/>
            </a:prstGeom>
            <a:solidFill>
              <a:srgbClr val="120D6D"/>
            </a:solidFill>
          </p:spPr>
          <p:txBody>
            <a:bodyPr lIns="25400" tIns="25400" rIns="25400" bIns="25400" rtlCol="0" anchor="ctr"/>
            <a:lstStyle/>
            <a:p>
              <a:pPr>
                <a:lnSpc>
                  <a:spcPts val="1330"/>
                </a:lnSpc>
              </a:pPr>
              <a:r>
                <a:rPr lang="en-US" sz="1000" b="1" dirty="0">
                  <a:solidFill>
                    <a:schemeClr val="bg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R26 - IT - 061 | </a:t>
              </a:r>
              <a:r>
                <a:rPr lang="en-US" sz="1000" dirty="0">
                  <a:solidFill>
                    <a:schemeClr val="bg1"/>
                  </a:solidFill>
                  <a:latin typeface="Aptos"/>
                </a:rPr>
                <a:t>An AI-Based Dengue Outbreak Prediction and Intervention Optimization System for the Colombo District, Sri Lanka</a:t>
              </a:r>
              <a:endParaRPr lang="en-US" sz="1000" b="1" dirty="0">
                <a:solidFill>
                  <a:schemeClr val="bg1"/>
                </a:solidFill>
                <a:latin typeface="Canva Sans" panose="020B0604020202020204" charset="0"/>
              </a:endParaRPr>
            </a:p>
          </p:txBody>
        </p:sp>
      </p:grp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00583AFC-8860-B520-8718-24093B7982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360578"/>
              </p:ext>
            </p:extLst>
          </p:nvPr>
        </p:nvGraphicFramePr>
        <p:xfrm>
          <a:off x="464820" y="499668"/>
          <a:ext cx="8252460" cy="44439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3735292711"/>
                    </a:ext>
                  </a:extLst>
                </a:gridCol>
                <a:gridCol w="3284220">
                  <a:extLst>
                    <a:ext uri="{9D8B030D-6E8A-4147-A177-3AD203B41FA5}">
                      <a16:colId xmlns:a16="http://schemas.microsoft.com/office/drawing/2014/main" val="3436410417"/>
                    </a:ext>
                  </a:extLst>
                </a:gridCol>
                <a:gridCol w="3642360">
                  <a:extLst>
                    <a:ext uri="{9D8B030D-6E8A-4147-A177-3AD203B41FA5}">
                      <a16:colId xmlns:a16="http://schemas.microsoft.com/office/drawing/2014/main" val="820755912"/>
                    </a:ext>
                  </a:extLst>
                </a:gridCol>
              </a:tblGrid>
              <a:tr h="264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IT Number</a:t>
                      </a:r>
                    </a:p>
                  </a:txBody>
                  <a:tcPr marL="31368" marR="31368" marT="15684" marB="156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Comments Received</a:t>
                      </a:r>
                    </a:p>
                  </a:txBody>
                  <a:tcPr marL="31368" marR="31368" marT="15684" marB="156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Improvements Made</a:t>
                      </a:r>
                    </a:p>
                  </a:txBody>
                  <a:tcPr marL="31368" marR="31368" marT="15684" marB="15684" anchor="ctr"/>
                </a:tc>
                <a:extLst>
                  <a:ext uri="{0D108BD9-81ED-4DB2-BD59-A6C34878D82A}">
                    <a16:rowId xmlns:a16="http://schemas.microsoft.com/office/drawing/2014/main" val="1248109549"/>
                  </a:ext>
                </a:extLst>
              </a:tr>
              <a:tr h="8566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IT22243980</a:t>
                      </a:r>
                    </a:p>
                  </a:txBody>
                  <a:tcPr marL="31368" marR="31368" marT="15684" marB="156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Moderate progress. The RL component should not be hard-coded. A feedback loop is required for the reinforcement learning part.</a:t>
                      </a:r>
                    </a:p>
                  </a:txBody>
                  <a:tcPr marL="31368" marR="31368" marT="15684" marB="156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Implemented Q-learning using a Q-table instead of fixed rules. Added the Intervention Follow-up page, reward calculation, and Q-table update loop.</a:t>
                      </a:r>
                    </a:p>
                  </a:txBody>
                  <a:tcPr marL="31368" marR="31368" marT="15684" marB="15684" anchor="ctr"/>
                </a:tc>
                <a:extLst>
                  <a:ext uri="{0D108BD9-81ED-4DB2-BD59-A6C34878D82A}">
                    <a16:rowId xmlns:a16="http://schemas.microsoft.com/office/drawing/2014/main" val="2309525288"/>
                  </a:ext>
                </a:extLst>
              </a:tr>
              <a:tr h="8566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IT22165848</a:t>
                      </a:r>
                    </a:p>
                  </a:txBody>
                  <a:tcPr marL="31368" marR="31368" marT="15684" marB="156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The component works, but the candidate could not clearly explain the code to the panel.</a:t>
                      </a:r>
                    </a:p>
                  </a:txBody>
                  <a:tcPr marL="31368" marR="31368" marT="15684" marB="156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Improved understanding of the component logic, dataset flow, model process, and source code. Prepared architecture diagrams and explanations for PP2.</a:t>
                      </a:r>
                    </a:p>
                  </a:txBody>
                  <a:tcPr marL="31368" marR="31368" marT="15684" marB="15684" anchor="ctr"/>
                </a:tc>
                <a:extLst>
                  <a:ext uri="{0D108BD9-81ED-4DB2-BD59-A6C34878D82A}">
                    <a16:rowId xmlns:a16="http://schemas.microsoft.com/office/drawing/2014/main" val="2029809136"/>
                  </a:ext>
                </a:extLst>
              </a:tr>
              <a:tr h="1063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IT22214034</a:t>
                      </a:r>
                    </a:p>
                  </a:txBody>
                  <a:tcPr marL="31368" marR="31368" marT="15684" marB="156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Good progress. Need to mirror the mobile screen to PC during PP2. Risk prediction should be based on the selected area.</a:t>
                      </a:r>
                    </a:p>
                  </a:txBody>
                  <a:tcPr marL="31368" marR="31368" marT="15684" marB="156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Integrated area-based risk assessment. Users select the MOH area and receive relevant weather context and risk results. Prepared the Flutter application for live demonstration and screen mirroring.</a:t>
                      </a:r>
                    </a:p>
                  </a:txBody>
                  <a:tcPr marL="31368" marR="31368" marT="15684" marB="15684" anchor="ctr"/>
                </a:tc>
                <a:extLst>
                  <a:ext uri="{0D108BD9-81ED-4DB2-BD59-A6C34878D82A}">
                    <a16:rowId xmlns:a16="http://schemas.microsoft.com/office/drawing/2014/main" val="162197781"/>
                  </a:ext>
                </a:extLst>
              </a:tr>
              <a:tr h="12697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IT22281982</a:t>
                      </a:r>
                    </a:p>
                  </a:txBody>
                  <a:tcPr marL="31368" marR="31368" marT="15684" marB="156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Low progress. The chatbot is not a major research contribution. The demo analysis was not proper; it only counted words.</a:t>
                      </a:r>
                    </a:p>
                  </a:txBody>
                  <a:tcPr marL="31368" marR="31368" marT="15684" marB="156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Improved the component as Dengue Health Intelligence and AI-Assisted PHI Inspection. Added multilingual NLP, misinformation detection, evidence-based guidance, inspection image upload, location details, and AI-assisted breeding-risk assessment.</a:t>
                      </a:r>
                    </a:p>
                  </a:txBody>
                  <a:tcPr marL="31368" marR="31368" marT="15684" marB="15684" anchor="ctr"/>
                </a:tc>
                <a:extLst>
                  <a:ext uri="{0D108BD9-81ED-4DB2-BD59-A6C34878D82A}">
                    <a16:rowId xmlns:a16="http://schemas.microsoft.com/office/drawing/2014/main" val="411129083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" y="0"/>
            <a:ext cx="9144000" cy="5117430"/>
          </a:xfrm>
          <a:custGeom>
            <a:avLst/>
            <a:gdLst/>
            <a:ahLst/>
            <a:cxnLst/>
            <a:rect l="l" t="t" r="r" b="b"/>
            <a:pathLst>
              <a:path w="18682276" h="12466173">
                <a:moveTo>
                  <a:pt x="0" y="0"/>
                </a:moveTo>
                <a:lnTo>
                  <a:pt x="18682276" y="0"/>
                </a:lnTo>
                <a:lnTo>
                  <a:pt x="18682276" y="12466173"/>
                </a:lnTo>
                <a:lnTo>
                  <a:pt x="0" y="124661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GB" sz="900" dirty="0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3407530" y="-1291082"/>
            <a:ext cx="2420383" cy="9235442"/>
            <a:chOff x="0" y="0"/>
            <a:chExt cx="300722" cy="16172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00722" cy="1617262"/>
            </a:xfrm>
            <a:custGeom>
              <a:avLst/>
              <a:gdLst/>
              <a:ahLst/>
              <a:cxnLst/>
              <a:rect l="l" t="t" r="r" b="b"/>
              <a:pathLst>
                <a:path w="300722" h="1617262">
                  <a:moveTo>
                    <a:pt x="0" y="0"/>
                  </a:moveTo>
                  <a:lnTo>
                    <a:pt x="300722" y="0"/>
                  </a:lnTo>
                  <a:lnTo>
                    <a:pt x="300722" y="1617262"/>
                  </a:lnTo>
                  <a:lnTo>
                    <a:pt x="0" y="1617262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en-GB" sz="90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00722" cy="1655362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90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14350" y="880072"/>
            <a:ext cx="3781321" cy="75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900"/>
              </a:lnSpc>
            </a:pPr>
            <a:r>
              <a:rPr lang="en-US" sz="5000" dirty="0">
                <a:solidFill>
                  <a:srgbClr val="120D6D"/>
                </a:solidFill>
                <a:latin typeface="Canva Sans" panose="020B0604020202020204" charset="0"/>
                <a:ea typeface="Sugo Display"/>
                <a:cs typeface="Sugo Display"/>
                <a:sym typeface="Sugo Display"/>
              </a:rPr>
              <a:t>Introduction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4350" y="2236371"/>
            <a:ext cx="4813505" cy="2515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dirty="0"/>
              <a:t>Dengue is a major public-health concern in Sri Lanka. Timely risk identification, understandable predictions, appropriate interventions, and reliable public-health information are required to support dengue prevention and control.</a:t>
            </a:r>
          </a:p>
          <a:p>
            <a:r>
              <a:rPr lang="en-US" dirty="0"/>
              <a:t>Our research proposes an integrated AI-based mobile decision-support system for the Colombo District.</a:t>
            </a:r>
          </a:p>
          <a:p>
            <a:pPr>
              <a:lnSpc>
                <a:spcPts val="2450"/>
              </a:lnSpc>
            </a:pPr>
            <a:endParaRPr lang="en-US" sz="1750" dirty="0">
              <a:solidFill>
                <a:srgbClr val="FFFFFF"/>
              </a:solidFill>
              <a:latin typeface="Anek Bangla SemiCondensed"/>
              <a:ea typeface="Anek Bangla SemiCondensed"/>
              <a:cs typeface="Anek Bangla SemiCondensed"/>
              <a:sym typeface="Anek Bangla SemiCondensed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0" y="4893022"/>
            <a:ext cx="9144002" cy="298835"/>
            <a:chOff x="0" y="-19050"/>
            <a:chExt cx="4816594" cy="15741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16592" cy="119310"/>
            </a:xfrm>
            <a:custGeom>
              <a:avLst/>
              <a:gdLst/>
              <a:ahLst/>
              <a:cxnLst/>
              <a:rect l="l" t="t" r="r" b="b"/>
              <a:pathLst>
                <a:path w="4816592" h="119310">
                  <a:moveTo>
                    <a:pt x="0" y="0"/>
                  </a:moveTo>
                  <a:lnTo>
                    <a:pt x="4816592" y="0"/>
                  </a:lnTo>
                  <a:lnTo>
                    <a:pt x="4816592" y="119310"/>
                  </a:lnTo>
                  <a:lnTo>
                    <a:pt x="0" y="119310"/>
                  </a:lnTo>
                  <a:close/>
                </a:path>
              </a:pathLst>
            </a:custGeom>
            <a:solidFill>
              <a:srgbClr val="11676A"/>
            </a:solidFill>
          </p:spPr>
          <p:txBody>
            <a:bodyPr/>
            <a:lstStyle/>
            <a:p>
              <a:endParaRPr lang="en-GB" sz="90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" y="-19050"/>
              <a:ext cx="4816593" cy="157410"/>
            </a:xfrm>
            <a:prstGeom prst="rect">
              <a:avLst/>
            </a:prstGeom>
            <a:solidFill>
              <a:srgbClr val="120D6D"/>
            </a:solidFill>
          </p:spPr>
          <p:txBody>
            <a:bodyPr lIns="25400" tIns="25400" rIns="25400" bIns="25400" rtlCol="0" anchor="ctr"/>
            <a:lstStyle/>
            <a:p>
              <a:pPr>
                <a:lnSpc>
                  <a:spcPts val="1330"/>
                </a:lnSpc>
              </a:pPr>
              <a:r>
                <a:rPr lang="en-US" sz="1000" b="1" dirty="0">
                  <a:solidFill>
                    <a:schemeClr val="bg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R26 - IT - 061 | </a:t>
              </a:r>
              <a:r>
                <a:rPr lang="en-US" sz="1000" dirty="0">
                  <a:solidFill>
                    <a:schemeClr val="bg1"/>
                  </a:solidFill>
                  <a:latin typeface="Aptos"/>
                </a:rPr>
                <a:t>An AI-Based Dengue Outbreak Prediction and Intervention Optimization System for the Colombo District, Sri Lanka</a:t>
              </a:r>
              <a:endParaRPr lang="en-US" sz="1000" b="1" dirty="0">
                <a:solidFill>
                  <a:schemeClr val="bg1"/>
                </a:solidFill>
                <a:latin typeface="Canva Sans" panose="020B0604020202020204" charset="0"/>
              </a:endParaRP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93DDF9ED-FF91-AF14-FC1B-0DDCED5ED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06" y="880071"/>
            <a:ext cx="2717944" cy="31084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18863131-FF2C-F30F-6218-6220748F0190}"/>
              </a:ext>
            </a:extLst>
          </p:cNvPr>
          <p:cNvSpPr txBox="1"/>
          <p:nvPr/>
        </p:nvSpPr>
        <p:spPr>
          <a:xfrm>
            <a:off x="1320800" y="309429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73253C-620E-D771-06F0-A94EDB7C9CB6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20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12">
            <a:extLst>
              <a:ext uri="{FF2B5EF4-FFF2-40B4-BE49-F238E27FC236}">
                <a16:creationId xmlns:a16="http://schemas.microsoft.com/office/drawing/2014/main" id="{0CF90441-8FA7-8614-D895-6C0FCF773011}"/>
              </a:ext>
            </a:extLst>
          </p:cNvPr>
          <p:cNvSpPr/>
          <p:nvPr/>
        </p:nvSpPr>
        <p:spPr>
          <a:xfrm>
            <a:off x="4" y="4952706"/>
            <a:ext cx="9143998" cy="226504"/>
          </a:xfrm>
          <a:custGeom>
            <a:avLst/>
            <a:gdLst/>
            <a:ahLst/>
            <a:cxnLst/>
            <a:rect l="l" t="t" r="r" b="b"/>
            <a:pathLst>
              <a:path w="4816592" h="119310">
                <a:moveTo>
                  <a:pt x="0" y="0"/>
                </a:moveTo>
                <a:lnTo>
                  <a:pt x="4816592" y="0"/>
                </a:lnTo>
                <a:lnTo>
                  <a:pt x="4816592" y="119310"/>
                </a:lnTo>
                <a:lnTo>
                  <a:pt x="0" y="119310"/>
                </a:lnTo>
                <a:close/>
              </a:path>
            </a:pathLst>
          </a:custGeom>
          <a:solidFill>
            <a:srgbClr val="ED8013"/>
          </a:solidFill>
        </p:spPr>
        <p:txBody>
          <a:bodyPr/>
          <a:lstStyle/>
          <a:p>
            <a:endParaRPr lang="en-GB" sz="900"/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46A0B1F6-670D-7385-22F3-4F94686C4207}"/>
              </a:ext>
            </a:extLst>
          </p:cNvPr>
          <p:cNvSpPr txBox="1"/>
          <p:nvPr/>
        </p:nvSpPr>
        <p:spPr>
          <a:xfrm>
            <a:off x="2" y="4933518"/>
            <a:ext cx="9144000" cy="298835"/>
          </a:xfrm>
          <a:prstGeom prst="rect">
            <a:avLst/>
          </a:prstGeom>
          <a:solidFill>
            <a:srgbClr val="120D6D"/>
          </a:solidFill>
        </p:spPr>
        <p:txBody>
          <a:bodyPr lIns="25400" tIns="25400" rIns="25400" bIns="25400" rtlCol="0" anchor="ctr"/>
          <a:lstStyle/>
          <a:p>
            <a:pPr>
              <a:lnSpc>
                <a:spcPts val="1330"/>
              </a:lnSpc>
            </a:pPr>
            <a:r>
              <a:rPr lang="en-US" sz="900" b="1" dirty="0">
                <a:solidFill>
                  <a:schemeClr val="bg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R26 - IT - 061 | </a:t>
            </a:r>
            <a:r>
              <a:rPr lang="en-US" sz="900" dirty="0">
                <a:solidFill>
                  <a:schemeClr val="bg1"/>
                </a:solidFill>
                <a:latin typeface="Aptos"/>
              </a:rPr>
              <a:t>An AI-Based Dengue Outbreak Prediction and Intervention Optimization System for the Colombo District, Sri Lanka</a:t>
            </a:r>
            <a:endParaRPr lang="en-US" sz="900" b="1" dirty="0">
              <a:solidFill>
                <a:schemeClr val="bg1"/>
              </a:solidFill>
              <a:latin typeface="Canva Sans" panose="020B0604020202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58DC75-E7AB-18F8-9A4B-C6136D78E24F}"/>
              </a:ext>
            </a:extLst>
          </p:cNvPr>
          <p:cNvSpPr txBox="1"/>
          <p:nvPr/>
        </p:nvSpPr>
        <p:spPr>
          <a:xfrm>
            <a:off x="450165" y="462808"/>
            <a:ext cx="5240215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Proposed System Overview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AI-Based Dengue Decision Support Platform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1100" dirty="0"/>
          </a:p>
          <a:p>
            <a:r>
              <a:rPr lang="en-US" sz="1400" dirty="0"/>
              <a:t>The proposed system integrates:</a:t>
            </a:r>
          </a:p>
          <a:p>
            <a:pPr lvl="0"/>
            <a:endParaRPr lang="en-US" sz="11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Dengue outbreak risk prediction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SHAP-based prediction explanations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RL-based intervention recommendations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Multilingual dengue health intelligence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PHI field inspection support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Mobile dashboard, alerts, and follow-up records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94698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20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95813"/>
            <a:ext cx="7132320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223C3D"/>
                </a:solidFill>
                <a:latin typeface="Aptos"/>
              </a:defRPr>
            </a:pPr>
            <a:r>
              <a:rPr dirty="0">
                <a:solidFill>
                  <a:srgbClr val="120D6D"/>
                </a:solidFill>
                <a:latin typeface="Canva San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58368"/>
            <a:ext cx="7223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2A6F71"/>
                </a:solidFill>
                <a:latin typeface="Aptos"/>
              </a:defRPr>
            </a:pPr>
            <a:r>
              <a:rPr lang="en-US" sz="1200" b="1" dirty="0">
                <a:solidFill>
                  <a:srgbClr val="0070C0"/>
                </a:solidFill>
                <a:latin typeface="Aptos"/>
              </a:rPr>
              <a:t>Dengue outbreak management requires timely and informed decisions</a:t>
            </a:r>
            <a:endParaRPr dirty="0">
              <a:solidFill>
                <a:srgbClr val="0070C0"/>
              </a:solidFill>
              <a:latin typeface="Canva San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90583" y="1189776"/>
            <a:ext cx="3925300" cy="3337560"/>
          </a:xfrm>
          <a:prstGeom prst="roundRect">
            <a:avLst/>
          </a:prstGeom>
          <a:solidFill>
            <a:srgbClr val="F6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Dengue risk is often identified only after cases have increased.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Weather conditions and historical dengue patterns are difficult to analyze manually.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Existing prediction systems may show a risk level but do not explain the reasons clearly.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PHI/MOH officers must manually decide which intervention is most suitable.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Follow-up outcomes are not consistently used to improve future intervention decisions.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8119" y="1028120"/>
            <a:ext cx="4170554" cy="3337560"/>
          </a:xfrm>
          <a:prstGeom prst="roundRect">
            <a:avLst/>
          </a:prstGeom>
          <a:solidFill>
            <a:srgbClr val="FD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1004275"/>
            <a:ext cx="3403352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2A6F71"/>
                </a:solidFill>
                <a:latin typeface="Aptos"/>
              </a:defRPr>
            </a:pPr>
            <a:endParaRPr lang="en-US" sz="1400" b="1" dirty="0">
              <a:solidFill>
                <a:srgbClr val="2A6F71"/>
              </a:solidFill>
              <a:latin typeface="Aptos"/>
            </a:endParaRPr>
          </a:p>
          <a:p>
            <a:pPr>
              <a:defRPr sz="1400" b="1">
                <a:solidFill>
                  <a:srgbClr val="2A6F71"/>
                </a:solidFill>
                <a:latin typeface="Aptos"/>
              </a:defRPr>
            </a:pPr>
            <a:r>
              <a:rPr lang="en-US" sz="1400" b="1" dirty="0">
                <a:solidFill>
                  <a:srgbClr val="120D6D"/>
                </a:solidFill>
                <a:latin typeface="Aptos"/>
              </a:rPr>
              <a:t>KEY PAIN POINTS IN CURRENT DENGUE MANAGEMENT</a:t>
            </a:r>
          </a:p>
          <a:p>
            <a:pPr>
              <a:defRPr sz="1400" b="1">
                <a:solidFill>
                  <a:srgbClr val="2A6F71"/>
                </a:solidFill>
                <a:latin typeface="Aptos"/>
              </a:defRPr>
            </a:pPr>
            <a:endParaRPr dirty="0">
              <a:latin typeface="Canv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196022" y="1132335"/>
            <a:ext cx="34573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EB7428"/>
                </a:solidFill>
                <a:latin typeface="Aptos"/>
              </a:defRPr>
            </a:pPr>
            <a:r>
              <a:rPr lang="en-US" sz="1400" b="1" dirty="0">
                <a:solidFill>
                  <a:srgbClr val="EB7428"/>
                </a:solidFill>
                <a:latin typeface="Aptos"/>
              </a:rPr>
              <a:t>USER REQUIREMENTS FOR DENGUE RESPONSE</a:t>
            </a:r>
            <a:endParaRPr dirty="0">
              <a:latin typeface="Canv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950766" y="1111336"/>
            <a:ext cx="3625189" cy="329538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/>
            <a:endParaRPr lang="en-US" sz="1200" dirty="0"/>
          </a:p>
          <a:p>
            <a:pPr lvl="0"/>
            <a:endParaRPr lang="en-US" sz="1200" b="1" dirty="0"/>
          </a:p>
          <a:p>
            <a:pPr lvl="0"/>
            <a:endParaRPr lang="en-US" sz="1200" b="1" dirty="0"/>
          </a:p>
          <a:p>
            <a:pPr lvl="0"/>
            <a:r>
              <a:rPr lang="en-US" sz="1200" b="1" dirty="0"/>
              <a:t>Early Risk Identification</a:t>
            </a:r>
            <a:r>
              <a:rPr lang="en-US" sz="1200" dirty="0"/>
              <a:t> – Ability to identify possible dengue-risk conditions before an outbreak becomes severe. </a:t>
            </a:r>
          </a:p>
          <a:p>
            <a:pPr lvl="0"/>
            <a:r>
              <a:rPr lang="en-US" sz="1200" b="1" dirty="0"/>
              <a:t>Explainable Predictions</a:t>
            </a:r>
            <a:r>
              <a:rPr lang="en-US" sz="1200" dirty="0"/>
              <a:t> – Ability to understand the factors that influence the predicted risk level. </a:t>
            </a:r>
          </a:p>
          <a:p>
            <a:pPr lvl="0"/>
            <a:r>
              <a:rPr lang="en-US" sz="1200" b="1" dirty="0"/>
              <a:t>Intervention Guidance</a:t>
            </a:r>
            <a:r>
              <a:rPr lang="en-US" sz="1200" dirty="0"/>
              <a:t> – Ability to receive a suitable recommended action based on dengue and weather conditions. </a:t>
            </a:r>
          </a:p>
          <a:p>
            <a:pPr lvl="0"/>
            <a:r>
              <a:rPr lang="en-US" sz="1200" b="1" dirty="0"/>
              <a:t>Timely PHI Alerts</a:t>
            </a:r>
            <a:r>
              <a:rPr lang="en-US" sz="1200" dirty="0"/>
              <a:t> – Ability to notify the responsible PHI officer for </a:t>
            </a:r>
            <a:r>
              <a:rPr lang="en-US" sz="1200" dirty="0" err="1"/>
              <a:t>HIGH-risk</a:t>
            </a:r>
            <a:r>
              <a:rPr lang="en-US" sz="1200" dirty="0"/>
              <a:t> advisory situations. </a:t>
            </a:r>
          </a:p>
          <a:p>
            <a:pPr lvl="0"/>
            <a:r>
              <a:rPr lang="en-US" sz="1200" b="1" dirty="0"/>
              <a:t>Continuous Learning</a:t>
            </a:r>
            <a:r>
              <a:rPr lang="en-US" sz="1200" dirty="0"/>
              <a:t> – Ability to record intervention outcomes and improve future recommendations through the RL feedback loop.</a:t>
            </a:r>
          </a:p>
          <a:p>
            <a:pPr>
              <a:lnSpc>
                <a:spcPct val="150000"/>
              </a:lnSpc>
              <a:defRPr sz="1900" b="1">
                <a:solidFill>
                  <a:srgbClr val="223C3D"/>
                </a:solidFill>
                <a:latin typeface="Aptos"/>
              </a:defRPr>
            </a:pPr>
            <a:endParaRPr sz="1200" dirty="0">
              <a:solidFill>
                <a:schemeClr val="accent6">
                  <a:lumMod val="50000"/>
                </a:schemeClr>
              </a:solidFill>
              <a:latin typeface="Canva Sans"/>
            </a:endParaRPr>
          </a:p>
        </p:txBody>
      </p:sp>
      <p:sp>
        <p:nvSpPr>
          <p:cNvPr id="26" name="Freeform 12">
            <a:extLst>
              <a:ext uri="{FF2B5EF4-FFF2-40B4-BE49-F238E27FC236}">
                <a16:creationId xmlns:a16="http://schemas.microsoft.com/office/drawing/2014/main" id="{88B34EB8-AF47-73D5-2003-A5FFE97A7676}"/>
              </a:ext>
            </a:extLst>
          </p:cNvPr>
          <p:cNvSpPr/>
          <p:nvPr/>
        </p:nvSpPr>
        <p:spPr>
          <a:xfrm>
            <a:off x="4" y="4928593"/>
            <a:ext cx="9143998" cy="226504"/>
          </a:xfrm>
          <a:custGeom>
            <a:avLst/>
            <a:gdLst/>
            <a:ahLst/>
            <a:cxnLst/>
            <a:rect l="l" t="t" r="r" b="b"/>
            <a:pathLst>
              <a:path w="4816592" h="119310">
                <a:moveTo>
                  <a:pt x="0" y="0"/>
                </a:moveTo>
                <a:lnTo>
                  <a:pt x="4816592" y="0"/>
                </a:lnTo>
                <a:lnTo>
                  <a:pt x="4816592" y="119310"/>
                </a:lnTo>
                <a:lnTo>
                  <a:pt x="0" y="119310"/>
                </a:lnTo>
                <a:close/>
              </a:path>
            </a:pathLst>
          </a:custGeom>
          <a:solidFill>
            <a:srgbClr val="ED8013"/>
          </a:solidFill>
        </p:spPr>
        <p:txBody>
          <a:bodyPr/>
          <a:lstStyle/>
          <a:p>
            <a:endParaRPr lang="en-GB" sz="900"/>
          </a:p>
        </p:txBody>
      </p:sp>
      <p:sp>
        <p:nvSpPr>
          <p:cNvPr id="27" name="Freeform 12">
            <a:extLst>
              <a:ext uri="{FF2B5EF4-FFF2-40B4-BE49-F238E27FC236}">
                <a16:creationId xmlns:a16="http://schemas.microsoft.com/office/drawing/2014/main" id="{124CA53E-9B18-84F1-7712-501CDF523E28}"/>
              </a:ext>
            </a:extLst>
          </p:cNvPr>
          <p:cNvSpPr/>
          <p:nvPr/>
        </p:nvSpPr>
        <p:spPr>
          <a:xfrm>
            <a:off x="0" y="4929188"/>
            <a:ext cx="9143998" cy="226504"/>
          </a:xfrm>
          <a:custGeom>
            <a:avLst/>
            <a:gdLst/>
            <a:ahLst/>
            <a:cxnLst/>
            <a:rect l="l" t="t" r="r" b="b"/>
            <a:pathLst>
              <a:path w="4816592" h="119310">
                <a:moveTo>
                  <a:pt x="0" y="0"/>
                </a:moveTo>
                <a:lnTo>
                  <a:pt x="4816592" y="0"/>
                </a:lnTo>
                <a:lnTo>
                  <a:pt x="4816592" y="119310"/>
                </a:lnTo>
                <a:lnTo>
                  <a:pt x="0" y="119310"/>
                </a:lnTo>
                <a:close/>
              </a:path>
            </a:pathLst>
          </a:custGeom>
          <a:solidFill>
            <a:srgbClr val="ED8013"/>
          </a:solidFill>
        </p:spPr>
        <p:txBody>
          <a:bodyPr/>
          <a:lstStyle/>
          <a:p>
            <a:endParaRPr lang="en-GB" sz="900"/>
          </a:p>
        </p:txBody>
      </p:sp>
      <p:sp>
        <p:nvSpPr>
          <p:cNvPr id="29" name="TextBox 13">
            <a:extLst>
              <a:ext uri="{FF2B5EF4-FFF2-40B4-BE49-F238E27FC236}">
                <a16:creationId xmlns:a16="http://schemas.microsoft.com/office/drawing/2014/main" id="{AB41A942-2059-4CFB-DA29-B7C0EA1826D9}"/>
              </a:ext>
            </a:extLst>
          </p:cNvPr>
          <p:cNvSpPr txBox="1"/>
          <p:nvPr/>
        </p:nvSpPr>
        <p:spPr>
          <a:xfrm>
            <a:off x="2" y="4883915"/>
            <a:ext cx="9144000" cy="298835"/>
          </a:xfrm>
          <a:prstGeom prst="rect">
            <a:avLst/>
          </a:prstGeom>
          <a:solidFill>
            <a:srgbClr val="120D6D"/>
          </a:solidFill>
        </p:spPr>
        <p:txBody>
          <a:bodyPr lIns="25400" tIns="25400" rIns="25400" bIns="25400" rtlCol="0" anchor="ctr"/>
          <a:lstStyle/>
          <a:p>
            <a:pPr>
              <a:lnSpc>
                <a:spcPts val="1330"/>
              </a:lnSpc>
            </a:pPr>
            <a:r>
              <a:rPr lang="en-US" sz="900" b="1" dirty="0">
                <a:solidFill>
                  <a:schemeClr val="bg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R26 - IT - 061 | </a:t>
            </a:r>
            <a:r>
              <a:rPr lang="en-US" sz="900" dirty="0">
                <a:solidFill>
                  <a:schemeClr val="bg1"/>
                </a:solidFill>
                <a:latin typeface="Aptos"/>
              </a:rPr>
              <a:t>An AI-Based Dengue Outbreak Prediction and Intervention Optimization System for the Colombo District, Sri Lanka</a:t>
            </a:r>
            <a:endParaRPr lang="en-US" sz="900" b="1" dirty="0">
              <a:solidFill>
                <a:schemeClr val="bg1"/>
              </a:solidFill>
              <a:latin typeface="Canva Sans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8" grpId="0" animBg="1"/>
      <p:bldP spid="9" grpId="0" animBg="1"/>
      <p:bldP spid="11" grpId="0"/>
      <p:bldP spid="20" grpId="0"/>
      <p:bldP spid="21" grpId="0"/>
      <p:bldP spid="26" grpId="0" animBg="1"/>
      <p:bldP spid="27" grpId="0" animBg="1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20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95813"/>
            <a:ext cx="7132320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223C3D"/>
                </a:solidFill>
                <a:latin typeface="Aptos"/>
              </a:defRPr>
            </a:pPr>
            <a:r>
              <a:rPr dirty="0">
                <a:latin typeface="Canva Sans"/>
              </a:rPr>
              <a:t>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58368"/>
            <a:ext cx="7223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2A6F71"/>
                </a:solidFill>
                <a:latin typeface="Aptos"/>
              </a:defRPr>
            </a:pPr>
            <a:r>
              <a:rPr lang="en-US" sz="1200" b="1" dirty="0">
                <a:solidFill>
                  <a:srgbClr val="2A6F71"/>
                </a:solidFill>
                <a:latin typeface="Aptos"/>
              </a:rPr>
              <a:t>Existing dengue solutions focus on separate functions</a:t>
            </a:r>
            <a:endParaRPr dirty="0">
              <a:latin typeface="Canva San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" y="4985040"/>
            <a:ext cx="9144000" cy="158460"/>
          </a:xfrm>
          <a:prstGeom prst="rect">
            <a:avLst/>
          </a:prstGeom>
          <a:solidFill>
            <a:srgbClr val="EB7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0202" y="1078992"/>
            <a:ext cx="3938597" cy="3383280"/>
          </a:xfrm>
          <a:prstGeom prst="roundRect">
            <a:avLst/>
          </a:prstGeom>
          <a:solidFill>
            <a:srgbClr val="F6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Risk prediction only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clear prediction explanation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Manual intervention selection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Limited PHI follow-up support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integrated health-information support</a:t>
            </a:r>
          </a:p>
          <a:p>
            <a:pPr algn="ctr"/>
            <a:endParaRPr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26280" y="1078992"/>
            <a:ext cx="4114800" cy="3383280"/>
          </a:xfrm>
          <a:prstGeom prst="roundRect">
            <a:avLst/>
          </a:prstGeom>
          <a:solidFill>
            <a:srgbClr val="FD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30759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EB7428"/>
                </a:solidFill>
                <a:latin typeface="Aptos"/>
              </a:defRPr>
            </a:pPr>
            <a:r>
              <a:rPr lang="en-US" sz="1400" b="1" dirty="0">
                <a:solidFill>
                  <a:srgbClr val="EB7428"/>
                </a:solidFill>
                <a:latin typeface="Aptos"/>
              </a:rPr>
              <a:t>CURRENT LIMITATIONS</a:t>
            </a:r>
            <a:endParaRPr dirty="0">
              <a:latin typeface="Canv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08082" y="1376955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2A6F71"/>
                </a:solidFill>
                <a:latin typeface="Aptos"/>
              </a:defRPr>
            </a:pPr>
            <a:r>
              <a:rPr lang="en-US" sz="1400" b="1" dirty="0">
                <a:solidFill>
                  <a:srgbClr val="2A6F71"/>
                </a:solidFill>
                <a:latin typeface="Aptos"/>
              </a:rPr>
              <a:t>OUR RESEARCH GAP</a:t>
            </a:r>
            <a:endParaRPr dirty="0">
              <a:latin typeface="Canv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849803" y="1404758"/>
            <a:ext cx="3474720" cy="26788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Integrated AI-based dengue decision-support system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Explainable risk predictions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RL-based intervention recommendations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PHI alerts and follow-up feedback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Multilingual dengue health intelligence</a:t>
            </a:r>
          </a:p>
          <a:p>
            <a:pPr>
              <a:lnSpc>
                <a:spcPct val="200000"/>
              </a:lnSpc>
              <a:defRPr sz="1900" b="1">
                <a:solidFill>
                  <a:srgbClr val="223C3D"/>
                </a:solidFill>
                <a:latin typeface="Aptos"/>
              </a:defRPr>
            </a:pPr>
            <a:endParaRPr sz="1400" dirty="0">
              <a:latin typeface="Canva Sans"/>
            </a:endParaRPr>
          </a:p>
        </p:txBody>
      </p:sp>
      <p:sp>
        <p:nvSpPr>
          <p:cNvPr id="23" name="TextBox 13">
            <a:extLst>
              <a:ext uri="{FF2B5EF4-FFF2-40B4-BE49-F238E27FC236}">
                <a16:creationId xmlns:a16="http://schemas.microsoft.com/office/drawing/2014/main" id="{3CF48240-42B3-3D33-1D94-17CFF3E26855}"/>
              </a:ext>
            </a:extLst>
          </p:cNvPr>
          <p:cNvSpPr txBox="1"/>
          <p:nvPr/>
        </p:nvSpPr>
        <p:spPr>
          <a:xfrm>
            <a:off x="182882" y="4488670"/>
            <a:ext cx="9144000" cy="298835"/>
          </a:xfrm>
          <a:prstGeom prst="rect">
            <a:avLst/>
          </a:prstGeom>
        </p:spPr>
        <p:txBody>
          <a:bodyPr lIns="25400" tIns="25400" rIns="25400" bIns="25400" rtlCol="0" anchor="ctr"/>
          <a:lstStyle/>
          <a:p>
            <a:pPr>
              <a:lnSpc>
                <a:spcPts val="1330"/>
              </a:lnSpc>
            </a:pPr>
            <a:r>
              <a:rPr lang="en-US" sz="94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R26 - IT - 085 | Mobile App for Drug Addiction Recovery                                                                                                                                              SLIIT  |  IT4010-2026</a:t>
            </a:r>
          </a:p>
        </p:txBody>
      </p:sp>
      <p:sp>
        <p:nvSpPr>
          <p:cNvPr id="25" name="TextBox 13">
            <a:extLst>
              <a:ext uri="{FF2B5EF4-FFF2-40B4-BE49-F238E27FC236}">
                <a16:creationId xmlns:a16="http://schemas.microsoft.com/office/drawing/2014/main" id="{C390AEF2-1EE1-CF88-8A89-1F3D24FCBF38}"/>
              </a:ext>
            </a:extLst>
          </p:cNvPr>
          <p:cNvSpPr txBox="1"/>
          <p:nvPr/>
        </p:nvSpPr>
        <p:spPr>
          <a:xfrm>
            <a:off x="2" y="4924468"/>
            <a:ext cx="9144000" cy="298835"/>
          </a:xfrm>
          <a:prstGeom prst="rect">
            <a:avLst/>
          </a:prstGeom>
          <a:solidFill>
            <a:srgbClr val="120D6D"/>
          </a:solidFill>
        </p:spPr>
        <p:txBody>
          <a:bodyPr lIns="25400" tIns="25400" rIns="25400" bIns="25400" rtlCol="0" anchor="ctr"/>
          <a:lstStyle/>
          <a:p>
            <a:pPr>
              <a:lnSpc>
                <a:spcPts val="1330"/>
              </a:lnSpc>
            </a:pPr>
            <a:r>
              <a:rPr lang="en-US" sz="900" b="1" dirty="0">
                <a:solidFill>
                  <a:schemeClr val="bg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R26 - IT - 061 | </a:t>
            </a:r>
            <a:r>
              <a:rPr lang="en-US" sz="900" dirty="0">
                <a:solidFill>
                  <a:schemeClr val="bg1"/>
                </a:solidFill>
                <a:latin typeface="Aptos"/>
              </a:rPr>
              <a:t>An AI-Based Dengue Outbreak Prediction and Intervention Optimization System for the Colombo District, Sri Lanka</a:t>
            </a:r>
            <a:endParaRPr lang="en-US" sz="900" b="1" dirty="0">
              <a:solidFill>
                <a:schemeClr val="bg1"/>
              </a:solidFill>
              <a:latin typeface="Canva Sans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7" grpId="0" animBg="1"/>
      <p:bldP spid="8" grpId="0" animBg="1"/>
      <p:bldP spid="9" grpId="0" animBg="1"/>
      <p:bldP spid="10" grpId="0"/>
      <p:bldP spid="21" grpId="0"/>
      <p:bldP spid="22" grpId="0"/>
      <p:bldP spid="23" grpId="0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FE13D7-AB42-B502-BB24-C405160AB518}"/>
              </a:ext>
            </a:extLst>
          </p:cNvPr>
          <p:cNvSpPr txBox="1"/>
          <p:nvPr/>
        </p:nvSpPr>
        <p:spPr>
          <a:xfrm>
            <a:off x="495300" y="586591"/>
            <a:ext cx="734568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120D6D"/>
                </a:solidFill>
              </a:rPr>
              <a:t>Research Objectives</a:t>
            </a:r>
          </a:p>
          <a:p>
            <a:pPr>
              <a:buNone/>
            </a:pP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Predict dengue outbreak risk as Low, Medium, or High.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Explain factors influencing dengue predictions using SHAP.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Recommend suitable interventions using Q-Learning.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Provide multilingual dengue health information and misinformation analysis.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Support PHI officers with AI-assisted field inspection.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Integrate all components into one Flutter mobile application.</a:t>
            </a:r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F745D6BB-9B5A-139E-2A16-3B505B021A8C}"/>
              </a:ext>
            </a:extLst>
          </p:cNvPr>
          <p:cNvSpPr txBox="1"/>
          <p:nvPr/>
        </p:nvSpPr>
        <p:spPr>
          <a:xfrm>
            <a:off x="2" y="4883915"/>
            <a:ext cx="9144000" cy="298835"/>
          </a:xfrm>
          <a:prstGeom prst="rect">
            <a:avLst/>
          </a:prstGeom>
          <a:solidFill>
            <a:srgbClr val="120D6D"/>
          </a:solidFill>
        </p:spPr>
        <p:txBody>
          <a:bodyPr lIns="25400" tIns="25400" rIns="25400" bIns="25400" rtlCol="0" anchor="ctr"/>
          <a:lstStyle/>
          <a:p>
            <a:pPr>
              <a:lnSpc>
                <a:spcPts val="1330"/>
              </a:lnSpc>
            </a:pPr>
            <a:r>
              <a:rPr lang="en-US" sz="900" b="1" dirty="0">
                <a:solidFill>
                  <a:schemeClr val="bg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R26 - IT - 061 | </a:t>
            </a:r>
            <a:r>
              <a:rPr lang="en-US" sz="900" dirty="0">
                <a:solidFill>
                  <a:schemeClr val="bg1"/>
                </a:solidFill>
                <a:latin typeface="Aptos"/>
              </a:rPr>
              <a:t>An AI-Based Dengue Outbreak Prediction and Intervention Optimization System for the Colombo District, Sri Lanka</a:t>
            </a:r>
            <a:endParaRPr lang="en-US" sz="900" b="1" dirty="0">
              <a:solidFill>
                <a:schemeClr val="bg1"/>
              </a:solidFill>
              <a:latin typeface="Canva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933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F5DAC3-BEE9-D0FB-6DE0-0BFAB869C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927" y="347980"/>
            <a:ext cx="6494145" cy="4329430"/>
          </a:xfrm>
          <a:prstGeom prst="rect">
            <a:avLst/>
          </a:prstGeom>
        </p:spPr>
      </p:pic>
      <p:sp>
        <p:nvSpPr>
          <p:cNvPr id="5" name="TextBox 13">
            <a:extLst>
              <a:ext uri="{FF2B5EF4-FFF2-40B4-BE49-F238E27FC236}">
                <a16:creationId xmlns:a16="http://schemas.microsoft.com/office/drawing/2014/main" id="{90F55B81-BDE2-06B5-F84B-91E8D5E5B831}"/>
              </a:ext>
            </a:extLst>
          </p:cNvPr>
          <p:cNvSpPr txBox="1"/>
          <p:nvPr/>
        </p:nvSpPr>
        <p:spPr>
          <a:xfrm>
            <a:off x="2" y="4883915"/>
            <a:ext cx="9144000" cy="298835"/>
          </a:xfrm>
          <a:prstGeom prst="rect">
            <a:avLst/>
          </a:prstGeom>
          <a:solidFill>
            <a:srgbClr val="120D6D"/>
          </a:solidFill>
        </p:spPr>
        <p:txBody>
          <a:bodyPr lIns="25400" tIns="25400" rIns="25400" bIns="25400" rtlCol="0" anchor="ctr"/>
          <a:lstStyle/>
          <a:p>
            <a:pPr>
              <a:lnSpc>
                <a:spcPts val="1330"/>
              </a:lnSpc>
            </a:pPr>
            <a:r>
              <a:rPr lang="en-US" sz="900" b="1" dirty="0">
                <a:solidFill>
                  <a:schemeClr val="bg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R26 - IT - 061 | </a:t>
            </a:r>
            <a:r>
              <a:rPr lang="en-US" sz="900" dirty="0">
                <a:solidFill>
                  <a:schemeClr val="bg1"/>
                </a:solidFill>
                <a:latin typeface="Aptos"/>
              </a:rPr>
              <a:t>An AI-Based Dengue Outbreak Prediction and Intervention Optimization System for the Colombo District, Sri Lanka</a:t>
            </a:r>
            <a:endParaRPr lang="en-US" sz="900" b="1" dirty="0">
              <a:solidFill>
                <a:schemeClr val="bg1"/>
              </a:solidFill>
              <a:latin typeface="Canva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7173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20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005137"/>
            <a:ext cx="9144000" cy="138363"/>
          </a:xfrm>
          <a:prstGeom prst="rect">
            <a:avLst/>
          </a:prstGeom>
          <a:solidFill>
            <a:srgbClr val="EB7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E07A7D0B-4231-5E0A-A95C-638B6E20E126}"/>
              </a:ext>
            </a:extLst>
          </p:cNvPr>
          <p:cNvSpPr txBox="1"/>
          <p:nvPr/>
        </p:nvSpPr>
        <p:spPr>
          <a:xfrm>
            <a:off x="0" y="4924900"/>
            <a:ext cx="9144000" cy="298835"/>
          </a:xfrm>
          <a:prstGeom prst="rect">
            <a:avLst/>
          </a:prstGeom>
          <a:solidFill>
            <a:srgbClr val="120D6D"/>
          </a:solidFill>
        </p:spPr>
        <p:txBody>
          <a:bodyPr lIns="25400" tIns="25400" rIns="25400" bIns="25400" rtlCol="0" anchor="ctr"/>
          <a:lstStyle/>
          <a:p>
            <a:pPr>
              <a:lnSpc>
                <a:spcPts val="1330"/>
              </a:lnSpc>
            </a:pPr>
            <a:r>
              <a:rPr lang="en-US" sz="94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IT22214034| </a:t>
            </a:r>
            <a:r>
              <a:rPr lang="en-US" sz="949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Keenavinna</a:t>
            </a:r>
            <a:r>
              <a:rPr lang="en-US" sz="94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K.A.A.I.U. | R26 - IT - 061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69F9652C-E642-816F-FFBC-6ADF77FAF09D}"/>
              </a:ext>
            </a:extLst>
          </p:cNvPr>
          <p:cNvSpPr txBox="1"/>
          <p:nvPr/>
        </p:nvSpPr>
        <p:spPr>
          <a:xfrm>
            <a:off x="809206" y="371004"/>
            <a:ext cx="7227888" cy="2403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400" b="1" i="1" dirty="0">
                <a:solidFill>
                  <a:srgbClr val="120D6D"/>
                </a:solidFill>
                <a:effectLst>
                  <a:outerShdw sx="0" sy="0">
                    <a:srgbClr val="000000"/>
                  </a:outerShdw>
                </a:effectLst>
              </a:rPr>
              <a:t>Machine Learning-Based Dengue Outbreak Prediction</a:t>
            </a:r>
          </a:p>
          <a:p>
            <a:pPr algn="ctr">
              <a:lnSpc>
                <a:spcPts val="8849"/>
              </a:lnSpc>
            </a:pPr>
            <a:endParaRPr lang="en-US" sz="6000" b="1" dirty="0">
              <a:solidFill>
                <a:srgbClr val="35858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E3C787A7-51D1-AEB1-16E1-053BEB64104C}"/>
              </a:ext>
            </a:extLst>
          </p:cNvPr>
          <p:cNvSpPr txBox="1"/>
          <p:nvPr/>
        </p:nvSpPr>
        <p:spPr>
          <a:xfrm>
            <a:off x="2398296" y="3540013"/>
            <a:ext cx="4178968" cy="3487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14"/>
              </a:lnSpc>
            </a:pPr>
            <a:r>
              <a:rPr lang="en-US" sz="2300" dirty="0" err="1">
                <a:solidFill>
                  <a:srgbClr val="050F0F"/>
                </a:solidFill>
                <a:latin typeface="Canva Sans"/>
                <a:ea typeface="Canva Sans"/>
                <a:cs typeface="Canva Sans"/>
                <a:sym typeface="Canva Sans"/>
              </a:rPr>
              <a:t>Keenavinna</a:t>
            </a:r>
            <a:r>
              <a:rPr lang="en-US" sz="2300" dirty="0">
                <a:solidFill>
                  <a:srgbClr val="050F0F"/>
                </a:solidFill>
                <a:latin typeface="Canva Sans"/>
                <a:ea typeface="Canva Sans"/>
                <a:cs typeface="Canva Sans"/>
                <a:sym typeface="Canva Sans"/>
              </a:rPr>
              <a:t> K.A.A.I.U | IT22214034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EAC99D-83C5-2757-04B0-2F1DCBBE736C}"/>
              </a:ext>
            </a:extLst>
          </p:cNvPr>
          <p:cNvSpPr txBox="1"/>
          <p:nvPr/>
        </p:nvSpPr>
        <p:spPr>
          <a:xfrm>
            <a:off x="1193512" y="4361669"/>
            <a:ext cx="7329953" cy="34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4"/>
              </a:lnSpc>
            </a:pPr>
            <a:r>
              <a:rPr lang="en-US" sz="2300" dirty="0">
                <a:latin typeface="Canva Sans"/>
                <a:ea typeface="Canva Sans"/>
                <a:cs typeface="Canva Sans"/>
                <a:sym typeface="Canva Sans"/>
              </a:rPr>
              <a:t>SPECIALIZATION : INFORMATION TECHNOLOGY</a:t>
            </a:r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B84591E2-EEDD-7FFA-BBFF-442B5ABB6888}"/>
              </a:ext>
            </a:extLst>
          </p:cNvPr>
          <p:cNvSpPr/>
          <p:nvPr/>
        </p:nvSpPr>
        <p:spPr>
          <a:xfrm>
            <a:off x="886172" y="3067099"/>
            <a:ext cx="7576753" cy="0"/>
          </a:xfrm>
          <a:prstGeom prst="line">
            <a:avLst/>
          </a:prstGeom>
          <a:ln w="38100" cap="flat">
            <a:solidFill>
              <a:srgbClr val="120D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  <p:bldP spid="9" grpId="0"/>
      <p:bldP spid="10" grpId="0"/>
      <p:bldP spid="11" grpId="0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4624FD-B0E9-A7C6-B559-7FB197799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B99165-EB99-7A41-5241-1B7BDB94D225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20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E52653-FC6B-25E8-3E84-4444DF54738F}"/>
              </a:ext>
            </a:extLst>
          </p:cNvPr>
          <p:cNvSpPr/>
          <p:nvPr/>
        </p:nvSpPr>
        <p:spPr>
          <a:xfrm>
            <a:off x="0" y="5005137"/>
            <a:ext cx="9144000" cy="138363"/>
          </a:xfrm>
          <a:prstGeom prst="rect">
            <a:avLst/>
          </a:prstGeom>
          <a:solidFill>
            <a:srgbClr val="EB7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28875E19-94AF-5BD4-47EE-C179F3A4234F}"/>
              </a:ext>
            </a:extLst>
          </p:cNvPr>
          <p:cNvSpPr txBox="1"/>
          <p:nvPr/>
        </p:nvSpPr>
        <p:spPr>
          <a:xfrm>
            <a:off x="0" y="4924900"/>
            <a:ext cx="9144000" cy="298835"/>
          </a:xfrm>
          <a:prstGeom prst="rect">
            <a:avLst/>
          </a:prstGeom>
          <a:solidFill>
            <a:srgbClr val="120D6D"/>
          </a:solidFill>
        </p:spPr>
        <p:txBody>
          <a:bodyPr lIns="25400" tIns="25400" rIns="25400" bIns="25400" rtlCol="0" anchor="ctr"/>
          <a:lstStyle/>
          <a:p>
            <a:pPr>
              <a:lnSpc>
                <a:spcPts val="1330"/>
              </a:lnSpc>
            </a:pPr>
            <a:r>
              <a:rPr lang="en-US" sz="94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IT22291714 | Bandara V.K.J |R26 - IT - 085                                                                                                                                                                                                                             SLIIT  |  IT4010-2026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AFB28B-EA0C-45AD-E4C1-D16852A02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064" y="1146763"/>
            <a:ext cx="3891257" cy="21885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30C5B59-7E95-F374-7926-311D1C339FE1}"/>
              </a:ext>
            </a:extLst>
          </p:cNvPr>
          <p:cNvSpPr txBox="1"/>
          <p:nvPr/>
        </p:nvSpPr>
        <p:spPr>
          <a:xfrm>
            <a:off x="190500" y="670560"/>
            <a:ext cx="470154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Dengue Outbreak Risk Prediction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Uses historical dengue surveillance and weather data.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Inputs include dengue patterns, rainfall, humidity, temperature, year, week, and month.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Random Forest model predicts: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Low Risk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Medium Risk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High Risk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Results are displayed through the mobile application.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996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03E8AA-694D-FD55-B6C1-418F71850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22D46E-38BE-E804-7421-E25D94593CAD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20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120D6D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A4742F-62C6-EA73-DA05-62BB708BAAD4}"/>
              </a:ext>
            </a:extLst>
          </p:cNvPr>
          <p:cNvSpPr/>
          <p:nvPr/>
        </p:nvSpPr>
        <p:spPr>
          <a:xfrm>
            <a:off x="0" y="5005137"/>
            <a:ext cx="9144000" cy="138363"/>
          </a:xfrm>
          <a:prstGeom prst="rect">
            <a:avLst/>
          </a:prstGeom>
          <a:solidFill>
            <a:srgbClr val="EB7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87FA9EEB-D432-2DB8-238E-BFC5E549EF56}"/>
              </a:ext>
            </a:extLst>
          </p:cNvPr>
          <p:cNvSpPr txBox="1"/>
          <p:nvPr/>
        </p:nvSpPr>
        <p:spPr>
          <a:xfrm>
            <a:off x="0" y="4924900"/>
            <a:ext cx="9144000" cy="298835"/>
          </a:xfrm>
          <a:prstGeom prst="rect">
            <a:avLst/>
          </a:prstGeom>
          <a:solidFill>
            <a:srgbClr val="120D6D"/>
          </a:solidFill>
        </p:spPr>
        <p:txBody>
          <a:bodyPr lIns="25400" tIns="25400" rIns="25400" bIns="25400" rtlCol="0" anchor="ctr"/>
          <a:lstStyle/>
          <a:p>
            <a:pPr>
              <a:lnSpc>
                <a:spcPts val="1330"/>
              </a:lnSpc>
            </a:pPr>
            <a:r>
              <a:rPr lang="en-US" sz="94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IT22165848 | Hettiarachchi A T  | R26 - IT - 061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7D8C3008-59C7-C6FC-9F75-48CE5DD30E95}"/>
              </a:ext>
            </a:extLst>
          </p:cNvPr>
          <p:cNvSpPr txBox="1"/>
          <p:nvPr/>
        </p:nvSpPr>
        <p:spPr>
          <a:xfrm>
            <a:off x="809206" y="371004"/>
            <a:ext cx="7227888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 algn="ctr" fontAlgn="base"/>
            <a:r>
              <a:rPr lang="en-US" sz="4400" b="1" i="1" dirty="0">
                <a:solidFill>
                  <a:srgbClr val="120D6D"/>
                </a:solidFill>
                <a:effectLst>
                  <a:outerShdw sx="0" sy="0">
                    <a:srgbClr val="000000"/>
                  </a:outerShdw>
                </a:effectLst>
              </a:rPr>
              <a:t>SHAP-Based Explainable Artificial Intelligence</a:t>
            </a: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E369AACF-59E3-6527-1EE7-9072F55F62DB}"/>
              </a:ext>
            </a:extLst>
          </p:cNvPr>
          <p:cNvSpPr txBox="1"/>
          <p:nvPr/>
        </p:nvSpPr>
        <p:spPr>
          <a:xfrm>
            <a:off x="1956676" y="3476626"/>
            <a:ext cx="4932948" cy="263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47"/>
              </a:lnSpc>
            </a:pPr>
            <a:r>
              <a:rPr lang="en-US" sz="2400" dirty="0">
                <a:latin typeface="Canva Sans"/>
                <a:ea typeface="Canva Sans"/>
                <a:cs typeface="Canva Sans"/>
                <a:sym typeface="Canva Sans"/>
              </a:rPr>
              <a:t>Hettiarachchi A.T.| IT22165848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113E32-DF4D-231B-E9EA-B0FBF48A00F5}"/>
              </a:ext>
            </a:extLst>
          </p:cNvPr>
          <p:cNvSpPr txBox="1"/>
          <p:nvPr/>
        </p:nvSpPr>
        <p:spPr>
          <a:xfrm>
            <a:off x="1193512" y="4361669"/>
            <a:ext cx="7329953" cy="34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4"/>
              </a:lnSpc>
            </a:pPr>
            <a:r>
              <a:rPr lang="en-US" sz="2300" dirty="0">
                <a:latin typeface="Canva Sans"/>
                <a:ea typeface="Canva Sans"/>
                <a:cs typeface="Canva Sans"/>
                <a:sym typeface="Canva Sans"/>
              </a:rPr>
              <a:t>SPECIALIZATION : INFORMATION TECHNOLOGY</a:t>
            </a:r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903AEBD5-1A0E-4571-9653-442F62736BF6}"/>
              </a:ext>
            </a:extLst>
          </p:cNvPr>
          <p:cNvSpPr/>
          <p:nvPr/>
        </p:nvSpPr>
        <p:spPr>
          <a:xfrm>
            <a:off x="886172" y="3067099"/>
            <a:ext cx="7576753" cy="0"/>
          </a:xfrm>
          <a:prstGeom prst="line">
            <a:avLst/>
          </a:prstGeom>
          <a:ln w="38100" cap="flat">
            <a:solidFill>
              <a:srgbClr val="120D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2938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  <p:bldP spid="9" grpId="0"/>
      <p:bldP spid="10" grpId="0"/>
      <p:bldP spid="11" grpId="0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8C1EDC-B954-01B6-2834-17F655969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D63A9A-D664-DA0E-F921-53A79E7B4445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20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60A5E3-AB59-8E58-9CD4-4596C0A4FEEB}"/>
              </a:ext>
            </a:extLst>
          </p:cNvPr>
          <p:cNvSpPr/>
          <p:nvPr/>
        </p:nvSpPr>
        <p:spPr>
          <a:xfrm>
            <a:off x="0" y="5005137"/>
            <a:ext cx="9144000" cy="138363"/>
          </a:xfrm>
          <a:prstGeom prst="rect">
            <a:avLst/>
          </a:prstGeom>
          <a:solidFill>
            <a:srgbClr val="EB7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B54139FE-B0E7-4C0F-E012-F8E989C2B740}"/>
              </a:ext>
            </a:extLst>
          </p:cNvPr>
          <p:cNvSpPr txBox="1"/>
          <p:nvPr/>
        </p:nvSpPr>
        <p:spPr>
          <a:xfrm>
            <a:off x="0" y="4924900"/>
            <a:ext cx="9144000" cy="298835"/>
          </a:xfrm>
          <a:prstGeom prst="rect">
            <a:avLst/>
          </a:prstGeom>
          <a:solidFill>
            <a:srgbClr val="120D6D"/>
          </a:solidFill>
        </p:spPr>
        <p:txBody>
          <a:bodyPr lIns="25400" tIns="25400" rIns="25400" bIns="25400" rtlCol="0" anchor="ctr"/>
          <a:lstStyle/>
          <a:p>
            <a:pPr>
              <a:lnSpc>
                <a:spcPts val="1330"/>
              </a:lnSpc>
            </a:pPr>
            <a:r>
              <a:rPr lang="en-US" sz="94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IT22165848 | Hettiarachchi A T  | R26 - IT - 061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F3CFA3E-E46D-D31B-2686-1D0597AAECEA}"/>
              </a:ext>
            </a:extLst>
          </p:cNvPr>
          <p:cNvCxnSpPr/>
          <p:nvPr/>
        </p:nvCxnSpPr>
        <p:spPr>
          <a:xfrm>
            <a:off x="882315" y="4924900"/>
            <a:ext cx="75517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B7C5BD75-C6D1-47B1-D0BB-F2199E8BA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656" y="1344930"/>
            <a:ext cx="3798173" cy="213620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F56A975-1DD8-DFED-A915-536CA66F5EC4}"/>
              </a:ext>
            </a:extLst>
          </p:cNvPr>
          <p:cNvSpPr txBox="1"/>
          <p:nvPr/>
        </p:nvSpPr>
        <p:spPr>
          <a:xfrm>
            <a:off x="205740" y="609600"/>
            <a:ext cx="47625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Explainable AI Using SHAP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SHAP explains why the ML model produced a risk prediction.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Local explanation: factors affecting one specific prediction.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Global explanation: most important features across the model.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Improves transparency and trust in AI-generated predictions.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107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50236A-D4B4-5B0F-DCD4-AC7F2033C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CEAEAD-EE4F-8CF9-5F2B-501665C41E57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20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120D6D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9227A-4841-B215-A5B7-B8A9FBAF4CD4}"/>
              </a:ext>
            </a:extLst>
          </p:cNvPr>
          <p:cNvSpPr/>
          <p:nvPr/>
        </p:nvSpPr>
        <p:spPr>
          <a:xfrm>
            <a:off x="0" y="5005137"/>
            <a:ext cx="9144000" cy="138363"/>
          </a:xfrm>
          <a:prstGeom prst="rect">
            <a:avLst/>
          </a:prstGeom>
          <a:solidFill>
            <a:srgbClr val="EB7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7BCA4D28-3C98-E3A0-F9E7-C521EB8E8066}"/>
              </a:ext>
            </a:extLst>
          </p:cNvPr>
          <p:cNvSpPr txBox="1"/>
          <p:nvPr/>
        </p:nvSpPr>
        <p:spPr>
          <a:xfrm>
            <a:off x="0" y="4924900"/>
            <a:ext cx="9144000" cy="298835"/>
          </a:xfrm>
          <a:prstGeom prst="rect">
            <a:avLst/>
          </a:prstGeom>
          <a:solidFill>
            <a:srgbClr val="120D6D"/>
          </a:solidFill>
        </p:spPr>
        <p:txBody>
          <a:bodyPr lIns="25400" tIns="25400" rIns="25400" bIns="25400" rtlCol="0" anchor="ctr"/>
          <a:lstStyle/>
          <a:p>
            <a:pPr>
              <a:lnSpc>
                <a:spcPts val="1330"/>
              </a:lnSpc>
            </a:pPr>
            <a:r>
              <a:rPr lang="en-US" sz="94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IT22243980 | Wickramarachchi T </a:t>
            </a:r>
            <a:r>
              <a:rPr lang="en-US" sz="949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sz="94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| R26 - IT - 061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E24C1F8E-FDF3-7628-7336-A4377FC46606}"/>
              </a:ext>
            </a:extLst>
          </p:cNvPr>
          <p:cNvSpPr txBox="1"/>
          <p:nvPr/>
        </p:nvSpPr>
        <p:spPr>
          <a:xfrm>
            <a:off x="809206" y="371004"/>
            <a:ext cx="7227888" cy="2403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400" b="1" i="1" dirty="0">
                <a:solidFill>
                  <a:srgbClr val="120D6D"/>
                </a:solidFill>
                <a:effectLst>
                  <a:outerShdw sx="0" sy="0">
                    <a:srgbClr val="000000"/>
                  </a:outerShdw>
                </a:effectLst>
              </a:rPr>
              <a:t>Reinforcement Learning-Based Intervention Recommendation</a:t>
            </a:r>
          </a:p>
          <a:p>
            <a:pPr algn="ctr">
              <a:lnSpc>
                <a:spcPts val="8849"/>
              </a:lnSpc>
            </a:pPr>
            <a:endParaRPr lang="en-US" sz="6000" b="1" dirty="0">
              <a:solidFill>
                <a:srgbClr val="35858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E9D648E9-650D-02C2-0140-A7722258063F}"/>
              </a:ext>
            </a:extLst>
          </p:cNvPr>
          <p:cNvSpPr txBox="1"/>
          <p:nvPr/>
        </p:nvSpPr>
        <p:spPr>
          <a:xfrm>
            <a:off x="2398296" y="3540013"/>
            <a:ext cx="5427444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14"/>
              </a:lnSpc>
            </a:pPr>
            <a:r>
              <a:rPr lang="en-US" sz="2400" dirty="0">
                <a:latin typeface="Canva Sans"/>
                <a:ea typeface="Canva Sans"/>
                <a:cs typeface="Canva Sans"/>
                <a:sym typeface="Canva Sans"/>
              </a:rPr>
              <a:t>Wickramarachchi T.T.</a:t>
            </a:r>
            <a:r>
              <a:rPr lang="en-US" sz="2300" dirty="0">
                <a:latin typeface="Canva Sans"/>
                <a:ea typeface="Canva Sans"/>
                <a:cs typeface="Canva Sans"/>
                <a:sym typeface="Canva Sans"/>
              </a:rPr>
              <a:t>| IT22243980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7FEC62-427A-9AA3-D5A6-D9B45BDD4CBA}"/>
              </a:ext>
            </a:extLst>
          </p:cNvPr>
          <p:cNvSpPr txBox="1"/>
          <p:nvPr/>
        </p:nvSpPr>
        <p:spPr>
          <a:xfrm>
            <a:off x="1193512" y="4361669"/>
            <a:ext cx="7329953" cy="34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4"/>
              </a:lnSpc>
            </a:pPr>
            <a:r>
              <a:rPr lang="en-US" sz="2300" dirty="0">
                <a:latin typeface="Canva Sans"/>
                <a:ea typeface="Canva Sans"/>
                <a:cs typeface="Canva Sans"/>
                <a:sym typeface="Canva Sans"/>
              </a:rPr>
              <a:t>SPECIALIZATION : INFORMATION TECHNOLOGY</a:t>
            </a:r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49568195-EE48-8632-942E-AAFB0CA5DBF2}"/>
              </a:ext>
            </a:extLst>
          </p:cNvPr>
          <p:cNvSpPr/>
          <p:nvPr/>
        </p:nvSpPr>
        <p:spPr>
          <a:xfrm>
            <a:off x="886172" y="3067099"/>
            <a:ext cx="7576753" cy="0"/>
          </a:xfrm>
          <a:prstGeom prst="line">
            <a:avLst/>
          </a:prstGeom>
          <a:ln w="38100" cap="flat">
            <a:solidFill>
              <a:srgbClr val="120D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2274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  <p:bldP spid="9" grpId="0"/>
      <p:bldP spid="10" grpId="0"/>
      <p:bldP spid="11" grpId="0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6D16ED-B53D-FAB4-D09A-7F9A6F41E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1F622D-C6A8-C0B8-7113-0E247FCCA296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20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0C3A6E-4C0F-03D8-6704-CB27AA95BABE}"/>
              </a:ext>
            </a:extLst>
          </p:cNvPr>
          <p:cNvSpPr/>
          <p:nvPr/>
        </p:nvSpPr>
        <p:spPr>
          <a:xfrm>
            <a:off x="0" y="5005137"/>
            <a:ext cx="9144000" cy="138363"/>
          </a:xfrm>
          <a:prstGeom prst="rect">
            <a:avLst/>
          </a:prstGeom>
          <a:solidFill>
            <a:srgbClr val="EB7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5C1E1E76-D568-1838-28CB-F1B4483249D4}"/>
              </a:ext>
            </a:extLst>
          </p:cNvPr>
          <p:cNvSpPr txBox="1"/>
          <p:nvPr/>
        </p:nvSpPr>
        <p:spPr>
          <a:xfrm>
            <a:off x="0" y="4924900"/>
            <a:ext cx="9144000" cy="298835"/>
          </a:xfrm>
          <a:prstGeom prst="rect">
            <a:avLst/>
          </a:prstGeom>
          <a:solidFill>
            <a:srgbClr val="120D6D"/>
          </a:solidFill>
        </p:spPr>
        <p:txBody>
          <a:bodyPr lIns="25400" tIns="25400" rIns="25400" bIns="25400" rtlCol="0" anchor="ctr"/>
          <a:lstStyle/>
          <a:p>
            <a:pPr>
              <a:lnSpc>
                <a:spcPts val="1330"/>
              </a:lnSpc>
            </a:pPr>
            <a:r>
              <a:rPr lang="en-US" sz="94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IT22243980 | Wickramarachchi T </a:t>
            </a:r>
            <a:r>
              <a:rPr lang="en-US" sz="949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sz="94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| R26 - IT - 061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3A305A1-57C9-BC26-5A55-1A90B259E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500" y="1367789"/>
            <a:ext cx="3976859" cy="223670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D31684A-7E87-D41C-FFA4-77F693D6B090}"/>
              </a:ext>
            </a:extLst>
          </p:cNvPr>
          <p:cNvSpPr txBox="1"/>
          <p:nvPr/>
        </p:nvSpPr>
        <p:spPr>
          <a:xfrm>
            <a:off x="198120" y="518160"/>
            <a:ext cx="457962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Reinforcement Learning-Based Intervention Optimization</a:t>
            </a:r>
            <a:endParaRPr lang="en-US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Uses Q-Learning to recommend suitable dengue interventions.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State context includes: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Dengue cases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Rainfall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Temperature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The agent selects the best intervention based on previous rewards.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Possible actions:</a:t>
            </a:r>
            <a:endParaRPr lang="en-US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Monitor Only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Deploy Fumigation Teams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Issue Public Health Alert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Increase Hospital Readiness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Community Cleanup Campaign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41690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BE2C44-5A24-D966-3442-29228A07D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E4B70B-FB5D-BA9B-680B-3DFC50D529E3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20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054E0C-CC03-0A26-1A76-0CCBD56E9211}"/>
              </a:ext>
            </a:extLst>
          </p:cNvPr>
          <p:cNvSpPr/>
          <p:nvPr/>
        </p:nvSpPr>
        <p:spPr>
          <a:xfrm>
            <a:off x="0" y="5005137"/>
            <a:ext cx="9144000" cy="138363"/>
          </a:xfrm>
          <a:prstGeom prst="rect">
            <a:avLst/>
          </a:prstGeom>
          <a:solidFill>
            <a:srgbClr val="EB7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DE858363-D5EA-426C-200B-407E521EEF50}"/>
              </a:ext>
            </a:extLst>
          </p:cNvPr>
          <p:cNvSpPr txBox="1"/>
          <p:nvPr/>
        </p:nvSpPr>
        <p:spPr>
          <a:xfrm>
            <a:off x="0" y="4924900"/>
            <a:ext cx="9144000" cy="298835"/>
          </a:xfrm>
          <a:prstGeom prst="rect">
            <a:avLst/>
          </a:prstGeom>
          <a:solidFill>
            <a:srgbClr val="120D6D"/>
          </a:solidFill>
        </p:spPr>
        <p:txBody>
          <a:bodyPr lIns="25400" tIns="25400" rIns="25400" bIns="25400" rtlCol="0" anchor="ctr"/>
          <a:lstStyle/>
          <a:p>
            <a:pPr>
              <a:lnSpc>
                <a:spcPts val="1330"/>
              </a:lnSpc>
            </a:pPr>
            <a:r>
              <a:rPr lang="en-US" sz="94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IT22281982 | Adithya A  </a:t>
            </a:r>
            <a:r>
              <a:rPr lang="en-US" sz="949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  <a:r>
              <a:rPr lang="en-US" sz="94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H | R26 - IT - 061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258796C9-3E63-CB90-ADDC-1E7CDF9C24E2}"/>
              </a:ext>
            </a:extLst>
          </p:cNvPr>
          <p:cNvSpPr txBox="1"/>
          <p:nvPr/>
        </p:nvSpPr>
        <p:spPr>
          <a:xfrm>
            <a:off x="809206" y="371004"/>
            <a:ext cx="7227888" cy="2403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400" b="1" i="1" dirty="0">
                <a:solidFill>
                  <a:srgbClr val="120D6D"/>
                </a:solidFill>
                <a:effectLst>
                  <a:outerShdw sx="0" sy="0">
                    <a:srgbClr val="000000"/>
                  </a:outerShdw>
                </a:effectLst>
              </a:rPr>
              <a:t>NLP-Based Dengue Health Intelligence</a:t>
            </a:r>
          </a:p>
          <a:p>
            <a:pPr algn="ctr">
              <a:lnSpc>
                <a:spcPts val="8849"/>
              </a:lnSpc>
            </a:pPr>
            <a:endParaRPr lang="en-US" sz="6000" b="1" dirty="0">
              <a:solidFill>
                <a:srgbClr val="35858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3B71E6CF-52FC-4E99-1573-B4ECD08C3DF1}"/>
              </a:ext>
            </a:extLst>
          </p:cNvPr>
          <p:cNvSpPr txBox="1"/>
          <p:nvPr/>
        </p:nvSpPr>
        <p:spPr>
          <a:xfrm>
            <a:off x="2398296" y="3540013"/>
            <a:ext cx="4178968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14"/>
              </a:lnSpc>
            </a:pPr>
            <a:r>
              <a:rPr lang="en-US" sz="2400" dirty="0">
                <a:latin typeface="Canva Sans"/>
                <a:ea typeface="Canva Sans"/>
                <a:cs typeface="Canva Sans"/>
                <a:sym typeface="Canva Sans"/>
              </a:rPr>
              <a:t>Adithya A.A.H.</a:t>
            </a:r>
            <a:r>
              <a:rPr lang="en-US" sz="2300" dirty="0">
                <a:latin typeface="Canva Sans"/>
                <a:ea typeface="Canva Sans"/>
                <a:cs typeface="Canva Sans"/>
                <a:sym typeface="Canva Sans"/>
              </a:rPr>
              <a:t>| </a:t>
            </a:r>
            <a:r>
              <a:rPr lang="en-US" sz="2400" dirty="0">
                <a:latin typeface="Canva Sans"/>
                <a:ea typeface="Canva Sans"/>
                <a:cs typeface="Canva Sans"/>
                <a:sym typeface="Canva Sans"/>
              </a:rPr>
              <a:t>IT22281982</a:t>
            </a:r>
            <a:endParaRPr lang="en-US" sz="2300" dirty="0"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D91465-CED5-D3E7-50DF-48DD74FCE51F}"/>
              </a:ext>
            </a:extLst>
          </p:cNvPr>
          <p:cNvSpPr txBox="1"/>
          <p:nvPr/>
        </p:nvSpPr>
        <p:spPr>
          <a:xfrm>
            <a:off x="1193512" y="4361669"/>
            <a:ext cx="7329953" cy="34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4"/>
              </a:lnSpc>
            </a:pPr>
            <a:r>
              <a:rPr lang="en-US" sz="2300" dirty="0">
                <a:latin typeface="Canva Sans"/>
                <a:ea typeface="Canva Sans"/>
                <a:cs typeface="Canva Sans"/>
                <a:sym typeface="Canva Sans"/>
              </a:rPr>
              <a:t>SPECIALIZATION : INFORMATION TECHNOLOGY</a:t>
            </a:r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A1C5040C-9A1B-0142-155F-FF00201E0904}"/>
              </a:ext>
            </a:extLst>
          </p:cNvPr>
          <p:cNvSpPr/>
          <p:nvPr/>
        </p:nvSpPr>
        <p:spPr>
          <a:xfrm>
            <a:off x="886172" y="3067099"/>
            <a:ext cx="7576753" cy="0"/>
          </a:xfrm>
          <a:prstGeom prst="line">
            <a:avLst/>
          </a:prstGeom>
          <a:ln w="38100" cap="flat">
            <a:solidFill>
              <a:srgbClr val="120D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3607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  <p:bldP spid="9" grpId="0"/>
      <p:bldP spid="10" grpId="0"/>
      <p:bldP spid="11" grpId="0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455A15-25E6-20C9-865A-24A99C811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9B11E9-0DDC-5211-F6E7-E0ABA89F424E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20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33672C-83E3-BFCE-9E1D-5A089071B6A5}"/>
              </a:ext>
            </a:extLst>
          </p:cNvPr>
          <p:cNvSpPr/>
          <p:nvPr/>
        </p:nvSpPr>
        <p:spPr>
          <a:xfrm>
            <a:off x="0" y="5005137"/>
            <a:ext cx="9144000" cy="138363"/>
          </a:xfrm>
          <a:prstGeom prst="rect">
            <a:avLst/>
          </a:prstGeom>
          <a:solidFill>
            <a:srgbClr val="EB7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9E7300B2-1F84-1D23-5755-2A3245E6AEC7}"/>
              </a:ext>
            </a:extLst>
          </p:cNvPr>
          <p:cNvSpPr txBox="1"/>
          <p:nvPr/>
        </p:nvSpPr>
        <p:spPr>
          <a:xfrm>
            <a:off x="0" y="4924900"/>
            <a:ext cx="9144000" cy="298835"/>
          </a:xfrm>
          <a:prstGeom prst="rect">
            <a:avLst/>
          </a:prstGeom>
          <a:solidFill>
            <a:srgbClr val="120D6D"/>
          </a:solidFill>
        </p:spPr>
        <p:txBody>
          <a:bodyPr lIns="25400" tIns="25400" rIns="25400" bIns="25400" rtlCol="0" anchor="ctr"/>
          <a:lstStyle/>
          <a:p>
            <a:pPr>
              <a:lnSpc>
                <a:spcPts val="1330"/>
              </a:lnSpc>
            </a:pPr>
            <a:r>
              <a:rPr lang="en-US" sz="94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IT22281982 | Adithya A  </a:t>
            </a:r>
            <a:r>
              <a:rPr lang="en-US" sz="949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  <a:r>
              <a:rPr lang="en-US" sz="94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H | R26 - IT - 061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542CC9-7F66-37A5-2F0C-9EE23460C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742" y="1306830"/>
            <a:ext cx="3836277" cy="21576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E0058BB-8759-7811-5FC8-0149D2E52060}"/>
              </a:ext>
            </a:extLst>
          </p:cNvPr>
          <p:cNvSpPr txBox="1"/>
          <p:nvPr/>
        </p:nvSpPr>
        <p:spPr>
          <a:xfrm>
            <a:off x="198120" y="365760"/>
            <a:ext cx="49758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Multilingual Dengue Health Intelligence and AI-Assisted PHI Field Inspection</a:t>
            </a:r>
            <a:endParaRPr lang="en-US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Supports dengue-related questions and health claims in English, Sinhala, and Singlish.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Uses NLP and </a:t>
            </a:r>
            <a:r>
              <a:rPr lang="en-US" sz="1600" dirty="0" err="1"/>
              <a:t>DistilBERT</a:t>
            </a:r>
            <a:r>
              <a:rPr lang="en-US" sz="1600" dirty="0"/>
              <a:t>-based classification to provide dengue health information.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Covers symptoms, prevention, treatment-related information, risk factors, official guidelines, and misinformation detection.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PHI officers can capture or upload multiple inspection images for one inspection record.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Officers add the location and relevant inspection details.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The AI vision service identifies possible mosquito breeding-risk conditions from images.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The PHI officer reviews the AI result and takes the final field 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619639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" y="4914900"/>
            <a:ext cx="9144000" cy="228600"/>
          </a:xfrm>
          <a:prstGeom prst="rect">
            <a:avLst/>
          </a:prstGeom>
          <a:solidFill>
            <a:srgbClr val="EB7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13">
            <a:extLst>
              <a:ext uri="{FF2B5EF4-FFF2-40B4-BE49-F238E27FC236}">
                <a16:creationId xmlns:a16="http://schemas.microsoft.com/office/drawing/2014/main" id="{3090D5D3-E3E9-BA21-E4A7-AEED1213B3D5}"/>
              </a:ext>
            </a:extLst>
          </p:cNvPr>
          <p:cNvSpPr txBox="1"/>
          <p:nvPr/>
        </p:nvSpPr>
        <p:spPr>
          <a:xfrm>
            <a:off x="2" y="4883915"/>
            <a:ext cx="9144000" cy="298835"/>
          </a:xfrm>
          <a:prstGeom prst="rect">
            <a:avLst/>
          </a:prstGeom>
          <a:solidFill>
            <a:srgbClr val="120D6D"/>
          </a:solidFill>
        </p:spPr>
        <p:txBody>
          <a:bodyPr lIns="25400" tIns="25400" rIns="25400" bIns="25400" rtlCol="0" anchor="ctr"/>
          <a:lstStyle/>
          <a:p>
            <a:pPr>
              <a:lnSpc>
                <a:spcPts val="1330"/>
              </a:lnSpc>
            </a:pPr>
            <a:r>
              <a:rPr lang="en-US" sz="1000" b="1" dirty="0">
                <a:solidFill>
                  <a:schemeClr val="bg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R26 - IT - 061 | </a:t>
            </a:r>
            <a:r>
              <a:rPr lang="en-US" sz="1000" dirty="0">
                <a:solidFill>
                  <a:schemeClr val="bg1"/>
                </a:solidFill>
                <a:latin typeface="Aptos"/>
              </a:rPr>
              <a:t>An AI-Based Dengue Outbreak Prediction and Intervention Optimization System for the Colombo District, Sri Lanka</a:t>
            </a:r>
            <a:endParaRPr lang="en-US" sz="1000" b="1" dirty="0">
              <a:solidFill>
                <a:schemeClr val="bg1"/>
              </a:solidFill>
              <a:latin typeface="Canva Sans" panose="020B060402020202020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6193797-8085-CD89-54CA-6ABB79A12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4632102"/>
              </p:ext>
            </p:extLst>
          </p:nvPr>
        </p:nvGraphicFramePr>
        <p:xfrm>
          <a:off x="1260264" y="1076997"/>
          <a:ext cx="6394872" cy="33301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97436">
                  <a:extLst>
                    <a:ext uri="{9D8B030D-6E8A-4147-A177-3AD203B41FA5}">
                      <a16:colId xmlns:a16="http://schemas.microsoft.com/office/drawing/2014/main" val="2035696520"/>
                    </a:ext>
                  </a:extLst>
                </a:gridCol>
                <a:gridCol w="3197436">
                  <a:extLst>
                    <a:ext uri="{9D8B030D-6E8A-4147-A177-3AD203B41FA5}">
                      <a16:colId xmlns:a16="http://schemas.microsoft.com/office/drawing/2014/main" val="1509859971"/>
                    </a:ext>
                  </a:extLst>
                </a:gridCol>
              </a:tblGrid>
              <a:tr h="296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Area</a:t>
                      </a:r>
                    </a:p>
                  </a:txBody>
                  <a:tcPr marL="74143" marR="74143" marT="37072" marB="370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Technology</a:t>
                      </a:r>
                    </a:p>
                  </a:txBody>
                  <a:tcPr marL="74143" marR="74143" marT="37072" marB="37072" anchor="ctr"/>
                </a:tc>
                <a:extLst>
                  <a:ext uri="{0D108BD9-81ED-4DB2-BD59-A6C34878D82A}">
                    <a16:rowId xmlns:a16="http://schemas.microsoft.com/office/drawing/2014/main" val="3039040573"/>
                  </a:ext>
                </a:extLst>
              </a:tr>
              <a:tr h="296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Programming</a:t>
                      </a:r>
                    </a:p>
                  </a:txBody>
                  <a:tcPr marL="74143" marR="74143" marT="37072" marB="370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Python, Dart</a:t>
                      </a:r>
                    </a:p>
                  </a:txBody>
                  <a:tcPr marL="74143" marR="74143" marT="37072" marB="37072" anchor="ctr"/>
                </a:tc>
                <a:extLst>
                  <a:ext uri="{0D108BD9-81ED-4DB2-BD59-A6C34878D82A}">
                    <a16:rowId xmlns:a16="http://schemas.microsoft.com/office/drawing/2014/main" val="456338359"/>
                  </a:ext>
                </a:extLst>
              </a:tr>
              <a:tr h="296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Data Processing</a:t>
                      </a:r>
                    </a:p>
                  </a:txBody>
                  <a:tcPr marL="74143" marR="74143" marT="37072" marB="370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Pandas, NumPy</a:t>
                      </a:r>
                    </a:p>
                  </a:txBody>
                  <a:tcPr marL="74143" marR="74143" marT="37072" marB="37072" anchor="ctr"/>
                </a:tc>
                <a:extLst>
                  <a:ext uri="{0D108BD9-81ED-4DB2-BD59-A6C34878D82A}">
                    <a16:rowId xmlns:a16="http://schemas.microsoft.com/office/drawing/2014/main" val="4034999210"/>
                  </a:ext>
                </a:extLst>
              </a:tr>
              <a:tr h="296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ML Prediction</a:t>
                      </a:r>
                    </a:p>
                  </a:txBody>
                  <a:tcPr marL="74143" marR="74143" marT="37072" marB="370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Scikit-learn, Random Forest</a:t>
                      </a:r>
                    </a:p>
                  </a:txBody>
                  <a:tcPr marL="74143" marR="74143" marT="37072" marB="37072" anchor="ctr"/>
                </a:tc>
                <a:extLst>
                  <a:ext uri="{0D108BD9-81ED-4DB2-BD59-A6C34878D82A}">
                    <a16:rowId xmlns:a16="http://schemas.microsoft.com/office/drawing/2014/main" val="1720499476"/>
                  </a:ext>
                </a:extLst>
              </a:tr>
              <a:tr h="296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Explainable AI</a:t>
                      </a:r>
                    </a:p>
                  </a:txBody>
                  <a:tcPr marL="74143" marR="74143" marT="37072" marB="370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SHAP</a:t>
                      </a:r>
                    </a:p>
                  </a:txBody>
                  <a:tcPr marL="74143" marR="74143" marT="37072" marB="37072" anchor="ctr"/>
                </a:tc>
                <a:extLst>
                  <a:ext uri="{0D108BD9-81ED-4DB2-BD59-A6C34878D82A}">
                    <a16:rowId xmlns:a16="http://schemas.microsoft.com/office/drawing/2014/main" val="1930142414"/>
                  </a:ext>
                </a:extLst>
              </a:tr>
              <a:tr h="296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RL</a:t>
                      </a:r>
                    </a:p>
                  </a:txBody>
                  <a:tcPr marL="74143" marR="74143" marT="37072" marB="370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Q-Learning</a:t>
                      </a:r>
                    </a:p>
                  </a:txBody>
                  <a:tcPr marL="74143" marR="74143" marT="37072" marB="37072" anchor="ctr"/>
                </a:tc>
                <a:extLst>
                  <a:ext uri="{0D108BD9-81ED-4DB2-BD59-A6C34878D82A}">
                    <a16:rowId xmlns:a16="http://schemas.microsoft.com/office/drawing/2014/main" val="2064357642"/>
                  </a:ext>
                </a:extLst>
              </a:tr>
              <a:tr h="296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NLP</a:t>
                      </a:r>
                    </a:p>
                  </a:txBody>
                  <a:tcPr marL="74143" marR="74143" marT="37072" marB="370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DistilBERT</a:t>
                      </a:r>
                    </a:p>
                  </a:txBody>
                  <a:tcPr marL="74143" marR="74143" marT="37072" marB="37072" anchor="ctr"/>
                </a:tc>
                <a:extLst>
                  <a:ext uri="{0D108BD9-81ED-4DB2-BD59-A6C34878D82A}">
                    <a16:rowId xmlns:a16="http://schemas.microsoft.com/office/drawing/2014/main" val="1933502889"/>
                  </a:ext>
                </a:extLst>
              </a:tr>
              <a:tr h="296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Backend</a:t>
                      </a:r>
                    </a:p>
                  </a:txBody>
                  <a:tcPr marL="74143" marR="74143" marT="37072" marB="370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FastAPI</a:t>
                      </a:r>
                    </a:p>
                  </a:txBody>
                  <a:tcPr marL="74143" marR="74143" marT="37072" marB="37072" anchor="ctr"/>
                </a:tc>
                <a:extLst>
                  <a:ext uri="{0D108BD9-81ED-4DB2-BD59-A6C34878D82A}">
                    <a16:rowId xmlns:a16="http://schemas.microsoft.com/office/drawing/2014/main" val="159316446"/>
                  </a:ext>
                </a:extLst>
              </a:tr>
              <a:tr h="296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Mobile Application</a:t>
                      </a:r>
                    </a:p>
                  </a:txBody>
                  <a:tcPr marL="74143" marR="74143" marT="37072" marB="370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Flutter</a:t>
                      </a:r>
                    </a:p>
                  </a:txBody>
                  <a:tcPr marL="74143" marR="74143" marT="37072" marB="37072" anchor="ctr"/>
                </a:tc>
                <a:extLst>
                  <a:ext uri="{0D108BD9-81ED-4DB2-BD59-A6C34878D82A}">
                    <a16:rowId xmlns:a16="http://schemas.microsoft.com/office/drawing/2014/main" val="1120237966"/>
                  </a:ext>
                </a:extLst>
              </a:tr>
              <a:tr h="296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Database</a:t>
                      </a:r>
                    </a:p>
                  </a:txBody>
                  <a:tcPr marL="74143" marR="74143" marT="37072" marB="370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Supabase</a:t>
                      </a:r>
                    </a:p>
                  </a:txBody>
                  <a:tcPr marL="74143" marR="74143" marT="37072" marB="37072" anchor="ctr"/>
                </a:tc>
                <a:extLst>
                  <a:ext uri="{0D108BD9-81ED-4DB2-BD59-A6C34878D82A}">
                    <a16:rowId xmlns:a16="http://schemas.microsoft.com/office/drawing/2014/main" val="1768499913"/>
                  </a:ext>
                </a:extLst>
              </a:tr>
              <a:tr h="296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Version Control</a:t>
                      </a:r>
                    </a:p>
                  </a:txBody>
                  <a:tcPr marL="74143" marR="74143" marT="37072" marB="370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GitHub</a:t>
                      </a:r>
                    </a:p>
                  </a:txBody>
                  <a:tcPr marL="74143" marR="74143" marT="37072" marB="37072" anchor="ctr"/>
                </a:tc>
                <a:extLst>
                  <a:ext uri="{0D108BD9-81ED-4DB2-BD59-A6C34878D82A}">
                    <a16:rowId xmlns:a16="http://schemas.microsoft.com/office/drawing/2014/main" val="239843317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44E1445-10F2-EEDD-4BC7-A6A6CF354EDD}"/>
              </a:ext>
            </a:extLst>
          </p:cNvPr>
          <p:cNvSpPr txBox="1"/>
          <p:nvPr/>
        </p:nvSpPr>
        <p:spPr>
          <a:xfrm>
            <a:off x="1167898" y="351747"/>
            <a:ext cx="3404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20D6D"/>
                </a:solidFill>
              </a:rPr>
              <a:t>Technology and Implementation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20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B7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13">
            <a:extLst>
              <a:ext uri="{FF2B5EF4-FFF2-40B4-BE49-F238E27FC236}">
                <a16:creationId xmlns:a16="http://schemas.microsoft.com/office/drawing/2014/main" id="{DC2979A7-0628-DCA1-766E-F435B83B7984}"/>
              </a:ext>
            </a:extLst>
          </p:cNvPr>
          <p:cNvSpPr txBox="1"/>
          <p:nvPr/>
        </p:nvSpPr>
        <p:spPr>
          <a:xfrm>
            <a:off x="2" y="4883915"/>
            <a:ext cx="9144000" cy="298835"/>
          </a:xfrm>
          <a:prstGeom prst="rect">
            <a:avLst/>
          </a:prstGeom>
          <a:solidFill>
            <a:srgbClr val="120D6D"/>
          </a:solidFill>
        </p:spPr>
        <p:txBody>
          <a:bodyPr lIns="25400" tIns="25400" rIns="25400" bIns="25400" rtlCol="0" anchor="ctr"/>
          <a:lstStyle/>
          <a:p>
            <a:pPr>
              <a:lnSpc>
                <a:spcPts val="1330"/>
              </a:lnSpc>
            </a:pPr>
            <a:r>
              <a:rPr lang="en-US" sz="1000" b="1" dirty="0">
                <a:solidFill>
                  <a:schemeClr val="bg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R26 - IT - 061 | </a:t>
            </a:r>
            <a:r>
              <a:rPr lang="en-US" sz="1000" dirty="0">
                <a:solidFill>
                  <a:schemeClr val="bg1"/>
                </a:solidFill>
                <a:latin typeface="Aptos"/>
              </a:rPr>
              <a:t>An AI-Based Dengue Outbreak Prediction and Intervention Optimization System for the Colombo District, Sri Lanka</a:t>
            </a:r>
            <a:endParaRPr lang="en-US" sz="1000" b="1" dirty="0">
              <a:solidFill>
                <a:schemeClr val="bg1"/>
              </a:solidFill>
              <a:latin typeface="Canva Sans" panose="020B060402020202020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FE5D08-7A02-3AAD-DCD2-3E57C1CF334D}"/>
              </a:ext>
            </a:extLst>
          </p:cNvPr>
          <p:cNvSpPr txBox="1"/>
          <p:nvPr/>
        </p:nvSpPr>
        <p:spPr>
          <a:xfrm>
            <a:off x="381000" y="605641"/>
            <a:ext cx="775716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120D6D"/>
                </a:solidFill>
              </a:rPr>
              <a:t> Evaluation and Validation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ML Prediction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Accuracy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Precision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Recall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F1-score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Confusion Matrix </a:t>
            </a:r>
          </a:p>
          <a:p>
            <a:pPr>
              <a:buNone/>
            </a:pPr>
            <a:r>
              <a:rPr lang="en-US" b="1" dirty="0"/>
              <a:t>System Validation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API testing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Flutter mobile application testing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Database integration testing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Usability feedback from potential users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Supervisor and stakeholder validation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20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95813"/>
            <a:ext cx="7132320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223C3D"/>
                </a:solidFill>
                <a:latin typeface="Aptos"/>
              </a:defRPr>
            </a:pPr>
            <a:r>
              <a:rPr dirty="0">
                <a:latin typeface="Canva Sans"/>
              </a:rPr>
              <a:t>Future &amp; Potential Impact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947652"/>
            <a:ext cx="9144000" cy="195848"/>
          </a:xfrm>
          <a:prstGeom prst="rect">
            <a:avLst/>
          </a:prstGeom>
          <a:solidFill>
            <a:srgbClr val="EB7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ADFCF2-0AC3-5A28-4F0F-A733D9753421}"/>
              </a:ext>
            </a:extLst>
          </p:cNvPr>
          <p:cNvSpPr txBox="1"/>
          <p:nvPr/>
        </p:nvSpPr>
        <p:spPr>
          <a:xfrm>
            <a:off x="2" y="4883915"/>
            <a:ext cx="9144000" cy="298835"/>
          </a:xfrm>
          <a:prstGeom prst="rect">
            <a:avLst/>
          </a:prstGeom>
          <a:solidFill>
            <a:srgbClr val="120D6D"/>
          </a:solidFill>
        </p:spPr>
        <p:txBody>
          <a:bodyPr lIns="25400" tIns="25400" rIns="25400" bIns="25400" rtlCol="0" anchor="ctr"/>
          <a:lstStyle/>
          <a:p>
            <a:pPr>
              <a:lnSpc>
                <a:spcPts val="1330"/>
              </a:lnSpc>
            </a:pPr>
            <a:r>
              <a:rPr lang="en-US" sz="1000" b="1" dirty="0">
                <a:solidFill>
                  <a:schemeClr val="bg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R26 - IT - 061 | </a:t>
            </a:r>
            <a:r>
              <a:rPr lang="en-US" sz="1000" dirty="0">
                <a:solidFill>
                  <a:schemeClr val="bg1"/>
                </a:solidFill>
                <a:latin typeface="Aptos"/>
              </a:rPr>
              <a:t>An AI-Based Dengue Outbreak Prediction and Intervention Optimization System for the Colombo District, Sri Lanka</a:t>
            </a:r>
            <a:endParaRPr lang="en-US" sz="1000" b="1" dirty="0">
              <a:solidFill>
                <a:schemeClr val="bg1"/>
              </a:solidFill>
              <a:latin typeface="Canva Sans" panose="020B060402020202020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BAC3D0-EEE3-3F78-9D85-AAB348D4A812}"/>
              </a:ext>
            </a:extLst>
          </p:cNvPr>
          <p:cNvSpPr txBox="1"/>
          <p:nvPr/>
        </p:nvSpPr>
        <p:spPr>
          <a:xfrm>
            <a:off x="335280" y="917139"/>
            <a:ext cx="65151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Expected Impact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Earlier awareness of potential dengue risks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More understandable AI predictions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Faster intervention recommendations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Better PHI/MOH decision support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Improved follow-up record keeping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Better access to dengue health information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Support for proactive dengue prevention in Sri Lanka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BE906-0367-CC51-D574-61D5ABD3B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2193E4AF-3646-F860-7E7A-ABC88FBC3888}"/>
              </a:ext>
            </a:extLst>
          </p:cNvPr>
          <p:cNvSpPr/>
          <p:nvPr/>
        </p:nvSpPr>
        <p:spPr>
          <a:xfrm>
            <a:off x="4678680" y="672867"/>
            <a:ext cx="3866048" cy="344193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E925FC6-8570-5053-0B7D-56F9A03ADA84}"/>
              </a:ext>
            </a:extLst>
          </p:cNvPr>
          <p:cNvSpPr/>
          <p:nvPr/>
        </p:nvSpPr>
        <p:spPr>
          <a:xfrm>
            <a:off x="281940" y="963673"/>
            <a:ext cx="3512820" cy="315112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6A56EC-8234-7476-F996-DC4CC296B645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20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733A00-DDB1-1425-3F06-EE8872954A84}"/>
              </a:ext>
            </a:extLst>
          </p:cNvPr>
          <p:cNvSpPr txBox="1"/>
          <p:nvPr/>
        </p:nvSpPr>
        <p:spPr>
          <a:xfrm>
            <a:off x="502920" y="195813"/>
            <a:ext cx="7132320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223C3D"/>
                </a:solidFill>
                <a:latin typeface="Aptos"/>
              </a:defRPr>
            </a:pPr>
            <a:r>
              <a:rPr lang="en-GB" dirty="0">
                <a:latin typeface="Canva Sans"/>
              </a:rPr>
              <a:t>Commercialization</a:t>
            </a:r>
            <a:endParaRPr dirty="0">
              <a:latin typeface="Canva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508BFD-13CF-C43C-04E3-F3E3A3E772A1}"/>
              </a:ext>
            </a:extLst>
          </p:cNvPr>
          <p:cNvSpPr txBox="1"/>
          <p:nvPr/>
        </p:nvSpPr>
        <p:spPr>
          <a:xfrm>
            <a:off x="521207" y="658368"/>
            <a:ext cx="7223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2A6F71"/>
                </a:solidFill>
                <a:latin typeface="Aptos"/>
              </a:defRPr>
            </a:pPr>
            <a:r>
              <a:rPr lang="en-GB" sz="1200" b="1" dirty="0"/>
              <a:t> Commercialization Approach</a:t>
            </a:r>
            <a:endParaRPr dirty="0">
              <a:latin typeface="Canva San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C5FDF8-5249-C0E8-B24B-16374BFECB41}"/>
              </a:ext>
            </a:extLst>
          </p:cNvPr>
          <p:cNvSpPr/>
          <p:nvPr/>
        </p:nvSpPr>
        <p:spPr>
          <a:xfrm>
            <a:off x="2" y="4914900"/>
            <a:ext cx="9144000" cy="228600"/>
          </a:xfrm>
          <a:prstGeom prst="rect">
            <a:avLst/>
          </a:prstGeom>
          <a:solidFill>
            <a:srgbClr val="EB7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43B0D4-5BBB-6F69-12E3-DF35699DA34A}"/>
              </a:ext>
            </a:extLst>
          </p:cNvPr>
          <p:cNvSpPr txBox="1"/>
          <p:nvPr/>
        </p:nvSpPr>
        <p:spPr>
          <a:xfrm>
            <a:off x="826008" y="1421145"/>
            <a:ext cx="210312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A6F71"/>
                </a:solidFill>
                <a:latin typeface="Aptos"/>
              </a:defRPr>
            </a:pPr>
            <a:r>
              <a:rPr lang="en-GB" sz="1400" dirty="0">
                <a:latin typeface="Canva Sans"/>
              </a:rPr>
              <a:t>Target Market</a:t>
            </a:r>
            <a:endParaRPr sz="1400" dirty="0">
              <a:latin typeface="Canva San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0C13E1-FA92-831D-847C-CE02966F9468}"/>
              </a:ext>
            </a:extLst>
          </p:cNvPr>
          <p:cNvSpPr txBox="1"/>
          <p:nvPr/>
        </p:nvSpPr>
        <p:spPr>
          <a:xfrm>
            <a:off x="732537" y="2063918"/>
            <a:ext cx="3866048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Ministry of Health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National Dengue Control Unit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MOH offices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Public Health Inspectors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Hospitals and local authorities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2C73FC-9A4E-6544-1FD7-063B9088F9FB}"/>
              </a:ext>
            </a:extLst>
          </p:cNvPr>
          <p:cNvSpPr txBox="1"/>
          <p:nvPr/>
        </p:nvSpPr>
        <p:spPr>
          <a:xfrm>
            <a:off x="5532120" y="1385371"/>
            <a:ext cx="210312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A6F71"/>
                </a:solidFill>
                <a:latin typeface="Aptos"/>
              </a:defRPr>
            </a:pPr>
            <a:r>
              <a:rPr lang="en-GB" sz="1400" dirty="0">
                <a:latin typeface="Canva Sans"/>
              </a:rPr>
              <a:t>Value Proposition</a:t>
            </a:r>
            <a:endParaRPr sz="1400" dirty="0">
              <a:latin typeface="Canva San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8B259-9419-5871-AE6D-7680BD21B8AB}"/>
              </a:ext>
            </a:extLst>
          </p:cNvPr>
          <p:cNvSpPr txBox="1"/>
          <p:nvPr/>
        </p:nvSpPr>
        <p:spPr>
          <a:xfrm>
            <a:off x="4975351" y="1385371"/>
            <a:ext cx="3436112" cy="181806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Centralized dengue decision-support platform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Faster and more informed intervention planning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Explainable AI outputs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Mobile access for field officers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Expandable to other districts in Sri Lanka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300" b="1">
                <a:solidFill>
                  <a:srgbClr val="223C3D"/>
                </a:solidFill>
                <a:latin typeface="Aptos"/>
              </a:defRPr>
            </a:pPr>
            <a:endParaRPr sz="1200" dirty="0">
              <a:latin typeface="Canva Sans"/>
            </a:endParaRPr>
          </a:p>
        </p:txBody>
      </p:sp>
      <p:sp>
        <p:nvSpPr>
          <p:cNvPr id="26" name="TextBox 13">
            <a:extLst>
              <a:ext uri="{FF2B5EF4-FFF2-40B4-BE49-F238E27FC236}">
                <a16:creationId xmlns:a16="http://schemas.microsoft.com/office/drawing/2014/main" id="{397A673D-C379-32A1-0CED-42F33BB4E700}"/>
              </a:ext>
            </a:extLst>
          </p:cNvPr>
          <p:cNvSpPr txBox="1"/>
          <p:nvPr/>
        </p:nvSpPr>
        <p:spPr>
          <a:xfrm>
            <a:off x="2" y="4883915"/>
            <a:ext cx="9144000" cy="298835"/>
          </a:xfrm>
          <a:prstGeom prst="rect">
            <a:avLst/>
          </a:prstGeom>
          <a:solidFill>
            <a:srgbClr val="120D6D"/>
          </a:solidFill>
        </p:spPr>
        <p:txBody>
          <a:bodyPr lIns="25400" tIns="25400" rIns="25400" bIns="25400" rtlCol="0" anchor="ctr"/>
          <a:lstStyle/>
          <a:p>
            <a:pPr>
              <a:lnSpc>
                <a:spcPts val="1330"/>
              </a:lnSpc>
            </a:pPr>
            <a:r>
              <a:rPr lang="en-US" sz="1000" b="1" dirty="0">
                <a:solidFill>
                  <a:schemeClr val="bg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R26 - IT - 061 | </a:t>
            </a:r>
            <a:r>
              <a:rPr lang="en-US" sz="1000" dirty="0">
                <a:solidFill>
                  <a:schemeClr val="bg1"/>
                </a:solidFill>
                <a:latin typeface="Aptos"/>
              </a:rPr>
              <a:t>An AI-Based Dengue Outbreak Prediction and Intervention Optimization System for the Colombo District, Sri Lanka</a:t>
            </a:r>
            <a:endParaRPr lang="en-US" sz="1000" b="1" dirty="0">
              <a:solidFill>
                <a:schemeClr val="bg1"/>
              </a:solidFill>
              <a:latin typeface="Canva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234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2" grpId="0" animBg="1"/>
      <p:bldP spid="3" grpId="0"/>
      <p:bldP spid="4" grpId="0"/>
      <p:bldP spid="7" grpId="0" animBg="1"/>
      <p:bldP spid="9" grpId="0"/>
      <p:bldP spid="10" grpId="0"/>
      <p:bldP spid="21" grpId="0"/>
      <p:bldP spid="22" grpId="0"/>
      <p:bldP spid="2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0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894241"/>
            <a:ext cx="9144000" cy="244687"/>
          </a:xfrm>
          <a:prstGeom prst="rect">
            <a:avLst/>
          </a:prstGeom>
          <a:solidFill>
            <a:srgbClr val="EB7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331840" y="611387"/>
            <a:ext cx="54864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200" b="1">
                <a:solidFill>
                  <a:srgbClr val="223C3D"/>
                </a:solidFill>
                <a:latin typeface="Aptos"/>
              </a:defRPr>
            </a:pPr>
            <a:r>
              <a:rPr lang="en-GB" dirty="0">
                <a:solidFill>
                  <a:srgbClr val="120D6D"/>
                </a:solidFill>
                <a:latin typeface="Canva Sans"/>
              </a:rPr>
              <a:t>CONCLUSION</a:t>
            </a:r>
            <a:endParaRPr dirty="0">
              <a:solidFill>
                <a:srgbClr val="120D6D"/>
              </a:solidFill>
              <a:latin typeface="Canva Sans"/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FCAA5217-BB1D-B839-5D9B-4FDCA965289E}"/>
              </a:ext>
            </a:extLst>
          </p:cNvPr>
          <p:cNvSpPr txBox="1"/>
          <p:nvPr/>
        </p:nvSpPr>
        <p:spPr>
          <a:xfrm>
            <a:off x="0" y="4828012"/>
            <a:ext cx="9144000" cy="310916"/>
          </a:xfrm>
          <a:prstGeom prst="rect">
            <a:avLst/>
          </a:prstGeom>
          <a:solidFill>
            <a:srgbClr val="120D6D"/>
          </a:solidFill>
        </p:spPr>
        <p:txBody>
          <a:bodyPr lIns="50800" tIns="50800" rIns="50800" bIns="50800" rtlCol="0" anchor="ctr"/>
          <a:lstStyle/>
          <a:p>
            <a:pPr>
              <a:lnSpc>
                <a:spcPts val="1330"/>
              </a:lnSpc>
            </a:pPr>
            <a:r>
              <a:rPr lang="en-US" sz="900" b="1" dirty="0">
                <a:solidFill>
                  <a:schemeClr val="bg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R26 - IT - 061 | </a:t>
            </a:r>
            <a:r>
              <a:rPr lang="en-US" sz="900" dirty="0">
                <a:solidFill>
                  <a:schemeClr val="bg1"/>
                </a:solidFill>
                <a:latin typeface="Aptos"/>
              </a:rPr>
              <a:t>An AI-Based Dengue Outbreak Prediction and Intervention Optimization System for the Colombo District, Sri Lanka</a:t>
            </a:r>
            <a:endParaRPr lang="en-US" sz="900" b="1" dirty="0">
              <a:solidFill>
                <a:schemeClr val="bg1"/>
              </a:solidFill>
              <a:latin typeface="Canva Sans" panose="020B060402020202020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FC206E-DEA2-D4B5-9248-2439644ADACE}"/>
              </a:ext>
            </a:extLst>
          </p:cNvPr>
          <p:cNvSpPr txBox="1"/>
          <p:nvPr/>
        </p:nvSpPr>
        <p:spPr>
          <a:xfrm>
            <a:off x="419100" y="1196162"/>
            <a:ext cx="791718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This research proposes an integrated AI-based dengue decision-support platform for the Colombo District.</a:t>
            </a:r>
          </a:p>
          <a:p>
            <a:pPr>
              <a:buNone/>
            </a:pPr>
            <a:r>
              <a:rPr lang="en-US" dirty="0"/>
              <a:t>It combines: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ML-based outbreak risk prediction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SHAP-based explanations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RL-based intervention optimization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Multilingual health intelligence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AI-assisted PHI field inspection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Flutter mobile application and backend integration </a:t>
            </a:r>
          </a:p>
          <a:p>
            <a:pPr>
              <a:buNone/>
            </a:pPr>
            <a:r>
              <a:rPr lang="en-US" dirty="0"/>
              <a:t>The system aims to support more proactive, transparent, and data-driven dengue prevention and control.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C09335-27FC-2DF7-62EE-466DFD299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5635C3-E58A-BDDA-20E6-244D0953892D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0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08764B-4970-0174-B894-930D10BF8236}"/>
              </a:ext>
            </a:extLst>
          </p:cNvPr>
          <p:cNvSpPr txBox="1"/>
          <p:nvPr/>
        </p:nvSpPr>
        <p:spPr>
          <a:xfrm>
            <a:off x="1358053" y="3596507"/>
            <a:ext cx="5394960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2A6F71"/>
                </a:solidFill>
                <a:latin typeface="Aptos"/>
              </a:defRPr>
            </a:pPr>
            <a:r>
              <a:rPr sz="6000" dirty="0">
                <a:solidFill>
                  <a:srgbClr val="120D6D"/>
                </a:solidFill>
                <a:latin typeface="Canva Sans"/>
              </a:rPr>
              <a:t>THANK YOU</a:t>
            </a:r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98FD0B6C-2F9D-AEFB-4E7B-12A85EA92C76}"/>
              </a:ext>
            </a:extLst>
          </p:cNvPr>
          <p:cNvGrpSpPr/>
          <p:nvPr/>
        </p:nvGrpSpPr>
        <p:grpSpPr>
          <a:xfrm>
            <a:off x="0" y="4907413"/>
            <a:ext cx="9144000" cy="298835"/>
            <a:chOff x="0" y="-32148"/>
            <a:chExt cx="4816593" cy="157410"/>
          </a:xfrm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0192383B-16E8-7C4C-69C2-65ED22A5B74D}"/>
                </a:ext>
              </a:extLst>
            </p:cNvPr>
            <p:cNvSpPr/>
            <p:nvPr/>
          </p:nvSpPr>
          <p:spPr>
            <a:xfrm>
              <a:off x="0" y="-13098"/>
              <a:ext cx="4816592" cy="119310"/>
            </a:xfrm>
            <a:custGeom>
              <a:avLst/>
              <a:gdLst/>
              <a:ahLst/>
              <a:cxnLst/>
              <a:rect l="l" t="t" r="r" b="b"/>
              <a:pathLst>
                <a:path w="4816592" h="119310">
                  <a:moveTo>
                    <a:pt x="0" y="0"/>
                  </a:moveTo>
                  <a:lnTo>
                    <a:pt x="4816592" y="0"/>
                  </a:lnTo>
                  <a:lnTo>
                    <a:pt x="4816592" y="119310"/>
                  </a:lnTo>
                  <a:lnTo>
                    <a:pt x="0" y="119310"/>
                  </a:lnTo>
                  <a:close/>
                </a:path>
              </a:pathLst>
            </a:custGeom>
            <a:solidFill>
              <a:srgbClr val="11676A"/>
            </a:solidFill>
          </p:spPr>
          <p:txBody>
            <a:bodyPr/>
            <a:lstStyle/>
            <a:p>
              <a:endParaRPr lang="en-GB" sz="900"/>
            </a:p>
          </p:txBody>
        </p:sp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BDEE6659-0246-4C4E-B002-04D059536621}"/>
                </a:ext>
              </a:extLst>
            </p:cNvPr>
            <p:cNvSpPr txBox="1"/>
            <p:nvPr/>
          </p:nvSpPr>
          <p:spPr>
            <a:xfrm>
              <a:off x="0" y="-32148"/>
              <a:ext cx="4816593" cy="157410"/>
            </a:xfrm>
            <a:prstGeom prst="rect">
              <a:avLst/>
            </a:prstGeom>
            <a:solidFill>
              <a:srgbClr val="120D6D"/>
            </a:solidFill>
          </p:spPr>
          <p:txBody>
            <a:bodyPr lIns="25400" tIns="25400" rIns="25400" bIns="25400" rtlCol="0" anchor="ctr"/>
            <a:lstStyle/>
            <a:p>
              <a:pPr>
                <a:lnSpc>
                  <a:spcPts val="1330"/>
                </a:lnSpc>
              </a:pPr>
              <a:r>
                <a:rPr lang="en-US" sz="900" b="1" dirty="0">
                  <a:solidFill>
                    <a:schemeClr val="bg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R26 - IT - 061 | </a:t>
              </a:r>
              <a:r>
                <a:rPr lang="en-US" sz="900" dirty="0">
                  <a:solidFill>
                    <a:schemeClr val="bg1"/>
                  </a:solidFill>
                  <a:latin typeface="Aptos"/>
                </a:rPr>
                <a:t>An AI-Based Dengue Outbreak Prediction and Intervention Optimization System for the Colombo District, Sri Lanka</a:t>
              </a:r>
              <a:endParaRPr lang="en-US" sz="900" b="1" dirty="0">
                <a:solidFill>
                  <a:schemeClr val="bg1"/>
                </a:solidFill>
                <a:latin typeface="Canva Sans" panose="020B0604020202020204" charset="0"/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FA0B2091-F8CC-EA02-8751-902B5867C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970" y="728472"/>
            <a:ext cx="2762250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756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3668</TotalTime>
  <Words>1610</Words>
  <Application>Microsoft Office PowerPoint</Application>
  <PresentationFormat>On-screen Show (16:9)</PresentationFormat>
  <Paragraphs>235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Anek Bangla SemiCondensed</vt:lpstr>
      <vt:lpstr>Aptos</vt:lpstr>
      <vt:lpstr>Arial</vt:lpstr>
      <vt:lpstr>Canva Sans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Drug Addiction Recovery App – Proposal</dc:title>
  <dc:subject>PptxGenJS Presentation</dc:subject>
  <dc:creator>PptxGenJS</dc:creator>
  <cp:lastModifiedBy>WICKRAMARACHCHI T T it22243980</cp:lastModifiedBy>
  <cp:revision>66</cp:revision>
  <dcterms:created xsi:type="dcterms:W3CDTF">2026-03-10T16:55:03Z</dcterms:created>
  <dcterms:modified xsi:type="dcterms:W3CDTF">2026-08-31T07:51:45Z</dcterms:modified>
</cp:coreProperties>
</file>
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9" r:id="rId9"/>
    <p:sldId id="262" r:id="rId10"/>
    <p:sldId id="270" r:id="rId11"/>
    <p:sldId id="282" r:id="rId12"/>
    <p:sldId id="272" r:id="rId13"/>
    <p:sldId id="273" r:id="rId14"/>
    <p:sldId id="274" r:id="rId15"/>
    <p:sldId id="275" r:id="rId16"/>
    <p:sldId id="281" r:id="rId17"/>
    <p:sldId id="290" r:id="rId18"/>
    <p:sldId id="278" r:id="rId19"/>
    <p:sldId id="279" r:id="rId20"/>
    <p:sldId id="263" r:id="rId21"/>
    <p:sldId id="291" r:id="rId22"/>
    <p:sldId id="264" r:id="rId23"/>
    <p:sldId id="265" r:id="rId24"/>
    <p:sldId id="293" r:id="rId25"/>
    <p:sldId id="285" r:id="rId26"/>
    <p:sldId id="292" r:id="rId27"/>
    <p:sldId id="283" r:id="rId28"/>
    <p:sldId id="286" r:id="rId29"/>
    <p:sldId id="287" r:id="rId30"/>
    <p:sldId id="267" r:id="rId31"/>
    <p:sldId id="276" r:id="rId32"/>
    <p:sldId id="280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25F5-E137-BEF9-05E1-84AC44723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0928E-2F46-D082-E00C-423348352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0D1E6-D37F-CA2F-170D-3C67B8E63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C9900-2A74-BDF6-4678-E191C3D2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64BB-738E-9F5F-A7E7-EA530397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EF91-71E8-297D-7D37-849CEE34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4418-7C86-B168-2DA1-6CC44343B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820BB-25CA-DA20-7E55-DEEB71E8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9776-1039-8F3B-AE44-7D8E5A61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CBF85-9F4C-B173-D4F1-6A8D073B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0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54E4-5A9A-D803-D290-C5F0A8DF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EAA76-7DB6-67B5-4E2B-D78AC2D9D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0A4C0-9B01-2E7E-6FD6-38D159E5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6BD3F-A8FA-950C-4D7E-CCC97EFB2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66BF2-9C2A-5A10-3C94-A738B3E0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9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1B5D-3022-0618-03FD-14B24E76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F1A07-E866-55C8-34DC-8129D6126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F5264-89DD-9CF1-A083-3D2AA0D39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9660B-5C3E-58BA-1356-F2127F50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51C77-2D4C-B416-FD74-4A322190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24B8D-26C7-D51D-FD06-1B852739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7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4332-ED59-6EA7-0701-8C7410932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4B127-091F-05E4-0CD4-A7F6327C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94402-B0B5-8221-C890-CFAD0A3A6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653D2-6B06-DFC1-7B55-B7A3E2930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D74B52-6584-65DF-32C4-34D965B5C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AB773A-71B9-B456-E9DE-E5BBCD28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D0F78-EC20-47CC-98CC-481EB264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1E7DCA-DBB6-CD60-6481-E6DF2483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7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9238-9769-F19A-ABC0-BA94D9AC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D7C7C-054A-5822-4AFD-19F9C0B2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2F668-48B1-733D-5314-E199F7D2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C7CDF-2365-EA3A-D374-B9A40215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FD3D6-C1F6-9EB8-15FD-B76250135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697C8-8A33-FCE5-716F-3F49799D9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78E9E-1868-71BE-96F6-94A081F4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7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8DFA-EF69-0A02-CC9D-7D29E175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C152A-7699-3BC7-6FD6-020A75ECC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5192F-C9FC-DA29-6B0E-54802A1CE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1CE1D-2FF8-6D2E-46BD-00DD9B41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982DB-CA5E-06AA-EF31-502016AB3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94074-E24C-CC3F-FBB2-010BD5D9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6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2D4-5CBE-81AD-99BE-083C457C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A5C28-8684-E0BA-D672-8AE1E8167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4F35E-276D-F382-1E45-048A3F322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15B00-2254-0D5C-2D23-31D89CFC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93BE3-4776-1994-0976-7D033763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B238F-227C-9D14-54C6-30DCEC9D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4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C6F1-6966-4DC6-FE74-2416DFC8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B4147-766A-3AB2-6087-B50ABABD8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92172-1898-D7C5-982C-52EE680B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0582B-914E-21AD-46EA-3BF07C2FF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77E92-576F-4169-B25E-13E0F3E4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65B90-DF59-C0EF-F279-058D14999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0A134-3D5F-1948-9AF2-DC57DC56B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4E00-2A49-6023-E052-17C303BE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BEE6E-E9C1-510E-4A3D-487A6917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82690-E502-B1A1-F822-F015F370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7A1EB-131B-558B-DF82-7A1069A0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5F2D7-89A1-C342-3DB7-DB2B3C1D7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60BF-C3BA-BE8D-8439-E8595E9A8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BC48D-2AA2-41A8-AEE2-FE91AE19370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0DA8E-FE91-1BCE-57F7-20D8A5D39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BF09-4E19-F778-3333-55AD5C29A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B6B17-938E-4885-A6EB-9BB554CD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8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17B94-75B1-166D-6B57-331F39B2ED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17" b="2600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D27F62-84D6-7765-5692-DB0632971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sz="5600" b="1" dirty="0">
                <a:solidFill>
                  <a:srgbClr val="FFFFFF"/>
                </a:solidFill>
              </a:rPr>
              <a:t>Machine Learning-Based Dengue Outbreak Prediction System for Colombo District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9683A-0143-99BE-20B3-8B948443D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Project ID: R26-IT-061 | Year: 2026 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546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9491-6987-9B85-4592-602B3059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a typeface="Cambria"/>
              </a:rPr>
              <a:t>Team Members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55158-7B15-8B88-FE1C-81D97A15A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ea typeface="Cambria"/>
              </a:rPr>
              <a:t>                                                          Supervisor : MS. Shashika </a:t>
            </a:r>
            <a:r>
              <a:rPr lang="en-GB" b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mbria"/>
              </a:rPr>
              <a:t>Lokuliyana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ea typeface="Cambria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ea typeface="Cambria"/>
              </a:rPr>
              <a:t>                                                         Co-Supervisor: Ms. Narmada Gamage</a:t>
            </a:r>
          </a:p>
          <a:p>
            <a:endParaRPr lang="en-GB" sz="1800" b="1" dirty="0">
              <a:solidFill>
                <a:schemeClr val="tx1">
                  <a:lumMod val="65000"/>
                  <a:lumOff val="35000"/>
                </a:schemeClr>
              </a:solidFill>
              <a:ea typeface="Cambria"/>
            </a:endParaRPr>
          </a:p>
          <a:p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FEB4A8-2D70-A672-28A1-936BD9AC1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77752"/>
              </p:ext>
            </p:extLst>
          </p:nvPr>
        </p:nvGraphicFramePr>
        <p:xfrm>
          <a:off x="5021004" y="2959510"/>
          <a:ext cx="6177938" cy="3050951"/>
        </p:xfrm>
        <a:graphic>
          <a:graphicData uri="http://schemas.openxmlformats.org/drawingml/2006/table">
            <a:tbl>
              <a:tblPr firstRow="1" bandRow="1"/>
              <a:tblGrid>
                <a:gridCol w="2760462">
                  <a:extLst>
                    <a:ext uri="{9D8B030D-6E8A-4147-A177-3AD203B41FA5}">
                      <a16:colId xmlns:a16="http://schemas.microsoft.com/office/drawing/2014/main" val="1741908576"/>
                    </a:ext>
                  </a:extLst>
                </a:gridCol>
                <a:gridCol w="3417476">
                  <a:extLst>
                    <a:ext uri="{9D8B030D-6E8A-4147-A177-3AD203B41FA5}">
                      <a16:colId xmlns:a16="http://schemas.microsoft.com/office/drawing/2014/main" val="2606033920"/>
                    </a:ext>
                  </a:extLst>
                </a:gridCol>
              </a:tblGrid>
              <a:tr h="465687">
                <a:tc>
                  <a:txBody>
                    <a:bodyPr/>
                    <a:lstStyle/>
                    <a:p>
                      <a:r>
                        <a:rPr lang="en-US" b="1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3351"/>
                  </a:ext>
                </a:extLst>
              </a:tr>
              <a:tr h="633575">
                <a:tc>
                  <a:txBody>
                    <a:bodyPr/>
                    <a:lstStyle/>
                    <a:p>
                      <a:r>
                        <a:rPr lang="en-US" dirty="0"/>
                        <a:t>Wickramarachchi T.T.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IT22243980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617305"/>
                  </a:ext>
                </a:extLst>
              </a:tr>
              <a:tr h="6505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  <a:latin typeface="+mn-lt"/>
                        </a:rPr>
                        <a:t>Hettiarachchi A.T.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  <a:latin typeface="+mn-lt"/>
                        </a:rPr>
                        <a:t>IT22165848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73666"/>
                  </a:ext>
                </a:extLst>
              </a:tr>
              <a:tr h="6505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  <a:latin typeface="+mn-lt"/>
                        </a:rPr>
                        <a:t>Keenavinna K.A.I.U.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</a:rPr>
                        <a:t>IT22214034</a:t>
                      </a:r>
                      <a:endParaRPr lang="en-GB" dirty="0">
                        <a:effectLst/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440620"/>
                  </a:ext>
                </a:extLst>
              </a:tr>
              <a:tr h="6505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</a:rPr>
                        <a:t>Adithya A.A.H.</a:t>
                      </a:r>
                      <a:endParaRPr lang="en-GB" dirty="0">
                        <a:effectLst/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</a:rPr>
                        <a:t>Adithya A.A.H.</a:t>
                      </a:r>
                      <a:endParaRPr lang="en-GB" dirty="0">
                        <a:effectLst/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775060"/>
                  </a:ext>
                </a:extLst>
              </a:tr>
            </a:tbl>
          </a:graphicData>
        </a:graphic>
      </p:graphicFrame>
      <p:pic>
        <p:nvPicPr>
          <p:cNvPr id="5" name="Picture 4" descr="A group of cartoon characters holding a large rectangular object&#10;&#10;Description automatically generated">
            <a:extLst>
              <a:ext uri="{FF2B5EF4-FFF2-40B4-BE49-F238E27FC236}">
                <a16:creationId xmlns:a16="http://schemas.microsoft.com/office/drawing/2014/main" id="{7F4C77D0-A8BD-3442-CEAB-74C2EE3E3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3" y="1030678"/>
            <a:ext cx="4871050" cy="550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93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16F3F-78E9-5CDB-ADD5-F54DE260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Indroduction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D8F75-17AD-727B-6BE9-18479C6F7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 b="1"/>
              <a:t>Dengue Outbreak Prediction and Intervention Optimization System</a:t>
            </a:r>
            <a:endParaRPr lang="en-US" sz="2600"/>
          </a:p>
          <a:p>
            <a:r>
              <a:rPr lang="en-US" sz="2600"/>
              <a:t>Dengue is a major health issue in Sri Lanka, especially in high-risk areas like Colombo District.</a:t>
            </a:r>
          </a:p>
          <a:p>
            <a:r>
              <a:rPr lang="en-US" sz="2600"/>
              <a:t>Our system uses dengue case data and weather data to predict outbreak risk early.</a:t>
            </a:r>
          </a:p>
          <a:p>
            <a:r>
              <a:rPr lang="en-US" sz="2600"/>
              <a:t>It also recommends the best prevention action using a Reinforcement Learning agent.</a:t>
            </a:r>
          </a:p>
          <a:p>
            <a:r>
              <a:rPr lang="en-US" sz="2600" b="1"/>
              <a:t>Goal:</a:t>
            </a:r>
            <a:br>
              <a:rPr lang="en-US" sz="2600"/>
            </a:br>
            <a:r>
              <a:rPr lang="en-US" sz="2600"/>
              <a:t>To support health officers in taking early and effective dengue prevention actions.</a:t>
            </a:r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61672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2EAC9-5612-530D-100B-737AF2545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Problem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6D98-B94B-F6AF-A4C3-385D134B6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Current dengue control methods are mostly reactive.</a:t>
            </a:r>
          </a:p>
          <a:p>
            <a:r>
              <a:rPr lang="en-US" sz="2200" dirty="0"/>
              <a:t>Public health actions are usually taken after dengue cases increase.</a:t>
            </a:r>
          </a:p>
          <a:p>
            <a:r>
              <a:rPr lang="en-US" sz="2200" dirty="0"/>
              <a:t>Existing systems mainly analyze past data, but they do not clearly support future action planning.</a:t>
            </a:r>
          </a:p>
          <a:p>
            <a:pPr marL="0" indent="0">
              <a:buNone/>
            </a:pPr>
            <a:r>
              <a:rPr lang="en-US" sz="2200" b="1" dirty="0"/>
              <a:t>Key Problems</a:t>
            </a:r>
            <a:endParaRPr lang="en-US" sz="2200" dirty="0"/>
          </a:p>
          <a:p>
            <a:r>
              <a:rPr lang="en-US" sz="2200" dirty="0"/>
              <a:t>Dengue risk changes with rainfall, temperature, and humidity. </a:t>
            </a:r>
          </a:p>
          <a:p>
            <a:r>
              <a:rPr lang="en-US" sz="2200" dirty="0"/>
              <a:t>Traditional methods cannot handle complex dengue patterns. </a:t>
            </a:r>
          </a:p>
          <a:p>
            <a:r>
              <a:rPr lang="en-US" sz="2200" dirty="0"/>
              <a:t>Many ML systems predict risk only, but do not recommend actions. </a:t>
            </a:r>
          </a:p>
          <a:p>
            <a:r>
              <a:rPr lang="en-US" sz="2200" dirty="0"/>
              <a:t>PHI officers need localized support for Colombo MOH areas. </a:t>
            </a:r>
          </a:p>
          <a:p>
            <a:r>
              <a:rPr lang="en-US" sz="2200" dirty="0"/>
              <a:t>Manual warnings can delay dengue prevention actions.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393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042FBCC5-FFFB-7BF1-7232-C856CCA30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50" r="8091" b="-2"/>
          <a:stretch>
            <a:fillRect/>
          </a:stretch>
        </p:blipFill>
        <p:spPr>
          <a:xfrm>
            <a:off x="-1" y="-2"/>
            <a:ext cx="4190164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4023E-EA4E-CB86-A970-7ABB3E76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174" y="443825"/>
            <a:ext cx="4047858" cy="807800"/>
          </a:xfrm>
        </p:spPr>
        <p:txBody>
          <a:bodyPr>
            <a:normAutofit/>
          </a:bodyPr>
          <a:lstStyle/>
          <a:p>
            <a:r>
              <a:rPr lang="en-US" sz="4800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57A25-D5FB-6822-B62E-F9C9BE167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9175" y="1000125"/>
            <a:ext cx="6972300" cy="570547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b="1" dirty="0"/>
              <a:t>AI-Based Dengue Risk Prediction and Intervention Recommendation System</a:t>
            </a:r>
            <a:endParaRPr lang="en-US" sz="1600" dirty="0"/>
          </a:p>
          <a:p>
            <a:r>
              <a:rPr lang="en-US" sz="1600" dirty="0"/>
              <a:t>Our solution combines Machine Learning, Reinforcement Learning, and a Flutter mobile app to support dengue prevention.</a:t>
            </a:r>
          </a:p>
          <a:p>
            <a:r>
              <a:rPr lang="en-US" sz="1600" dirty="0"/>
              <a:t>The system uses dengue case data and weather data to identify risk levels and recommend the best action.</a:t>
            </a:r>
          </a:p>
          <a:p>
            <a:pPr marL="0" indent="0">
              <a:buNone/>
            </a:pPr>
            <a:r>
              <a:rPr lang="en-US" sz="1800" b="1" u="sng" dirty="0"/>
              <a:t>Main Components</a:t>
            </a:r>
            <a:endParaRPr lang="en-US" sz="1800" u="sng" dirty="0"/>
          </a:p>
          <a:p>
            <a:r>
              <a:rPr lang="en-US" sz="1600" b="1" dirty="0"/>
              <a:t>ML Prediction</a:t>
            </a:r>
            <a:br>
              <a:rPr lang="en-US" sz="1600" dirty="0"/>
            </a:br>
            <a:r>
              <a:rPr lang="en-US" sz="1600" dirty="0"/>
              <a:t>Predicts dengue risk level using dengue and weather data. </a:t>
            </a:r>
          </a:p>
          <a:p>
            <a:r>
              <a:rPr lang="en-US" sz="1600" b="1" dirty="0"/>
              <a:t>RL Intervention Agent</a:t>
            </a:r>
            <a:br>
              <a:rPr lang="en-US" sz="1600" dirty="0"/>
            </a:br>
            <a:r>
              <a:rPr lang="en-US" sz="1600" dirty="0"/>
              <a:t>Q-Learning agent recommends the best prevention action. </a:t>
            </a:r>
          </a:p>
          <a:p>
            <a:r>
              <a:rPr lang="en-US" sz="1600" b="1" dirty="0"/>
              <a:t>Mobile App</a:t>
            </a:r>
            <a:br>
              <a:rPr lang="en-US" sz="1600" dirty="0"/>
            </a:br>
            <a:r>
              <a:rPr lang="en-US" sz="1600" dirty="0"/>
              <a:t>Health officers can enter MOH area, cases, rainfall, and temperature. </a:t>
            </a:r>
          </a:p>
          <a:p>
            <a:r>
              <a:rPr lang="en-US" sz="1600" b="1" dirty="0"/>
              <a:t>PHI Warning System</a:t>
            </a:r>
            <a:br>
              <a:rPr lang="en-US" sz="1600" dirty="0"/>
            </a:br>
            <a:r>
              <a:rPr lang="en-US" sz="1600" dirty="0"/>
              <a:t>Sends warning emails when high risk is detected.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54677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ED93E-E30F-C75D-65F2-15F667FCD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672045"/>
            <a:ext cx="4777381" cy="334416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2CD55-6C2B-CEC0-5598-B87F00E0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563" y="1104900"/>
            <a:ext cx="5873237" cy="50720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Recommended Actions</a:t>
            </a:r>
          </a:p>
          <a:p>
            <a:pPr algn="just"/>
            <a:r>
              <a:rPr lang="en-US" sz="1800" b="1" dirty="0"/>
              <a:t>Intervention Actions Recommended by the AI Agent</a:t>
            </a:r>
            <a:endParaRPr lang="en-US" sz="1800" dirty="0"/>
          </a:p>
          <a:p>
            <a:pPr algn="just"/>
            <a:r>
              <a:rPr lang="en-US" sz="1800" dirty="0"/>
              <a:t>The Reinforcement Learning agent selects the most suitable action based on the dengue risk situation.</a:t>
            </a:r>
          </a:p>
          <a:p>
            <a:pPr marL="0" indent="0" algn="just">
              <a:buNone/>
            </a:pPr>
            <a:r>
              <a:rPr lang="en-US" sz="2000" b="1" dirty="0"/>
              <a:t>Recommended Actions</a:t>
            </a:r>
            <a:endParaRPr lang="en-US" sz="2000" dirty="0"/>
          </a:p>
          <a:p>
            <a:pPr algn="just"/>
            <a:r>
              <a:rPr lang="en-US" sz="1800" dirty="0"/>
              <a:t>Monitor Only </a:t>
            </a:r>
          </a:p>
          <a:p>
            <a:pPr algn="just"/>
            <a:r>
              <a:rPr lang="en-US" sz="1800" dirty="0"/>
              <a:t>Deploy Fumigation Teams </a:t>
            </a:r>
          </a:p>
          <a:p>
            <a:pPr algn="just"/>
            <a:r>
              <a:rPr lang="en-US" sz="1800" dirty="0"/>
              <a:t>Issue Public Health Alert </a:t>
            </a:r>
          </a:p>
          <a:p>
            <a:pPr algn="just"/>
            <a:r>
              <a:rPr lang="en-US" sz="1800" dirty="0"/>
              <a:t>Increase Hospital Readiness </a:t>
            </a:r>
          </a:p>
          <a:p>
            <a:pPr algn="just"/>
            <a:r>
              <a:rPr lang="en-US" sz="1800" dirty="0"/>
              <a:t>Community Cleanup Campaign </a:t>
            </a:r>
          </a:p>
          <a:p>
            <a:pPr marL="0" indent="0" algn="just">
              <a:buNone/>
            </a:pPr>
            <a:r>
              <a:rPr lang="en-US" sz="2400" b="1" dirty="0"/>
              <a:t>Purpose</a:t>
            </a:r>
            <a:endParaRPr lang="en-US" sz="2400" dirty="0"/>
          </a:p>
          <a:p>
            <a:pPr algn="just"/>
            <a:r>
              <a:rPr lang="en-US" sz="1800" dirty="0"/>
              <a:t>To help PHI officers and health authorities take quick, effective, and data-driven dengue prevention actions.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8722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7891482-C38A-4F0C-8183-0121632F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A8BC2-604C-0FE6-5961-A2F482D8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977" y="157000"/>
            <a:ext cx="6118403" cy="1325563"/>
          </a:xfrm>
        </p:spPr>
        <p:txBody>
          <a:bodyPr>
            <a:normAutofit/>
          </a:bodyPr>
          <a:lstStyle/>
          <a:p>
            <a:r>
              <a:rPr lang="en-US" dirty="0"/>
              <a:t>Tools and Technologies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2072FF-F291-D873-5E36-D332D6032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705446"/>
            <a:ext cx="4100921" cy="2296515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6FDB82-29F5-A3A9-6383-7A13E0B08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338" y="3543300"/>
            <a:ext cx="2813049" cy="281304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C38B-8E77-454F-47E5-CFBA17B47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978" y="1219200"/>
            <a:ext cx="6191554" cy="53187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Frontend / Mobile App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"/>
              </a:spcBef>
            </a:pPr>
            <a:r>
              <a:rPr lang="en-US" sz="1600" dirty="0"/>
              <a:t>Flutter </a:t>
            </a:r>
          </a:p>
          <a:p>
            <a:pPr>
              <a:lnSpc>
                <a:spcPct val="160000"/>
              </a:lnSpc>
              <a:spcBef>
                <a:spcPts val="100"/>
              </a:spcBef>
            </a:pPr>
            <a:r>
              <a:rPr lang="en-US" sz="1600" dirty="0"/>
              <a:t>Dart </a:t>
            </a:r>
          </a:p>
          <a:p>
            <a:pPr>
              <a:lnSpc>
                <a:spcPct val="160000"/>
              </a:lnSpc>
              <a:spcBef>
                <a:spcPts val="100"/>
              </a:spcBef>
            </a:pPr>
            <a:r>
              <a:rPr lang="en-US" sz="1600" dirty="0"/>
              <a:t>Mobile UI Screens </a:t>
            </a:r>
          </a:p>
          <a:p>
            <a:pPr>
              <a:lnSpc>
                <a:spcPct val="160000"/>
              </a:lnSpc>
              <a:spcBef>
                <a:spcPts val="100"/>
              </a:spcBef>
            </a:pPr>
            <a:r>
              <a:rPr lang="en-US" sz="1600" dirty="0"/>
              <a:t>Dashboard and Recommendation Forms </a:t>
            </a:r>
          </a:p>
          <a:p>
            <a:pPr marL="0" indent="0">
              <a:spcBef>
                <a:spcPts val="500"/>
              </a:spcBef>
              <a:buNone/>
            </a:pPr>
            <a:endParaRPr lang="en-US" sz="1400" b="1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600" b="1" dirty="0"/>
              <a:t>Backend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"/>
              </a:spcBef>
            </a:pPr>
            <a:r>
              <a:rPr lang="en-US" sz="1600" dirty="0"/>
              <a:t>Python </a:t>
            </a:r>
          </a:p>
          <a:p>
            <a:pPr>
              <a:lnSpc>
                <a:spcPct val="160000"/>
              </a:lnSpc>
              <a:spcBef>
                <a:spcPts val="100"/>
              </a:spcBef>
            </a:pPr>
            <a:r>
              <a:rPr lang="en-US" sz="1600" dirty="0"/>
              <a:t>Flask API </a:t>
            </a:r>
          </a:p>
          <a:p>
            <a:pPr>
              <a:lnSpc>
                <a:spcPct val="160000"/>
              </a:lnSpc>
              <a:spcBef>
                <a:spcPts val="100"/>
              </a:spcBef>
            </a:pPr>
            <a:r>
              <a:rPr lang="en-US" sz="1600" dirty="0"/>
              <a:t>REST API Integration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600" b="1" dirty="0"/>
              <a:t>Machine Learning and AI</a:t>
            </a:r>
          </a:p>
          <a:p>
            <a:r>
              <a:rPr lang="en-US" sz="1600" dirty="0"/>
              <a:t>Explainable AI (XAI)</a:t>
            </a:r>
          </a:p>
          <a:p>
            <a:r>
              <a:rPr lang="en-US" sz="1600" dirty="0"/>
              <a:t>Q-Learning Reinforcement Learning </a:t>
            </a:r>
          </a:p>
          <a:p>
            <a:r>
              <a:rPr lang="en-US" sz="1600" dirty="0"/>
              <a:t>Trained Q-Table Model </a:t>
            </a:r>
          </a:p>
          <a:p>
            <a:r>
              <a:rPr lang="en-US" sz="1600" dirty="0"/>
              <a:t>Dengue Risk Prediction Model </a:t>
            </a:r>
          </a:p>
          <a:p>
            <a:r>
              <a:rPr lang="en-US" sz="1600" dirty="0"/>
              <a:t>Historical Dengue and Weather Dataset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A4B6E73-2318-4814-8EB1-306D53723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64111">
            <a:off x="-991925" y="5644752"/>
            <a:ext cx="2987899" cy="2987899"/>
          </a:xfrm>
          <a:prstGeom prst="arc">
            <a:avLst>
              <a:gd name="adj1" fmla="val 16200000"/>
              <a:gd name="adj2" fmla="val 21581479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530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AE48C4B-3A90-42C3-BA00-6092B4771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6CA7C-C50E-1DE4-4A39-DF397E700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6" r="34132" b="-2"/>
          <a:stretch>
            <a:fillRect/>
          </a:stretch>
        </p:blipFill>
        <p:spPr>
          <a:xfrm>
            <a:off x="20" y="10"/>
            <a:ext cx="4041316" cy="4193753"/>
          </a:xfrm>
          <a:custGeom>
            <a:avLst/>
            <a:gdLst/>
            <a:ahLst/>
            <a:cxnLst/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F919E280-CA27-4214-97E6-294E0C3BC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46318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7BD21-2782-A0B4-197C-339AB78FD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5" r="3" b="3"/>
          <a:stretch>
            <a:fillRect/>
          </a:stretch>
        </p:blipFill>
        <p:spPr>
          <a:xfrm>
            <a:off x="1" y="4267200"/>
            <a:ext cx="4051081" cy="2590800"/>
          </a:xfrm>
          <a:custGeom>
            <a:avLst/>
            <a:gdLst/>
            <a:ahLst/>
            <a:cxnLst/>
            <a:rect l="l" t="t" r="r" b="b"/>
            <a:pathLst>
              <a:path w="4051081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cubicBezTo>
                  <a:pt x="4042100" y="1477465"/>
                  <a:pt x="4059584" y="1566941"/>
                  <a:pt x="4046914" y="1661622"/>
                </a:cubicBezTo>
                <a:cubicBezTo>
                  <a:pt x="4039566" y="1720003"/>
                  <a:pt x="4037919" y="177965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AD2B7-EC1A-AFBB-2289-A57FBEA2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Data and Visualization</a:t>
            </a:r>
            <a:endParaRPr lang="en-US" sz="1900" dirty="0"/>
          </a:p>
          <a:p>
            <a:r>
              <a:rPr lang="en-US" sz="1900" dirty="0"/>
              <a:t>Dengue case data </a:t>
            </a:r>
          </a:p>
          <a:p>
            <a:r>
              <a:rPr lang="en-US" sz="1900" dirty="0"/>
              <a:t>Rainfall, temperature, humidity data </a:t>
            </a:r>
          </a:p>
          <a:p>
            <a:r>
              <a:rPr lang="en-US" sz="1900" dirty="0"/>
              <a:t>Charts and heatmaps </a:t>
            </a:r>
          </a:p>
          <a:p>
            <a:r>
              <a:rPr lang="en-US" sz="1900" dirty="0"/>
              <a:t>Risk level visualization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Communication</a:t>
            </a:r>
            <a:endParaRPr lang="en-US" sz="1900" dirty="0"/>
          </a:p>
          <a:p>
            <a:r>
              <a:rPr lang="en-US" sz="1900" dirty="0"/>
              <a:t>Email alert system </a:t>
            </a:r>
          </a:p>
          <a:p>
            <a:r>
              <a:rPr lang="en-US" sz="1900" dirty="0"/>
              <a:t>PHI warning notification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888531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5BF30-1A93-AC97-9312-FBB7AE21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Commercialization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0B5A-F091-2D97-911E-A14272DD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897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Target Users</a:t>
            </a:r>
            <a:endParaRPr lang="en-US" sz="2000" dirty="0"/>
          </a:p>
          <a:p>
            <a:pPr algn="just"/>
            <a:r>
              <a:rPr lang="en-US" sz="1800" dirty="0"/>
              <a:t>Public Health Inspectors </a:t>
            </a:r>
          </a:p>
          <a:p>
            <a:pPr algn="just"/>
            <a:r>
              <a:rPr lang="en-US" sz="1800" dirty="0"/>
              <a:t>MOH Offices </a:t>
            </a:r>
          </a:p>
          <a:p>
            <a:pPr algn="just"/>
            <a:r>
              <a:rPr lang="en-US" sz="1800" dirty="0"/>
              <a:t>Municipal Councils </a:t>
            </a:r>
          </a:p>
          <a:p>
            <a:pPr algn="just"/>
            <a:r>
              <a:rPr lang="en-US" sz="1800" dirty="0"/>
              <a:t>Healthcare Decision Makers </a:t>
            </a:r>
          </a:p>
          <a:p>
            <a:pPr algn="just"/>
            <a:r>
              <a:rPr lang="en-US" sz="1800" dirty="0"/>
              <a:t>Dengue Control Units 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2000" b="1" dirty="0"/>
              <a:t>Commercial Value</a:t>
            </a:r>
            <a:endParaRPr lang="en-US" sz="2000" dirty="0"/>
          </a:p>
          <a:p>
            <a:pPr algn="just"/>
            <a:r>
              <a:rPr lang="en-US" sz="1800" dirty="0"/>
              <a:t>The system can be used as a </a:t>
            </a:r>
            <a:r>
              <a:rPr lang="en-US" sz="1800" b="1" dirty="0"/>
              <a:t>decision-support tool</a:t>
            </a:r>
            <a:r>
              <a:rPr lang="en-US" sz="1800" dirty="0"/>
              <a:t> for dengue prevention and outbreak management.</a:t>
            </a:r>
          </a:p>
          <a:p>
            <a:pPr algn="just"/>
            <a:r>
              <a:rPr lang="en-US" sz="1800" dirty="0"/>
              <a:t>It helps health authorities plan interventions earlier and use resources more effectively.</a:t>
            </a:r>
          </a:p>
          <a:p>
            <a:endParaRPr lang="en-US" sz="1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50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AE25D-9B18-C872-3D37-D20E1C640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723" y="557784"/>
            <a:ext cx="5558489" cy="589787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Possible Deployment Options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/>
              <a:t>Mobile app for PHI officers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Web dashboard for health administrators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API integration with existing health systems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District-level dengue monitoring platform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Benefits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/>
              <a:t>Faster dengue risk identification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Better intervention planning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Less manual decision-making delay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Localized support for Colombo MOH areas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Can be expanded to other districts in Sri Lanka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8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362EAC-9BE6-EFFB-A3BB-8A16DD0F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10FE1FC-3121-57DF-0F5A-AD7E03E12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E77A2B3-B27A-C6F2-C82C-785DFE9FA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E2716-352E-02A9-AF6E-9FE8D9CF1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2642716"/>
            <a:ext cx="8582025" cy="976784"/>
          </a:xfrm>
        </p:spPr>
        <p:txBody>
          <a:bodyPr anchor="ctr">
            <a:normAutofit fontScale="90000"/>
          </a:bodyPr>
          <a:lstStyle/>
          <a:p>
            <a:r>
              <a:rPr lang="en-US" sz="4000" dirty="0"/>
              <a:t>IT22214034 | Imal Udayanga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4FD50A-5AAC-61BE-3999-3D85458FD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87FD8-02F2-F78E-BB93-9FAD496B5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872" y="3619500"/>
            <a:ext cx="7137141" cy="978621"/>
          </a:xfrm>
        </p:spPr>
        <p:txBody>
          <a:bodyPr anchor="ctr">
            <a:noAutofit/>
          </a:bodyPr>
          <a:lstStyle/>
          <a:p>
            <a:pPr algn="l"/>
            <a:r>
              <a:rPr lang="en-US" sz="1800" b="1" dirty="0"/>
              <a:t>Data Engineering &amp; Machine Learning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25A0C-81EB-F449-0F7B-48FA942E7745}"/>
              </a:ext>
            </a:extLst>
          </p:cNvPr>
          <p:cNvSpPr txBox="1"/>
          <p:nvPr/>
        </p:nvSpPr>
        <p:spPr>
          <a:xfrm>
            <a:off x="2478347" y="4240267"/>
            <a:ext cx="7146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/>
              <a:t>Dengue Outbreak Level Prediction using Weather and Time-Based Features</a:t>
            </a:r>
          </a:p>
        </p:txBody>
      </p:sp>
    </p:spTree>
    <p:extLst>
      <p:ext uri="{BB962C8B-B14F-4D97-AF65-F5344CB8AC3E}">
        <p14:creationId xmlns:p14="http://schemas.microsoft.com/office/powerpoint/2010/main" val="23584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9D7B-936D-360D-B628-742642CF1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160"/>
            <a:ext cx="10515600" cy="5272395"/>
          </a:xfrm>
        </p:spPr>
        <p:txBody>
          <a:bodyPr/>
          <a:lstStyle/>
          <a:p>
            <a:pPr marL="0" indent="0" algn="just">
              <a:buNone/>
            </a:pPr>
            <a:r>
              <a:rPr lang="en-US" sz="4000" b="1" dirty="0"/>
              <a:t>Problem Gap</a:t>
            </a:r>
          </a:p>
          <a:p>
            <a:pPr algn="just"/>
            <a:r>
              <a:rPr lang="en-US" dirty="0"/>
              <a:t> </a:t>
            </a:r>
            <a:r>
              <a:rPr lang="en-US" sz="2400" dirty="0"/>
              <a:t>Dengue outbreak risk is influenced by weather and time-based patterns.</a:t>
            </a:r>
          </a:p>
          <a:p>
            <a:pPr algn="just"/>
            <a:r>
              <a:rPr lang="en-US" sz="2400" dirty="0"/>
              <a:t>Raw dengue-weather data contains missing values and requires preprocessing.</a:t>
            </a:r>
          </a:p>
          <a:p>
            <a:pPr algn="just"/>
            <a:r>
              <a:rPr lang="en-US" sz="2400" dirty="0"/>
              <a:t>Manual analysis of rainfall, humidity, temperature, and weekly trends is difficult.</a:t>
            </a:r>
          </a:p>
          <a:p>
            <a:pPr algn="just"/>
            <a:r>
              <a:rPr lang="en-US" sz="2400" dirty="0"/>
              <a:t> A machine learning model is required to classify dengue outbreak risk as Low, Medium, or High.</a:t>
            </a:r>
          </a:p>
        </p:txBody>
      </p:sp>
    </p:spTree>
    <p:extLst>
      <p:ext uri="{BB962C8B-B14F-4D97-AF65-F5344CB8AC3E}">
        <p14:creationId xmlns:p14="http://schemas.microsoft.com/office/powerpoint/2010/main" val="3331862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7CE07-BCF4-F31C-1DCB-387C68B90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7587"/>
            <a:ext cx="10515600" cy="54493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/>
              <a:t>Solution</a:t>
            </a:r>
            <a:endParaRPr lang="en-US" sz="3200" dirty="0"/>
          </a:p>
          <a:p>
            <a:pPr algn="just"/>
            <a:r>
              <a:rPr lang="en-US" dirty="0"/>
              <a:t> </a:t>
            </a:r>
            <a:r>
              <a:rPr lang="en-US" sz="2400" dirty="0"/>
              <a:t>Developed a supervised machine learning model to predict dengue outbreak risk level.</a:t>
            </a:r>
          </a:p>
          <a:p>
            <a:pPr algn="just"/>
            <a:r>
              <a:rPr lang="en-US" sz="2400" dirty="0"/>
              <a:t>Used weather and time-based features such as rainfall, humidity, temperature, wind speed, cloud cover, visibility, solar radiation, UV index, year, week, and month.</a:t>
            </a:r>
          </a:p>
          <a:p>
            <a:pPr algn="just"/>
            <a:r>
              <a:rPr lang="en-US" sz="2400" dirty="0"/>
              <a:t> Handled missing numeric values using interpolation, forward fill, and backward fill.</a:t>
            </a:r>
          </a:p>
          <a:p>
            <a:pPr algn="just"/>
            <a:r>
              <a:rPr lang="en-US" sz="2400" dirty="0"/>
              <a:t> Encoded the target variable </a:t>
            </a:r>
            <a:r>
              <a:rPr lang="en-US" sz="2400" dirty="0" err="1"/>
              <a:t>outbreak_level</a:t>
            </a:r>
            <a:r>
              <a:rPr lang="en-US" sz="2400" dirty="0"/>
              <a:t> into Low, Medium, and High classes.</a:t>
            </a:r>
          </a:p>
          <a:p>
            <a:pPr algn="just"/>
            <a:r>
              <a:rPr lang="en-US" sz="2400" dirty="0"/>
              <a:t>Trained and compared Random Forest and </a:t>
            </a:r>
            <a:r>
              <a:rPr lang="en-US" sz="2400" dirty="0" err="1"/>
              <a:t>XGBoost</a:t>
            </a:r>
            <a:r>
              <a:rPr lang="en-US" sz="2400" dirty="0"/>
              <a:t> models.</a:t>
            </a:r>
          </a:p>
          <a:p>
            <a:pPr algn="just"/>
            <a:r>
              <a:rPr lang="en-US" sz="2400" dirty="0"/>
              <a:t> Selected Random Forest as the final model based on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809344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95B70-6C46-1961-A24F-911FDC38C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477"/>
            <a:ext cx="10515600" cy="640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Implementation</a:t>
            </a:r>
          </a:p>
          <a:p>
            <a:pPr marL="0" indent="0">
              <a:buNone/>
            </a:pPr>
            <a:r>
              <a:rPr lang="en-US" sz="1600" dirty="0"/>
              <a:t>Flutter Mobile App</a:t>
            </a:r>
          </a:p>
          <a:p>
            <a:pPr marL="0" indent="0">
              <a:buNone/>
            </a:pPr>
            <a:r>
              <a:rPr lang="en-US" sz="1600" dirty="0"/>
              <a:t>        ↓</a:t>
            </a:r>
          </a:p>
          <a:p>
            <a:pPr marL="0" indent="0">
              <a:buNone/>
            </a:pPr>
            <a:r>
              <a:rPr lang="en-US" sz="1600" dirty="0" err="1"/>
              <a:t>FastAPI</a:t>
            </a:r>
            <a:r>
              <a:rPr lang="en-US" sz="1600" dirty="0"/>
              <a:t> Backend</a:t>
            </a:r>
          </a:p>
          <a:p>
            <a:pPr marL="0" indent="0">
              <a:buNone/>
            </a:pPr>
            <a:r>
              <a:rPr lang="en-US" sz="1600" dirty="0"/>
              <a:t>        ↓</a:t>
            </a:r>
          </a:p>
          <a:p>
            <a:pPr marL="0" indent="0">
              <a:buNone/>
            </a:pPr>
            <a:r>
              <a:rPr lang="en-US" sz="1600" dirty="0"/>
              <a:t>Trained Random Forest Model</a:t>
            </a:r>
          </a:p>
          <a:p>
            <a:pPr marL="0" indent="0">
              <a:buNone/>
            </a:pPr>
            <a:r>
              <a:rPr lang="en-US" sz="1600" dirty="0"/>
              <a:t>        ↓</a:t>
            </a:r>
          </a:p>
          <a:p>
            <a:pPr marL="0" indent="0">
              <a:buNone/>
            </a:pPr>
            <a:r>
              <a:rPr lang="en-US" sz="1600" dirty="0"/>
              <a:t>Risk Prediction + Class Probabilities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Current Progress</a:t>
            </a:r>
          </a:p>
          <a:p>
            <a:r>
              <a:rPr lang="en-US" sz="1600" dirty="0"/>
              <a:t>Cleaned and prepared ML-ready dataset.</a:t>
            </a:r>
          </a:p>
          <a:p>
            <a:r>
              <a:rPr lang="en-US" sz="1600" dirty="0"/>
              <a:t>Trained Random Forest model.</a:t>
            </a:r>
          </a:p>
          <a:p>
            <a:r>
              <a:rPr lang="en-US" sz="1600" dirty="0"/>
              <a:t>Saved model, label encoder, and feature list.</a:t>
            </a:r>
          </a:p>
          <a:p>
            <a:r>
              <a:rPr lang="en-US" sz="1600" dirty="0"/>
              <a:t>Created /predict API endpoint using </a:t>
            </a:r>
            <a:r>
              <a:rPr lang="en-US" sz="1600" dirty="0" err="1"/>
              <a:t>FastAPI</a:t>
            </a:r>
            <a:r>
              <a:rPr lang="en-US" sz="1600" dirty="0"/>
              <a:t>.</a:t>
            </a:r>
          </a:p>
          <a:p>
            <a:r>
              <a:rPr lang="en-US" sz="1600" dirty="0"/>
              <a:t>Connected Flutter mobile app with backend.</a:t>
            </a:r>
          </a:p>
          <a:p>
            <a:r>
              <a:rPr lang="en-US" sz="1600" dirty="0"/>
              <a:t>Displayed predicted risk level with High, Medium, and Low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281096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7B703-17EA-0A85-85DD-CAE9499CD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794"/>
            <a:ext cx="10515600" cy="58131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Design Prototype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89ED9-4D68-BDB2-8EDE-ECA096E92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04" y="845727"/>
            <a:ext cx="2420073" cy="5377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50E751-5E68-3200-2533-713B965D6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89" y="845727"/>
            <a:ext cx="2399056" cy="5331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D01DD2-722C-3ACF-9E8D-2FD1BEFBB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45727"/>
            <a:ext cx="2420073" cy="537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07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02A7C-0EE1-5ECD-C857-D928DC9E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923096D-BF6A-EFC9-51DF-AAE3DFFE9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022D4EE-20B6-EC2F-839A-FF98312E9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582C4-E009-2C27-BF05-CDB361B48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2642716"/>
            <a:ext cx="8582025" cy="97678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IT22165848 | Hettiarachchi A.T.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32163C-AB34-0A97-9A18-14BB30606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5CE10-7837-0673-22ED-16E56AA89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872" y="3912322"/>
            <a:ext cx="7137141" cy="685799"/>
          </a:xfrm>
        </p:spPr>
        <p:txBody>
          <a:bodyPr anchor="ctr">
            <a:noAutofit/>
          </a:bodyPr>
          <a:lstStyle/>
          <a:p>
            <a:r>
              <a:rPr lang="en-US" b="1" dirty="0"/>
              <a:t>Data Visualization &amp; Research Integration Developer in VS Code</a:t>
            </a:r>
          </a:p>
        </p:txBody>
      </p:sp>
    </p:spTree>
    <p:extLst>
      <p:ext uri="{BB962C8B-B14F-4D97-AF65-F5344CB8AC3E}">
        <p14:creationId xmlns:p14="http://schemas.microsoft.com/office/powerpoint/2010/main" val="1616596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D97F-19D5-25CB-5AC1-27D41FF6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6F80-BF86-FE16-0D9E-012AD271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524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Lack of Explainable Dengue Risk Visualization</a:t>
            </a:r>
          </a:p>
          <a:p>
            <a:pPr algn="just"/>
            <a:r>
              <a:rPr lang="en-US" sz="2400" dirty="0"/>
              <a:t>Existing systems mainly show only the </a:t>
            </a:r>
            <a:r>
              <a:rPr lang="en-US" sz="2400" b="1" dirty="0"/>
              <a:t>final dengue risk result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Most ML models work like a </a:t>
            </a:r>
            <a:r>
              <a:rPr lang="en-US" sz="2400" b="1" dirty="0"/>
              <a:t>black-box</a:t>
            </a:r>
            <a:r>
              <a:rPr lang="en-US" sz="2400" dirty="0"/>
              <a:t>, so users cannot understand why the risk was predicted. </a:t>
            </a:r>
          </a:p>
          <a:p>
            <a:pPr algn="just"/>
            <a:r>
              <a:rPr lang="en-US" sz="2400" dirty="0"/>
              <a:t>Health officers need to know the </a:t>
            </a:r>
            <a:r>
              <a:rPr lang="en-US" sz="2400" b="1" dirty="0"/>
              <a:t>key factors behind the risk</a:t>
            </a:r>
            <a:r>
              <a:rPr lang="en-US" sz="2400" dirty="0"/>
              <a:t>, not only the prediction. </a:t>
            </a:r>
          </a:p>
          <a:p>
            <a:pPr algn="just"/>
            <a:r>
              <a:rPr lang="en-US" sz="2400" dirty="0"/>
              <a:t>Current systems have limited explanation of factors like </a:t>
            </a:r>
            <a:r>
              <a:rPr lang="en-US" sz="2400" b="1" dirty="0"/>
              <a:t>dengue cases, rainfall, temperature, humidity, and MOH area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Therefore, an </a:t>
            </a:r>
            <a:r>
              <a:rPr lang="en-US" sz="2400" b="1" dirty="0"/>
              <a:t>XAI-based visualization dashboard</a:t>
            </a:r>
            <a:r>
              <a:rPr lang="en-US" sz="2400" dirty="0"/>
              <a:t> is needed to improve trust and support early dengue prevention.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7585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232F-A3B8-56BD-29A7-C939FC22C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245936"/>
            <a:ext cx="7348452" cy="558561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Solutions</a:t>
            </a:r>
          </a:p>
          <a:p>
            <a:pPr algn="just"/>
            <a:r>
              <a:rPr lang="en-US" sz="1600" dirty="0"/>
              <a:t>Develop an </a:t>
            </a:r>
            <a:r>
              <a:rPr lang="en-US" sz="1600" b="1" dirty="0"/>
              <a:t>explainable dashboard/mobile interface </a:t>
            </a:r>
            <a:r>
              <a:rPr lang="en-US" sz="1600" dirty="0"/>
              <a:t>to present dengue risk</a:t>
            </a:r>
          </a:p>
          <a:p>
            <a:pPr marL="0" indent="0" algn="just">
              <a:buNone/>
            </a:pPr>
            <a:r>
              <a:rPr lang="en-US" sz="1600" dirty="0"/>
              <a:t>prediction results clearly.</a:t>
            </a:r>
          </a:p>
          <a:p>
            <a:pPr algn="just"/>
            <a:r>
              <a:rPr lang="en-US" sz="1600" dirty="0"/>
              <a:t> Display predicted dengue risk levels as </a:t>
            </a:r>
            <a:r>
              <a:rPr lang="en-US" sz="1600" b="1" dirty="0"/>
              <a:t>Low, Medium, or High </a:t>
            </a:r>
            <a:r>
              <a:rPr lang="en-US" sz="1600" dirty="0"/>
              <a:t>for quick decision - making.</a:t>
            </a:r>
          </a:p>
          <a:p>
            <a:pPr algn="just"/>
            <a:r>
              <a:rPr lang="en-US" sz="1600" dirty="0"/>
              <a:t> Use </a:t>
            </a:r>
            <a:r>
              <a:rPr lang="en-US" sz="1600" b="1" dirty="0"/>
              <a:t>Explainable AI (XAI) </a:t>
            </a:r>
            <a:r>
              <a:rPr lang="en-US" sz="1600" dirty="0"/>
              <a:t>to explain the reason behind each dengue risk</a:t>
            </a:r>
          </a:p>
          <a:p>
            <a:pPr marL="0" indent="0" algn="just">
              <a:buNone/>
            </a:pPr>
            <a:r>
              <a:rPr lang="en-US" sz="1600" dirty="0"/>
              <a:t>prediction.</a:t>
            </a:r>
          </a:p>
          <a:p>
            <a:pPr algn="just"/>
            <a:r>
              <a:rPr lang="en-US" sz="1600" dirty="0"/>
              <a:t>Identify the most influential risk factors, such as </a:t>
            </a:r>
            <a:r>
              <a:rPr lang="en-US" sz="1600" b="1" dirty="0"/>
              <a:t>dengue cases, wind speed,</a:t>
            </a:r>
          </a:p>
          <a:p>
            <a:pPr marL="0" indent="0" algn="just">
              <a:buNone/>
            </a:pPr>
            <a:r>
              <a:rPr lang="en-US" sz="1600" b="1" dirty="0"/>
              <a:t>temperature, humidity.</a:t>
            </a:r>
          </a:p>
          <a:p>
            <a:pPr algn="just"/>
            <a:r>
              <a:rPr lang="en-US" sz="1600" dirty="0"/>
              <a:t>Provide feature importance / SHAP-based visual explanations to improve</a:t>
            </a:r>
          </a:p>
          <a:p>
            <a:pPr marL="0" indent="0" algn="just">
              <a:buNone/>
            </a:pPr>
            <a:r>
              <a:rPr lang="en-US" sz="1600" dirty="0"/>
              <a:t>model transparency.</a:t>
            </a:r>
          </a:p>
          <a:p>
            <a:pPr algn="just"/>
            <a:r>
              <a:rPr lang="en-US" sz="1600" dirty="0"/>
              <a:t>Visualize dengue patterns using trend charts, summary cards, and climate-</a:t>
            </a:r>
          </a:p>
          <a:p>
            <a:pPr marL="0" indent="0" algn="just">
              <a:buNone/>
            </a:pPr>
            <a:r>
              <a:rPr lang="en-US" sz="1600" dirty="0"/>
              <a:t>related graphs.</a:t>
            </a:r>
          </a:p>
          <a:p>
            <a:pPr algn="just"/>
            <a:r>
              <a:rPr lang="en-US" sz="1600" dirty="0"/>
              <a:t>Help </a:t>
            </a:r>
            <a:r>
              <a:rPr lang="en-US" sz="1600" b="1" dirty="0"/>
              <a:t>health officers </a:t>
            </a:r>
            <a:r>
              <a:rPr lang="en-US" sz="1600" dirty="0"/>
              <a:t>identify high-risk situations early and take suitable preventive actions.</a:t>
            </a:r>
          </a:p>
        </p:txBody>
      </p:sp>
    </p:spTree>
    <p:extLst>
      <p:ext uri="{BB962C8B-B14F-4D97-AF65-F5344CB8AC3E}">
        <p14:creationId xmlns:p14="http://schemas.microsoft.com/office/powerpoint/2010/main" val="873616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92913-4C52-038C-BD99-6F15BF4F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725" y="643384"/>
            <a:ext cx="1070720" cy="246142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4FFA271-A10A-4AC3-8F06-E3313A19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2047A7-954D-409C-EC8F-8870292EE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436" y="672813"/>
            <a:ext cx="1096747" cy="2464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1EA4FB-AC5A-E2C4-88BB-EEFC308A1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728" y="3761891"/>
            <a:ext cx="1081338" cy="2471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09ED88-F038-D528-7DA0-9472A1838A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712" y="3745910"/>
            <a:ext cx="1086194" cy="24686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A7DCB1-3968-DA1F-62CE-C3DF2447A6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826" y="643384"/>
            <a:ext cx="2434348" cy="556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39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B851F-824F-5824-5CF5-F89C8D5C7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2642716"/>
            <a:ext cx="8582025" cy="97678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IT22243980|Wickramarachchi T.T.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841FE-91B5-3FFE-20EF-5F1C8EC42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89195"/>
            <a:ext cx="7058025" cy="554229"/>
          </a:xfrm>
        </p:spPr>
        <p:txBody>
          <a:bodyPr anchor="ctr">
            <a:noAutofit/>
          </a:bodyPr>
          <a:lstStyle/>
          <a:p>
            <a:r>
              <a:rPr lang="en-US" b="1" dirty="0"/>
              <a:t>Reinforcement Learning Based Dengue Intervention Optimization Agent</a:t>
            </a:r>
          </a:p>
        </p:txBody>
      </p:sp>
    </p:spTree>
    <p:extLst>
      <p:ext uri="{BB962C8B-B14F-4D97-AF65-F5344CB8AC3E}">
        <p14:creationId xmlns:p14="http://schemas.microsoft.com/office/powerpoint/2010/main" val="1060012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F940-595C-77C2-A966-3229649FA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DD0B0-0C30-6D06-EDA6-715D0EFFE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48416" cy="4486275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Existing dengue systems mainly </a:t>
            </a:r>
            <a:r>
              <a:rPr lang="en-US" sz="2400" b="1" dirty="0"/>
              <a:t>predict risk</a:t>
            </a:r>
            <a:r>
              <a:rPr lang="en-US" sz="2400" dirty="0"/>
              <a:t>, but do not recommend the next action.</a:t>
            </a:r>
          </a:p>
          <a:p>
            <a:pPr algn="just"/>
            <a:r>
              <a:rPr lang="en-US" sz="2400" b="1" dirty="0"/>
              <a:t>PHI/MOH officers </a:t>
            </a:r>
            <a:r>
              <a:rPr lang="en-US" sz="2400" dirty="0"/>
              <a:t>still need to decide interventions manually.</a:t>
            </a:r>
          </a:p>
          <a:p>
            <a:pPr algn="just"/>
            <a:r>
              <a:rPr lang="en-US" sz="2400" b="1" dirty="0"/>
              <a:t>Manual decision-making </a:t>
            </a:r>
            <a:r>
              <a:rPr lang="en-US" sz="2400" dirty="0"/>
              <a:t>can delay dengue prevention actions.</a:t>
            </a:r>
          </a:p>
          <a:p>
            <a:pPr algn="just"/>
            <a:r>
              <a:rPr lang="en-US" sz="2400" dirty="0"/>
              <a:t>Different dengue situations need different actions, not one fixed solution.</a:t>
            </a:r>
          </a:p>
          <a:p>
            <a:pPr algn="just"/>
            <a:r>
              <a:rPr lang="en-US" sz="2400" dirty="0"/>
              <a:t>Current systems do not use </a:t>
            </a:r>
            <a:r>
              <a:rPr lang="en-US" sz="2400" b="1" dirty="0"/>
              <a:t>Reinforcement Learning </a:t>
            </a:r>
            <a:r>
              <a:rPr lang="en-US" sz="2400" dirty="0"/>
              <a:t>to optimize dengue intervention decisions.</a:t>
            </a:r>
          </a:p>
          <a:p>
            <a:pPr algn="just"/>
            <a:r>
              <a:rPr lang="en-US" sz="2400" dirty="0"/>
              <a:t>There is a need for an </a:t>
            </a:r>
            <a:r>
              <a:rPr lang="en-US" sz="2400" b="1" dirty="0"/>
              <a:t>AI agent </a:t>
            </a:r>
            <a:r>
              <a:rPr lang="en-US" sz="2400" dirty="0"/>
              <a:t>that can recommend the best action based on </a:t>
            </a:r>
            <a:r>
              <a:rPr lang="en-US" sz="2400" b="1" dirty="0"/>
              <a:t>cases, rainfall, and temperature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548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74A2-F6EC-2513-A6D3-B9532707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8F9D-E5C1-59C8-4EE3-C9FE6F416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Recommend the best dengue intervention action using 5 RL-based decisions.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1. Monitor Only                                        →        Monitor Action</a:t>
            </a:r>
          </a:p>
          <a:p>
            <a:pPr marL="0" indent="0">
              <a:buNone/>
            </a:pPr>
            <a:r>
              <a:rPr lang="en-US" sz="2400" dirty="0"/>
              <a:t>2. Deploy Fumigation Teams            →         Fumigation Action</a:t>
            </a:r>
          </a:p>
          <a:p>
            <a:pPr marL="0" indent="0">
              <a:buNone/>
            </a:pPr>
            <a:r>
              <a:rPr lang="en-US" sz="2400" dirty="0"/>
              <a:t>3. Issue Public Health Alert               →         Public Alert</a:t>
            </a:r>
          </a:p>
          <a:p>
            <a:pPr marL="0" indent="0">
              <a:buNone/>
            </a:pPr>
            <a:r>
              <a:rPr lang="en-US" sz="2400" dirty="0"/>
              <a:t>4. Increase Hospital Readiness       →         Hospital Readiness</a:t>
            </a:r>
          </a:p>
          <a:p>
            <a:pPr marL="0" indent="0">
              <a:buNone/>
            </a:pPr>
            <a:r>
              <a:rPr lang="en-US" sz="2400" dirty="0"/>
              <a:t>5. Community Cleanup Campaign →        Cleanup Campaign</a:t>
            </a:r>
          </a:p>
        </p:txBody>
      </p:sp>
    </p:spTree>
    <p:extLst>
      <p:ext uri="{BB962C8B-B14F-4D97-AF65-F5344CB8AC3E}">
        <p14:creationId xmlns:p14="http://schemas.microsoft.com/office/powerpoint/2010/main" val="562829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0DE8-F306-C4DC-217D-3CE8DD1FD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800" dirty="0"/>
              <a:t>Selected when dengue risk is HIGH.</a:t>
            </a:r>
          </a:p>
          <a:p>
            <a:endParaRPr lang="en-US" sz="1800" dirty="0"/>
          </a:p>
          <a:p>
            <a:r>
              <a:rPr lang="en-US" sz="1800" dirty="0"/>
              <a:t> Considers dengue cases, rainfall, and temperature.</a:t>
            </a:r>
          </a:p>
          <a:p>
            <a:endParaRPr lang="en-US" sz="1800" dirty="0"/>
          </a:p>
          <a:p>
            <a:r>
              <a:rPr lang="en-US" sz="1800" dirty="0"/>
              <a:t> Helps PHI/MOH officers take fast preventive action.</a:t>
            </a:r>
          </a:p>
          <a:p>
            <a:endParaRPr lang="en-US" sz="1800" dirty="0"/>
          </a:p>
          <a:p>
            <a:r>
              <a:rPr lang="en-US" sz="1800" dirty="0"/>
              <a:t>Q-Learning agent chooses the best action from trained Q-table.</a:t>
            </a:r>
          </a:p>
          <a:p>
            <a:endParaRPr lang="en-US" sz="1800" dirty="0"/>
          </a:p>
          <a:p>
            <a:r>
              <a:rPr lang="en-US" sz="1800" dirty="0"/>
              <a:t> Automatic PHI email is sent for </a:t>
            </a:r>
            <a:r>
              <a:rPr lang="en-US" sz="1800" dirty="0" err="1"/>
              <a:t>HIGH-risk</a:t>
            </a:r>
            <a:r>
              <a:rPr lang="en-US" sz="1800" dirty="0"/>
              <a:t> situations.</a:t>
            </a:r>
          </a:p>
          <a:p>
            <a:endParaRPr lang="en-US" sz="1800" dirty="0"/>
          </a:p>
          <a:p>
            <a:r>
              <a:rPr lang="en-US" sz="1800" dirty="0"/>
              <a:t> APIs:</a:t>
            </a:r>
          </a:p>
          <a:p>
            <a:r>
              <a:rPr lang="en-US" sz="1800" dirty="0"/>
              <a:t>  /recommend</a:t>
            </a:r>
          </a:p>
          <a:p>
            <a:r>
              <a:rPr lang="en-US" sz="1800" dirty="0"/>
              <a:t>  /send-warning</a:t>
            </a:r>
          </a:p>
          <a:p>
            <a:r>
              <a:rPr lang="en-US" sz="1800" dirty="0"/>
              <a:t>  /test-email</a:t>
            </a:r>
          </a:p>
        </p:txBody>
      </p:sp>
    </p:spTree>
    <p:extLst>
      <p:ext uri="{BB962C8B-B14F-4D97-AF65-F5344CB8AC3E}">
        <p14:creationId xmlns:p14="http://schemas.microsoft.com/office/powerpoint/2010/main" val="3417518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9F9B5A-7C35-C7CE-ACDD-FB43EB4CF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20" y="1123527"/>
            <a:ext cx="2152744" cy="460480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3DE0693-E4CA-4692-F8BC-169C78C58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374" y="1123527"/>
            <a:ext cx="2164256" cy="46048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F1E8347-5381-6409-EFB3-1ECA14F85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787" y="1123527"/>
            <a:ext cx="2244840" cy="460480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60831C3-451D-CCDA-EDF2-5398FF686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890" y="1123527"/>
            <a:ext cx="2267864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94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61F3E-7941-314C-0167-1AA520F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8DE8445-A882-71E6-F1C7-DFB5C22A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2FA0188-8F75-B253-1CA0-F4F23EEDD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0B984-4777-683E-4944-316FC7313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2642716"/>
            <a:ext cx="8582025" cy="976784"/>
          </a:xfrm>
        </p:spPr>
        <p:txBody>
          <a:bodyPr anchor="ctr">
            <a:normAutofit fontScale="90000"/>
          </a:bodyPr>
          <a:lstStyle/>
          <a:p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IT22281982-Adithya A.A.H</a:t>
            </a: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DAE4D3-64E8-834D-DBBE-D7D939840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5BEAD-9FB7-7A6B-C414-BDFC9193F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89195"/>
            <a:ext cx="7058025" cy="554229"/>
          </a:xfrm>
        </p:spPr>
        <p:txBody>
          <a:bodyPr anchor="ctr">
            <a:noAutofit/>
          </a:bodyPr>
          <a:lstStyle/>
          <a:p>
            <a:r>
              <a:rPr lang="en-US" b="1" dirty="0"/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78024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E723-B192-FFAF-6019-03ED6E43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C9FA7-AAC7-A86A-1957-B66644400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Current dengue monitoring systems are mainly </a:t>
            </a:r>
            <a:r>
              <a:rPr lang="en-US" sz="2400" b="1" dirty="0"/>
              <a:t>reactive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 They mostly focus on </a:t>
            </a:r>
            <a:r>
              <a:rPr lang="en-US" sz="2400" b="1" dirty="0"/>
              <a:t>past case analysis </a:t>
            </a:r>
            <a:r>
              <a:rPr lang="en-US" sz="2400" dirty="0"/>
              <a:t>or </a:t>
            </a:r>
            <a:r>
              <a:rPr lang="en-US" sz="2400" b="1" dirty="0"/>
              <a:t>basic prediction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 They do not clearly explain why a </a:t>
            </a:r>
            <a:r>
              <a:rPr lang="en-US" sz="2400" b="1" dirty="0"/>
              <a:t>risk level is predicted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 They do not detect dengue-related </a:t>
            </a:r>
            <a:r>
              <a:rPr lang="en-US" sz="2400" b="1" dirty="0"/>
              <a:t>misinformation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 They do not analyze dengue reports using </a:t>
            </a:r>
            <a:r>
              <a:rPr lang="en-US" sz="2400" b="1" dirty="0"/>
              <a:t>NLP-based report analysis.</a:t>
            </a:r>
          </a:p>
          <a:p>
            <a:pPr algn="just"/>
            <a:r>
              <a:rPr lang="en-US" sz="2400" dirty="0"/>
              <a:t> They do not support </a:t>
            </a:r>
            <a:r>
              <a:rPr lang="en-US" sz="2400" b="1" dirty="0"/>
              <a:t>“what-if” </a:t>
            </a:r>
            <a:r>
              <a:rPr lang="en-US" sz="2400" dirty="0"/>
              <a:t>risk simulation based on weather changes.</a:t>
            </a:r>
          </a:p>
          <a:p>
            <a:pPr algn="just"/>
            <a:r>
              <a:rPr lang="en-US" sz="2400" dirty="0"/>
              <a:t>Therefore, they provide limited support for proactive dengue prevention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27756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9598-37D1-DCAA-4D64-FE6B59F0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0F95E-36CD-9B1F-6F35-6CEDA0C72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102"/>
            <a:ext cx="10515600" cy="5075749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b="1" dirty="0"/>
              <a:t>1. App Functions</a:t>
            </a:r>
          </a:p>
          <a:p>
            <a:pPr algn="just"/>
            <a:r>
              <a:rPr lang="en-US" sz="1800" b="1" dirty="0"/>
              <a:t>Home Dashboard</a:t>
            </a:r>
          </a:p>
          <a:p>
            <a:pPr algn="just"/>
            <a:r>
              <a:rPr lang="en-US" sz="2000" dirty="0"/>
              <a:t>Shows the current dengue risk status.</a:t>
            </a:r>
          </a:p>
          <a:p>
            <a:pPr algn="just"/>
            <a:r>
              <a:rPr lang="en-US" sz="2000" dirty="0"/>
              <a:t>Displays quick summary details such as cases, trend, hotspots, and prevention status.</a:t>
            </a:r>
          </a:p>
          <a:p>
            <a:pPr algn="just"/>
            <a:r>
              <a:rPr lang="en-US" sz="2000" dirty="0"/>
              <a:t>Provides easy navigation to all main app features.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AI Chatbot</a:t>
            </a:r>
          </a:p>
          <a:p>
            <a:pPr algn="just"/>
            <a:r>
              <a:rPr lang="en-US" sz="2000" dirty="0"/>
              <a:t>Allows users to ask dengue-related questions.</a:t>
            </a:r>
          </a:p>
          <a:p>
            <a:pPr algn="just"/>
            <a:r>
              <a:rPr lang="en-US" sz="2000" dirty="0"/>
              <a:t>Provides answers about symptoms, prevention, risk factors, and dengue awareness.</a:t>
            </a:r>
          </a:p>
          <a:p>
            <a:pPr algn="just"/>
            <a:r>
              <a:rPr lang="en-US" sz="2000" dirty="0"/>
              <a:t>Shows confidence, evidence, location, and time-based context.</a:t>
            </a:r>
          </a:p>
        </p:txBody>
      </p:sp>
    </p:spTree>
    <p:extLst>
      <p:ext uri="{BB962C8B-B14F-4D97-AF65-F5344CB8AC3E}">
        <p14:creationId xmlns:p14="http://schemas.microsoft.com/office/powerpoint/2010/main" val="51359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FE6BC-49A0-791B-E8E8-15791C07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8278"/>
            <a:ext cx="10515600" cy="583283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2: NLP-Based Functions</a:t>
            </a:r>
          </a:p>
          <a:p>
            <a:r>
              <a:rPr lang="en-US" sz="2000" b="1" dirty="0"/>
              <a:t>Report Upload &amp; Analysis</a:t>
            </a:r>
          </a:p>
          <a:p>
            <a:r>
              <a:rPr lang="en-US" sz="2000" dirty="0"/>
              <a:t>Allows users to upload dengue-related reports.</a:t>
            </a:r>
          </a:p>
          <a:p>
            <a:r>
              <a:rPr lang="en-US" sz="2000" dirty="0"/>
              <a:t>Reads the report content and detects dengue-related keywords.</a:t>
            </a:r>
          </a:p>
          <a:p>
            <a:r>
              <a:rPr lang="en-US" sz="2000" dirty="0"/>
              <a:t>Identifies terms such as dengue, fever, rainfall, mosquito, outbreak, and risk.</a:t>
            </a:r>
          </a:p>
          <a:p>
            <a:r>
              <a:rPr lang="en-US" sz="2000" dirty="0"/>
              <a:t>Generates a risk-level summary from the uploaded report.</a:t>
            </a:r>
          </a:p>
          <a:p>
            <a:endParaRPr lang="en-US" dirty="0"/>
          </a:p>
          <a:p>
            <a:r>
              <a:rPr lang="en-US" sz="2000" b="1" dirty="0"/>
              <a:t>Misinformation Detection</a:t>
            </a:r>
          </a:p>
          <a:p>
            <a:r>
              <a:rPr lang="en-US" sz="2000" dirty="0"/>
              <a:t>Checks whether dengue-related health claims are reliable or misleading.</a:t>
            </a:r>
          </a:p>
          <a:p>
            <a:r>
              <a:rPr lang="en-US" sz="2000" dirty="0"/>
              <a:t>Detects false claims such as instant dengue cures.</a:t>
            </a:r>
          </a:p>
          <a:p>
            <a:r>
              <a:rPr lang="en-US" sz="2000" dirty="0"/>
              <a:t>Provides explanation and recommendation for the user.</a:t>
            </a:r>
          </a:p>
        </p:txBody>
      </p:sp>
    </p:spTree>
    <p:extLst>
      <p:ext uri="{BB962C8B-B14F-4D97-AF65-F5344CB8AC3E}">
        <p14:creationId xmlns:p14="http://schemas.microsoft.com/office/powerpoint/2010/main" val="2557941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E1FAFA9-21CA-7DFB-6F32-E516F3CEC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2" y="1123527"/>
            <a:ext cx="2129720" cy="46048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22E901D-7BBD-B425-DC9C-F5915A13D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931" y="1123527"/>
            <a:ext cx="2129720" cy="46048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2074F15-EB7F-35FA-504A-0803841E4D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026" y="1123527"/>
            <a:ext cx="2129720" cy="46048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B5AF4A2-C90E-118A-23F9-C9746AB66E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962" y="1123527"/>
            <a:ext cx="212972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23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F9422-97DB-7AD5-0E29-33873858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520462-F4AA-C453-93F9-ED7DD7C0C3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568" b="2"/>
          <a:stretch>
            <a:fillRect/>
          </a:stretch>
        </p:blipFill>
        <p:spPr>
          <a:xfrm>
            <a:off x="198744" y="1968320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F52ADA-C58B-EED4-1914-7ECA63371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1313" b="2"/>
          <a:stretch>
            <a:fillRect/>
          </a:stretch>
        </p:blipFill>
        <p:spPr>
          <a:xfrm>
            <a:off x="6189935" y="1968319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00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A41541-3F47-5F1C-32DA-2C2C3BF1E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17386"/>
            <a:ext cx="5291666" cy="3823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B27443-8B81-EFB5-54FE-834E8739A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722437"/>
            <a:ext cx="5291667" cy="34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65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5AB392-8F0A-22ED-341A-3AFE7B714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06865"/>
            <a:ext cx="5291666" cy="28442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74FFDC-5CE5-F711-8262-450733007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006864"/>
            <a:ext cx="5291667" cy="28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06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71A9C3-5280-5B42-BC24-15D3E4CC1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026708"/>
            <a:ext cx="5291666" cy="28045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7148C0-608F-85B9-02F4-7DD6970F8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2026708"/>
            <a:ext cx="5291667" cy="280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2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31CD8-2210-4458-3F03-F0DDE5BF7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402" y="2794881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6600" dirty="0">
                <a:solidFill>
                  <a:schemeClr val="tx2"/>
                </a:solidFill>
              </a:rPr>
              <a:t>Thank You 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E7EA1EA6-B4F0-8061-A940-07188C5635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3060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1506</Words>
  <Application>Microsoft Office PowerPoint</Application>
  <PresentationFormat>Widescreen</PresentationFormat>
  <Paragraphs>221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Cambria</vt:lpstr>
      <vt:lpstr>Office Theme</vt:lpstr>
      <vt:lpstr>Machine Learning-Based Dengue Outbreak Prediction System for Colombo District</vt:lpstr>
      <vt:lpstr>Team Members </vt:lpstr>
      <vt:lpstr>Indroduction</vt:lpstr>
      <vt:lpstr>Problem</vt:lpstr>
      <vt:lpstr>Our Solution</vt:lpstr>
      <vt:lpstr>PowerPoint Presentation</vt:lpstr>
      <vt:lpstr>Tools and Technologies</vt:lpstr>
      <vt:lpstr>PowerPoint Presentation</vt:lpstr>
      <vt:lpstr>Commercialization </vt:lpstr>
      <vt:lpstr>PowerPoint Presentation</vt:lpstr>
      <vt:lpstr>IT22214034 | Imal Udayanga </vt:lpstr>
      <vt:lpstr>PowerPoint Presentation</vt:lpstr>
      <vt:lpstr>PowerPoint Presentation</vt:lpstr>
      <vt:lpstr>PowerPoint Presentation</vt:lpstr>
      <vt:lpstr>PowerPoint Presentation</vt:lpstr>
      <vt:lpstr>IT22165848 | Hettiarachchi A.T.</vt:lpstr>
      <vt:lpstr>Problem Gap</vt:lpstr>
      <vt:lpstr>PowerPoint Presentation</vt:lpstr>
      <vt:lpstr>PowerPoint Presentation</vt:lpstr>
      <vt:lpstr>IT22243980|Wickramarachchi T.T.</vt:lpstr>
      <vt:lpstr>Problem Gap</vt:lpstr>
      <vt:lpstr>Solution</vt:lpstr>
      <vt:lpstr>PowerPoint Presentation</vt:lpstr>
      <vt:lpstr>PowerPoint Presentation</vt:lpstr>
      <vt:lpstr>   IT22281982-Adithya A.A.H  </vt:lpstr>
      <vt:lpstr>Problem Gap</vt:lpstr>
      <vt:lpstr>Solution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WICKRAMARACHCHI T T it22243980</dc:creator>
  <cp:lastModifiedBy>WICKRAMARACHCHI T T it22243980</cp:lastModifiedBy>
  <cp:revision>10</cp:revision>
  <dcterms:created xsi:type="dcterms:W3CDTF">2026-05-08T17:07:02Z</dcterms:created>
  <dcterms:modified xsi:type="dcterms:W3CDTF">2026-05-11T04:31:19Z</dcterms:modified>
</cp:coreProperties>
</file>
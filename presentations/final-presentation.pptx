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80" r:id="rId2"/>
  </p:sldMasterIdLst>
  <p:notesMasterIdLst>
    <p:notesMasterId r:id="rId25"/>
  </p:notesMasterIdLst>
  <p:sldIdLst>
    <p:sldId id="256" r:id="rId3"/>
    <p:sldId id="274" r:id="rId4"/>
    <p:sldId id="288" r:id="rId5"/>
    <p:sldId id="269" r:id="rId6"/>
    <p:sldId id="257" r:id="rId7"/>
    <p:sldId id="258" r:id="rId8"/>
    <p:sldId id="286" r:id="rId9"/>
    <p:sldId id="287" r:id="rId10"/>
    <p:sldId id="260" r:id="rId11"/>
    <p:sldId id="279" r:id="rId12"/>
    <p:sldId id="276" r:id="rId13"/>
    <p:sldId id="280" r:id="rId14"/>
    <p:sldId id="277" r:id="rId15"/>
    <p:sldId id="282" r:id="rId16"/>
    <p:sldId id="278" r:id="rId17"/>
    <p:sldId id="281" r:id="rId18"/>
    <p:sldId id="263" r:id="rId19"/>
    <p:sldId id="289" r:id="rId20"/>
    <p:sldId id="265" r:id="rId21"/>
    <p:sldId id="285" r:id="rId22"/>
    <p:sldId id="266" r:id="rId23"/>
    <p:sldId id="26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er" initials="a" lastIdx="1" clrIdx="0">
    <p:extLst>
      <p:ext uri="{19B8F6BF-5375-455C-9EA6-DF929625EA0E}">
        <p15:presenceInfo xmlns:p15="http://schemas.microsoft.com/office/powerpoint/2012/main" userId="ac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0D6D"/>
    <a:srgbClr val="050F0F"/>
    <a:srgbClr val="141BA6"/>
    <a:srgbClr val="ED8013"/>
    <a:srgbClr val="008080"/>
    <a:srgbClr val="1ABCBC"/>
    <a:srgbClr val="1A0C6E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76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18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9" y="723056"/>
            <a:ext cx="3490723" cy="28049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0" y="3617132"/>
            <a:ext cx="3154680" cy="1035558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0936" y="723056"/>
            <a:ext cx="4052460" cy="3944197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7819486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t>10/18/2026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96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244009"/>
            <a:ext cx="8085582" cy="3693750"/>
          </a:xfrm>
        </p:spPr>
        <p:txBody>
          <a:bodyPr>
            <a:normAutofit/>
          </a:bodyPr>
          <a:lstStyle>
            <a:lvl1pPr>
              <a:defRPr sz="135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900">
                <a:solidFill>
                  <a:schemeClr val="tx1"/>
                </a:solidFill>
              </a:defRPr>
            </a:lvl4pPr>
            <a:lvl5pPr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675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913524"/>
            <a:ext cx="8229600" cy="589788"/>
          </a:xfrm>
        </p:spPr>
        <p:txBody>
          <a:bodyPr anchor="b">
            <a:norm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479472"/>
            <a:ext cx="8229600" cy="360280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9143999" cy="3739819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97089" y="4340394"/>
            <a:ext cx="1127583" cy="27384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10/18/2026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3742455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340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933956"/>
            <a:ext cx="5909501" cy="2694472"/>
          </a:xfrm>
        </p:spPr>
        <p:txBody>
          <a:bodyPr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1285875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0850" y="276225"/>
            <a:ext cx="5531644" cy="760810"/>
          </a:xfrm>
        </p:spPr>
        <p:txBody>
          <a:bodyPr anchor="ctr">
            <a:norm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2885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4652"/>
            <a:ext cx="7159752" cy="2756914"/>
          </a:xfrm>
        </p:spPr>
        <p:txBody>
          <a:bodyPr anchor="t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3857625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99454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61" y="972063"/>
            <a:ext cx="3264994" cy="3199376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292" y="972063"/>
            <a:ext cx="3243834" cy="3199376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948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456432"/>
            <a:ext cx="3127248" cy="1207008"/>
          </a:xfrm>
        </p:spPr>
        <p:txBody>
          <a:bodyPr anchor="t" anchorCtr="0">
            <a:no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42976" y="822960"/>
            <a:ext cx="2832353" cy="2376075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098" y="630936"/>
            <a:ext cx="3161538" cy="399821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22815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2557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1961388"/>
            <a:ext cx="2859786" cy="266776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9804" y="630936"/>
            <a:ext cx="3717131" cy="2667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762152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4682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30936"/>
            <a:ext cx="2249424" cy="3888486"/>
          </a:xfrm>
        </p:spPr>
        <p:txBody>
          <a:bodyPr anchor="t" anchorCtr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0194" y="630936"/>
            <a:ext cx="4695116" cy="38884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136657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47020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364" y="742884"/>
            <a:ext cx="1924195" cy="1394206"/>
          </a:xfrm>
        </p:spPr>
        <p:txBody>
          <a:bodyPr anchor="b"/>
          <a:lstStyle>
            <a:lvl1pPr>
              <a:def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51435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24204" y="2258501"/>
            <a:ext cx="1919983" cy="199218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sz="1050" dirty="0"/>
            </a:lvl2pPr>
            <a:lvl3pPr marL="342900" indent="0">
              <a:buNone/>
              <a:defRPr lang="en-US" sz="1050" dirty="0"/>
            </a:lvl3pPr>
            <a:lvl4pPr marL="514350" indent="0">
              <a:buNone/>
              <a:defRPr lang="en-US" sz="1050" dirty="0"/>
            </a:lvl4pPr>
            <a:lvl5pPr marL="6858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719423" y="1194719"/>
            <a:ext cx="2230142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819486" y="3515322"/>
            <a:ext cx="2030018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34222" y="4767263"/>
            <a:ext cx="430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40428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75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640" y="411480"/>
            <a:ext cx="4569919" cy="857250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595414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1371600"/>
            <a:ext cx="4553712" cy="336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597866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819486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7719424" y="1194718"/>
            <a:ext cx="2230142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621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0"/>
            <a:ext cx="4601718" cy="857250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71600"/>
            <a:ext cx="4601718" cy="336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50408" y="0"/>
            <a:ext cx="3593592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536517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651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40030"/>
            <a:ext cx="5143500" cy="699516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035558"/>
            <a:ext cx="5143500" cy="37376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58321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8266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37560"/>
            <a:ext cx="3271266" cy="946979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1" y="1484596"/>
            <a:ext cx="3270647" cy="32469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09110" y="0"/>
            <a:ext cx="4834890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99095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938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40030"/>
            <a:ext cx="3429000" cy="699516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035558"/>
            <a:ext cx="3429000" cy="37376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38291" y="0"/>
            <a:ext cx="4705709" cy="51435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33793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748309" y="3515322"/>
            <a:ext cx="2030018" cy="273844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4767263"/>
            <a:ext cx="430965" cy="273844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267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59201"/>
            <a:ext cx="2804922" cy="104274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3476349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74251" y="4263232"/>
            <a:ext cx="1281907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740" y="3759200"/>
            <a:ext cx="4800600" cy="104274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350">
                <a:solidFill>
                  <a:schemeClr val="tx1"/>
                </a:solidFill>
              </a:defRPr>
            </a:lvl1pPr>
            <a:lvl2pPr marL="17145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2pPr>
            <a:lvl3pPr marL="342900" indent="0">
              <a:buFont typeface="Arial" panose="020B0604020202020204" pitchFamily="34" charset="0"/>
              <a:buNone/>
              <a:defRPr sz="1050">
                <a:solidFill>
                  <a:schemeClr val="tx1"/>
                </a:solidFill>
              </a:defRPr>
            </a:lvl3pPr>
            <a:lvl4pPr marL="514350" indent="0"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4pPr>
            <a:lvl5pPr marL="685800" indent="0">
              <a:buFont typeface="Arial" panose="020B0604020202020204" pitchFamily="34" charset="0"/>
              <a:buNone/>
              <a:defRPr sz="8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8380469" y="4076305"/>
            <a:ext cx="90805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3478672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8643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3662172"/>
            <a:ext cx="2743202" cy="1090422"/>
          </a:xfrm>
        </p:spPr>
        <p:txBody>
          <a:bodyPr anchor="t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1" y="411482"/>
            <a:ext cx="2617631" cy="3031235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03320" y="411956"/>
            <a:ext cx="4920854" cy="4319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84588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63742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3" y="419506"/>
            <a:ext cx="8066753" cy="69951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848371" y="1194718"/>
            <a:ext cx="223014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748310" y="3446210"/>
            <a:ext cx="2030018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6427" y="4698151"/>
            <a:ext cx="430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1285239"/>
            <a:ext cx="3290259" cy="3459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1285240"/>
            <a:ext cx="4899803" cy="385826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14313" lvl="0" indent="-214313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201337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50" y="3703321"/>
            <a:ext cx="5240653" cy="1014984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750"/>
              </a:spcBef>
              <a:defRPr sz="21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3050" y="411766"/>
            <a:ext cx="7091363" cy="3250406"/>
          </a:xfrm>
        </p:spPr>
        <p:txBody>
          <a:bodyPr anchor="b">
            <a:normAutofit/>
          </a:bodyPr>
          <a:lstStyle>
            <a:lvl1pPr>
              <a:defRPr sz="174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028700" y="0"/>
            <a:ext cx="0" cy="51435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06475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486" y="-921095"/>
            <a:ext cx="7989570" cy="850392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8104" y="1701562"/>
            <a:ext cx="5207793" cy="2965691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1pPr>
            <a:lvl2pPr marL="17145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2pPr>
            <a:lvl3pPr marL="34290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3pPr>
            <a:lvl4pPr marL="51435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4pPr>
            <a:lvl5pPr marL="68580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292904" y="-1072785"/>
            <a:ext cx="4558193" cy="788302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70752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5126" y="4251960"/>
            <a:ext cx="4733748" cy="349758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750"/>
              </a:spcBef>
              <a:defRPr sz="135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47851" y="1308433"/>
            <a:ext cx="5248298" cy="263093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5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108535" y="-1261480"/>
            <a:ext cx="4926932" cy="788302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379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8878" y="1577579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13710" y="1577341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1547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1577340"/>
            <a:ext cx="386834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8879" y="2057401"/>
            <a:ext cx="3867890" cy="2822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32020" y="1577340"/>
            <a:ext cx="388739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32021" y="2057401"/>
            <a:ext cx="3887391" cy="2822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195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1377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9632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7" y="342900"/>
            <a:ext cx="5506730" cy="850392"/>
          </a:xfrm>
          <a:noFill/>
        </p:spPr>
        <p:txBody>
          <a:bodyPr anchor="b">
            <a:noAutofit/>
          </a:bodyPr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936" y="1968246"/>
            <a:ext cx="7818120" cy="24003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5339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8055864" cy="849194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1726377"/>
            <a:ext cx="8055863" cy="2940874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570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7177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774954"/>
            <a:ext cx="4419055" cy="29215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1" y="4299966"/>
            <a:ext cx="4419053" cy="59664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8364" y="595363"/>
            <a:ext cx="3945636" cy="454813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03940" y="155987"/>
            <a:ext cx="1997099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5197367" y="592168"/>
            <a:ext cx="0" cy="455133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1" y="4065188"/>
            <a:ext cx="51973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59393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69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459486"/>
            <a:ext cx="8440251" cy="829818"/>
          </a:xfrm>
        </p:spPr>
        <p:txBody>
          <a:bodyPr/>
          <a:lstStyle>
            <a:lvl1pPr>
              <a:defRPr sz="49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9" y="1604772"/>
            <a:ext cx="8440251" cy="3216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1">
              <a:rPr lang="en-US" smtClean="0"/>
              <a:t>10/18/2026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354172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062102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3917666"/>
            <a:ext cx="8572500" cy="685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4562318"/>
            <a:ext cx="8572499" cy="42519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380205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3801263"/>
            <a:ext cx="914171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729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569214"/>
            <a:ext cx="5692140" cy="306552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4053078"/>
            <a:ext cx="8636458" cy="43205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4690872"/>
            <a:ext cx="2222769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306" y="4690872"/>
            <a:ext cx="1259732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690872"/>
            <a:ext cx="409835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4543425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3956082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461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" y="1076706"/>
            <a:ext cx="8695944" cy="4169664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587867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038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665226"/>
            <a:ext cx="8553958" cy="877824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661" y="2124490"/>
            <a:ext cx="5170289" cy="2631713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1">
              <a:rPr lang="en-US" smtClean="0"/>
              <a:t>10/18/2026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1588869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600075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179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8" y="390906"/>
            <a:ext cx="4985766" cy="1399032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7990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1988820"/>
            <a:ext cx="4745736" cy="2660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3924" y="157734"/>
            <a:ext cx="2221992" cy="30861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80133" y="157734"/>
            <a:ext cx="1259732" cy="308610"/>
          </a:xfrm>
        </p:spPr>
        <p:txBody>
          <a:bodyPr/>
          <a:lstStyle/>
          <a:p>
            <a:fld id="{948C47DC-C479-4517-B1B0-94DB01BA76E7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3692937" y="1839337"/>
            <a:ext cx="545106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3692937" y="0"/>
            <a:ext cx="0" cy="51435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651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1558031"/>
            <a:ext cx="3359330" cy="201856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683" y="1657907"/>
            <a:ext cx="4401970" cy="1824358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3683" y="155987"/>
            <a:ext cx="1440986" cy="310020"/>
          </a:xfrm>
        </p:spPr>
        <p:txBody>
          <a:bodyPr/>
          <a:lstStyle/>
          <a:p>
            <a:fld id="{F92C9D0B-C1A3-434D-9CF9-A666A14DD8A1}" type="datetime1">
              <a:rPr lang="en-US" smtClean="0"/>
              <a:t>10/18/2026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983954" y="1162975"/>
            <a:ext cx="0" cy="2817551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398163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162975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250898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937470"/>
            <a:ext cx="3064434" cy="384425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8788" y="937469"/>
            <a:ext cx="4830318" cy="39290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2890" y="155987"/>
            <a:ext cx="1440986" cy="310020"/>
          </a:xfrm>
        </p:spPr>
        <p:txBody>
          <a:bodyPr/>
          <a:lstStyle/>
          <a:p>
            <a:fld id="{742A22FE-7CAA-4561-B3B2-F8D8C37BE3D2}" type="datetime1">
              <a:rPr lang="en-US" smtClean="0"/>
              <a:t>10/18/2026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689060" y="604008"/>
            <a:ext cx="0" cy="453949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381122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157" y="562356"/>
            <a:ext cx="4831518" cy="152933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2746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8156" y="160112"/>
            <a:ext cx="2221992" cy="30861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6920" y="157734"/>
            <a:ext cx="1259732" cy="308610"/>
          </a:xfrm>
        </p:spPr>
        <p:txBody>
          <a:bodyPr/>
          <a:lstStyle/>
          <a:p>
            <a:fld id="{491FA625-EDE8-4CCD-93F2-36B8EAED6AA1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8157" y="2208276"/>
            <a:ext cx="4831519" cy="26787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2746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179918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459486"/>
            <a:ext cx="5266944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157734"/>
            <a:ext cx="2648578" cy="31002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157734"/>
            <a:ext cx="1259732" cy="310020"/>
          </a:xfrm>
        </p:spPr>
        <p:txBody>
          <a:bodyPr/>
          <a:lstStyle/>
          <a:p>
            <a:fld id="{5824A7B9-17B9-4425-9158-739F678A55EB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309878"/>
            <a:ext cx="5266944" cy="3605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782188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459486"/>
            <a:ext cx="5261612" cy="7749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918713" y="155987"/>
            <a:ext cx="1261872" cy="310020"/>
          </a:xfrm>
        </p:spPr>
        <p:txBody>
          <a:bodyPr/>
          <a:lstStyle/>
          <a:p>
            <a:fld id="{28E8FF4C-7F6A-4962-9270-F797B8959287}" type="datetime1">
              <a:rPr lang="en-US" smtClean="0"/>
              <a:t>10/18/2026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92196" y="155987"/>
            <a:ext cx="409835" cy="31002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309878"/>
            <a:ext cx="5263703" cy="3605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30195" y="0"/>
            <a:ext cx="3312911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5826625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857131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30" y="562356"/>
            <a:ext cx="4333670" cy="77495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57734"/>
            <a:ext cx="2221992" cy="30861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76872" y="157734"/>
            <a:ext cx="1259732" cy="308610"/>
          </a:xfrm>
        </p:spPr>
        <p:txBody>
          <a:bodyPr/>
          <a:lstStyle/>
          <a:p>
            <a:fld id="{064F86E1-145A-4683-AD05-97E7E41B4995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10570" y="157734"/>
            <a:ext cx="409835" cy="31002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495043"/>
            <a:ext cx="4333670" cy="3419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1562" y="0"/>
            <a:ext cx="4212438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4927972" y="1"/>
            <a:ext cx="0" cy="51434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665242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562356"/>
            <a:ext cx="3092760" cy="11384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157734"/>
            <a:ext cx="1695043" cy="30861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71997" y="157734"/>
            <a:ext cx="793583" cy="308610"/>
          </a:xfrm>
        </p:spPr>
        <p:txBody>
          <a:bodyPr/>
          <a:lstStyle/>
          <a:p>
            <a:fld id="{96B14CE5-CB23-4F24-AF40-FFA10F25B799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7648" y="157734"/>
            <a:ext cx="330727" cy="31002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78" y="1933957"/>
            <a:ext cx="3097955" cy="27843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84494" y="0"/>
            <a:ext cx="5459506" cy="51435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0972" y="0"/>
            <a:ext cx="0" cy="51435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663121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562356"/>
            <a:ext cx="8636066" cy="72009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1">
              <a:rPr lang="en-US" smtClean="0"/>
              <a:t>10/18/2026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635417"/>
            <a:ext cx="3759266" cy="32131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005" y="1375893"/>
            <a:ext cx="4784042" cy="3767607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4362341" y="1370440"/>
            <a:ext cx="0" cy="37804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370441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470746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3874773"/>
            <a:ext cx="2742398" cy="91756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8572" cy="362788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341" y="3874773"/>
            <a:ext cx="5305332" cy="917565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4828032"/>
            <a:ext cx="2221992" cy="273844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4341" y="4827895"/>
            <a:ext cx="3412060" cy="273844"/>
          </a:xfrm>
        </p:spPr>
        <p:txBody>
          <a:bodyPr/>
          <a:lstStyle/>
          <a:p>
            <a:fld id="{220747AD-BB60-464B-B16B-6CC7DCEAA31E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828032"/>
            <a:ext cx="409835" cy="31002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3212569" y="3627882"/>
            <a:ext cx="0" cy="1515618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938" y="3631580"/>
            <a:ext cx="9144938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78829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571502"/>
            <a:ext cx="4959590" cy="116692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1">
              <a:rPr lang="en-US" smtClean="0"/>
              <a:t>10/18/2026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970" y="1826975"/>
            <a:ext cx="5462794" cy="3316524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51" y="571500"/>
            <a:ext cx="306961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1826975"/>
            <a:ext cx="545782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5457825" y="1"/>
            <a:ext cx="0" cy="51434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609879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336042"/>
            <a:ext cx="8636069" cy="84353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60112"/>
            <a:ext cx="2221992" cy="30861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157734"/>
            <a:ext cx="1259732" cy="308610"/>
          </a:xfrm>
        </p:spPr>
        <p:txBody>
          <a:bodyPr/>
          <a:lstStyle/>
          <a:p>
            <a:fld id="{EB5EDF0F-3515-4895-B663-882304741893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155987"/>
            <a:ext cx="409835" cy="30861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711" y="1275588"/>
            <a:ext cx="2488628" cy="386791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081" y="1597915"/>
            <a:ext cx="5978594" cy="33169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271639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2488628" y="1271638"/>
            <a:ext cx="0" cy="387186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493883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424" y="891540"/>
            <a:ext cx="3051810" cy="336042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1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42" y="1207008"/>
            <a:ext cx="5081778" cy="311353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25050" dirty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57734"/>
            <a:ext cx="2221992" cy="30861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157734"/>
            <a:ext cx="1259732" cy="30861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157734"/>
            <a:ext cx="409835" cy="30861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4552081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417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8330" y="685800"/>
            <a:ext cx="7534070" cy="3348416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1pPr>
            <a:lvl2pPr marL="17145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2pPr>
            <a:lvl3pPr marL="342900" indent="0">
              <a:lnSpc>
                <a:spcPct val="10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3pPr>
            <a:lvl4pPr marL="514350" indent="0">
              <a:lnSpc>
                <a:spcPct val="100000"/>
              </a:lnSpc>
              <a:buNone/>
              <a:defRPr sz="4950" b="0">
                <a:solidFill>
                  <a:schemeClr val="tx2"/>
                </a:solidFill>
                <a:latin typeface="+mj-lt"/>
              </a:defRPr>
            </a:lvl4pPr>
            <a:lvl5pPr marL="685800" indent="0">
              <a:lnSpc>
                <a:spcPct val="100000"/>
              </a:lnSpc>
              <a:buNone/>
              <a:defRPr sz="45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4697730"/>
            <a:ext cx="2222769" cy="31002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052" y="4697730"/>
            <a:ext cx="1440986" cy="310020"/>
          </a:xfrm>
        </p:spPr>
        <p:txBody>
          <a:bodyPr/>
          <a:lstStyle/>
          <a:p>
            <a:fld id="{453B8C54-B76A-4DD8-BD0B-11200408342B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697730"/>
            <a:ext cx="409835" cy="31002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4543425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197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924" y="4080165"/>
            <a:ext cx="6974586" cy="761997"/>
          </a:xfrm>
        </p:spPr>
        <p:txBody>
          <a:bodyPr anchor="ctr">
            <a:normAutofit/>
          </a:bodyPr>
          <a:lstStyle>
            <a:lvl1pPr>
              <a:defRPr sz="15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0030" y="878113"/>
            <a:ext cx="7269480" cy="2904119"/>
          </a:xfrm>
        </p:spPr>
        <p:txBody>
          <a:bodyPr>
            <a:normAutofit/>
          </a:bodyPr>
          <a:lstStyle>
            <a:lvl1pPr marL="205740" indent="-205740">
              <a:lnSpc>
                <a:spcPct val="70000"/>
              </a:lnSpc>
              <a:buNone/>
              <a:defRPr sz="6600" cap="all" baseline="0">
                <a:solidFill>
                  <a:schemeClr val="tx2"/>
                </a:solidFill>
                <a:latin typeface="+mj-lt"/>
              </a:defRPr>
            </a:lvl1pPr>
            <a:lvl2pPr marL="205740" indent="-205740">
              <a:lnSpc>
                <a:spcPct val="70000"/>
              </a:lnSpc>
              <a:buNone/>
              <a:defRPr sz="6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05740" indent="-205740">
              <a:lnSpc>
                <a:spcPct val="70000"/>
              </a:lnSpc>
              <a:buNone/>
              <a:defRPr sz="54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57734"/>
            <a:ext cx="2221992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157734"/>
            <a:ext cx="1832841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157734"/>
            <a:ext cx="409835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590384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3955898"/>
            <a:ext cx="9144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514350"/>
            <a:ext cx="8440251" cy="4992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1">
              <a:rPr lang="en-US" smtClean="0"/>
              <a:t>10/18/2026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8330" y="1330393"/>
            <a:ext cx="4011930" cy="3339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8740" y="1330394"/>
            <a:ext cx="4011930" cy="3339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08212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51967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29" y="514350"/>
            <a:ext cx="8442198" cy="50063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1">
              <a:rPr lang="en-US" smtClean="0"/>
              <a:t>10/18/2026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330" y="1330393"/>
            <a:ext cx="4011798" cy="442608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8330" y="1776357"/>
            <a:ext cx="4011798" cy="2894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8597" y="1330393"/>
            <a:ext cx="4011930" cy="442608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68597" y="1776357"/>
            <a:ext cx="4011930" cy="28940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08212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329354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71003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09782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1588869"/>
            <a:ext cx="9144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24078"/>
            <a:ext cx="8440251" cy="918972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4697730"/>
            <a:ext cx="2221992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4697730"/>
            <a:ext cx="1450165" cy="30861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4697730"/>
            <a:ext cx="409835" cy="3100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8" y="2571751"/>
            <a:ext cx="8440252" cy="2080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862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20" y="952793"/>
            <a:ext cx="5947485" cy="1545666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2" y="2846071"/>
            <a:ext cx="5949574" cy="114831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160112"/>
            <a:ext cx="2221992" cy="30861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157734"/>
            <a:ext cx="1259732" cy="308610"/>
          </a:xfrm>
        </p:spPr>
        <p:txBody>
          <a:bodyPr/>
          <a:lstStyle/>
          <a:p>
            <a:fld id="{F50BF9E0-60DA-4D6D-8F14-825F152220D6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257618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577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93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38743"/>
            <a:ext cx="7886700" cy="8376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848371" y="1194718"/>
            <a:ext cx="223014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46102"/>
            <a:ext cx="7886700" cy="308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819486" y="3515322"/>
            <a:ext cx="203001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4222" y="4767263"/>
            <a:ext cx="4309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75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3" y="1368083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21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750"/>
        </a:spcBef>
        <a:buSzPct val="80000"/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Goudy Old Style" panose="02020502050305020303" pitchFamily="18" charset="0"/>
        <a:buChar char="–"/>
        <a:defRPr sz="12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Goudy Old Style" panose="02020502050305020303" pitchFamily="18" charset="0"/>
        <a:buChar char="–"/>
        <a:defRPr sz="105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592172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701848"/>
            <a:ext cx="8440251" cy="4992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419" y="1280686"/>
            <a:ext cx="8440251" cy="3636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8330" y="155987"/>
            <a:ext cx="2222769" cy="310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60052" y="155987"/>
            <a:ext cx="1440986" cy="310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653" y="155987"/>
            <a:ext cx="409835" cy="310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38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7625" y="4981575"/>
            <a:ext cx="1483519" cy="11541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5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3090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</p:sldLayoutIdLst>
  <p:hf sldNum="0" hdr="0" ftr="0" dt="0"/>
  <p:txStyles>
    <p:titleStyle>
      <a:lvl1pPr algn="l" defTabSz="685800" rtl="0" eaLnBrk="1" latinLnBrk="0" hangingPunct="1">
        <a:lnSpc>
          <a:spcPct val="70000"/>
        </a:lnSpc>
        <a:spcBef>
          <a:spcPct val="0"/>
        </a:spcBef>
        <a:buNone/>
        <a:defRPr sz="3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7.png"/><Relationship Id="rId5" Type="http://schemas.openxmlformats.org/officeDocument/2006/relationships/slideLayout" Target="../slideLayouts/slideLayout51.xml"/><Relationship Id="rId4" Type="http://schemas.openxmlformats.org/officeDocument/2006/relationships/video" Target="../media/media2.mp4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33103" y="2058239"/>
            <a:ext cx="8666454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525B5B"/>
                </a:solidFill>
                <a:latin typeface="Aptos"/>
              </a:defRPr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AI-Based Dengue Outbreak Prediction and Intervention Optimization System for the Colombo District, Sri Lanka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BDC18-83EB-95EC-61B4-8482DB75997E}"/>
              </a:ext>
            </a:extLst>
          </p:cNvPr>
          <p:cNvSpPr txBox="1"/>
          <p:nvPr/>
        </p:nvSpPr>
        <p:spPr>
          <a:xfrm>
            <a:off x="3013280" y="4193698"/>
            <a:ext cx="27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ID: R26-IT-061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253B77C4-8D8F-F16D-E0BA-79B9A6996894}"/>
              </a:ext>
            </a:extLst>
          </p:cNvPr>
          <p:cNvSpPr txBox="1"/>
          <p:nvPr/>
        </p:nvSpPr>
        <p:spPr>
          <a:xfrm>
            <a:off x="0" y="4856857"/>
            <a:ext cx="9144000" cy="298835"/>
          </a:xfrm>
          <a:prstGeom prst="rect">
            <a:avLst/>
          </a:prstGeom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  |  IT4010-2026</a:t>
            </a:r>
          </a:p>
        </p:txBody>
      </p:sp>
      <p:grpSp>
        <p:nvGrpSpPr>
          <p:cNvPr id="17" name="Group 6">
            <a:extLst>
              <a:ext uri="{FF2B5EF4-FFF2-40B4-BE49-F238E27FC236}">
                <a16:creationId xmlns:a16="http://schemas.microsoft.com/office/drawing/2014/main" id="{B77B5F3B-966F-99A6-5F8A-B48DE3E6B533}"/>
              </a:ext>
            </a:extLst>
          </p:cNvPr>
          <p:cNvGrpSpPr/>
          <p:nvPr/>
        </p:nvGrpSpPr>
        <p:grpSpPr>
          <a:xfrm>
            <a:off x="2" y="5005970"/>
            <a:ext cx="9144000" cy="177993"/>
            <a:chOff x="0" y="-38100"/>
            <a:chExt cx="4816593" cy="157410"/>
          </a:xfrm>
          <a:solidFill>
            <a:schemeClr val="accent1">
              <a:lumMod val="75000"/>
            </a:schemeClr>
          </a:solidFill>
        </p:grpSpPr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60F58879-B25F-9E7E-5DFC-51782924CE3A}"/>
                </a:ext>
              </a:extLst>
            </p:cNvPr>
            <p:cNvSpPr/>
            <p:nvPr/>
          </p:nvSpPr>
          <p:spPr>
            <a:xfrm>
              <a:off x="0" y="-13098"/>
              <a:ext cx="4816592" cy="119310"/>
            </a:xfrm>
            <a:custGeom>
              <a:avLst/>
              <a:gdLst/>
              <a:ahLst/>
              <a:cxnLst/>
              <a:rect l="l" t="t" r="r" b="b"/>
              <a:pathLst>
                <a:path w="4816592" h="119310">
                  <a:moveTo>
                    <a:pt x="0" y="0"/>
                  </a:moveTo>
                  <a:lnTo>
                    <a:pt x="4816592" y="0"/>
                  </a:lnTo>
                  <a:lnTo>
                    <a:pt x="4816592" y="119310"/>
                  </a:lnTo>
                  <a:lnTo>
                    <a:pt x="0" y="11931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 sz="900" dirty="0"/>
            </a:p>
          </p:txBody>
        </p:sp>
        <p:sp>
          <p:nvSpPr>
            <p:cNvPr id="19" name="TextBox 8">
              <a:extLst>
                <a:ext uri="{FF2B5EF4-FFF2-40B4-BE49-F238E27FC236}">
                  <a16:creationId xmlns:a16="http://schemas.microsoft.com/office/drawing/2014/main" id="{6E9B1BFB-F0D8-FD56-2096-79C2AF7C0F9E}"/>
                </a:ext>
              </a:extLst>
            </p:cNvPr>
            <p:cNvSpPr txBox="1"/>
            <p:nvPr/>
          </p:nvSpPr>
          <p:spPr>
            <a:xfrm>
              <a:off x="0" y="-38100"/>
              <a:ext cx="4816593" cy="157410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>
                <a:lnSpc>
                  <a:spcPts val="1330"/>
                </a:lnSpc>
              </a:pPr>
              <a:endPara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59D9E8D-0440-5435-92E2-AEFE41948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631" y="288807"/>
            <a:ext cx="1879906" cy="1879906"/>
          </a:xfrm>
          <a:prstGeom prst="rect">
            <a:avLst/>
          </a:prstGeom>
        </p:spPr>
      </p:pic>
      <p:sp>
        <p:nvSpPr>
          <p:cNvPr id="9" name="Freeform 7">
            <a:extLst>
              <a:ext uri="{FF2B5EF4-FFF2-40B4-BE49-F238E27FC236}">
                <a16:creationId xmlns:a16="http://schemas.microsoft.com/office/drawing/2014/main" id="{874256E8-11D0-F2CB-C12B-0CBC2D05994E}"/>
              </a:ext>
            </a:extLst>
          </p:cNvPr>
          <p:cNvSpPr/>
          <p:nvPr/>
        </p:nvSpPr>
        <p:spPr>
          <a:xfrm>
            <a:off x="2" y="-6411"/>
            <a:ext cx="9143998" cy="134911"/>
          </a:xfrm>
          <a:custGeom>
            <a:avLst/>
            <a:gdLst/>
            <a:ahLst/>
            <a:cxnLst/>
            <a:rect l="l" t="t" r="r" b="b"/>
            <a:pathLst>
              <a:path w="4816592" h="119310">
                <a:moveTo>
                  <a:pt x="0" y="0"/>
                </a:moveTo>
                <a:lnTo>
                  <a:pt x="4816592" y="0"/>
                </a:lnTo>
                <a:lnTo>
                  <a:pt x="4816592" y="119310"/>
                </a:lnTo>
                <a:lnTo>
                  <a:pt x="0" y="11931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en-GB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9EF94C-01A9-9356-7E7F-672BAB56E35A}"/>
              </a:ext>
            </a:extLst>
          </p:cNvPr>
          <p:cNvSpPr txBox="1"/>
          <p:nvPr/>
        </p:nvSpPr>
        <p:spPr>
          <a:xfrm>
            <a:off x="3028903" y="3618411"/>
            <a:ext cx="2673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6" grpId="0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" y="0"/>
            <a:ext cx="9144000" cy="5117430"/>
          </a:xfrm>
          <a:custGeom>
            <a:avLst/>
            <a:gdLst/>
            <a:ahLst/>
            <a:cxnLst/>
            <a:rect l="l" t="t" r="r" b="b"/>
            <a:pathLst>
              <a:path w="18682276" h="12466173">
                <a:moveTo>
                  <a:pt x="0" y="0"/>
                </a:moveTo>
                <a:lnTo>
                  <a:pt x="18682276" y="0"/>
                </a:lnTo>
                <a:lnTo>
                  <a:pt x="18682276" y="12466173"/>
                </a:lnTo>
                <a:lnTo>
                  <a:pt x="0" y="1246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en-GB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361811" y="-1245363"/>
            <a:ext cx="2420383" cy="9144003"/>
            <a:chOff x="0" y="0"/>
            <a:chExt cx="300722" cy="1617262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300722" cy="1617262"/>
            </a:xfrm>
            <a:custGeom>
              <a:avLst/>
              <a:gdLst/>
              <a:ahLst/>
              <a:cxnLst/>
              <a:rect l="l" t="t" r="r" b="b"/>
              <a:pathLst>
                <a:path w="300722" h="1617262">
                  <a:moveTo>
                    <a:pt x="0" y="0"/>
                  </a:moveTo>
                  <a:lnTo>
                    <a:pt x="300722" y="0"/>
                  </a:lnTo>
                  <a:lnTo>
                    <a:pt x="300722" y="1617262"/>
                  </a:lnTo>
                  <a:lnTo>
                    <a:pt x="0" y="161726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514" y="0"/>
              <a:ext cx="292208" cy="1617262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4350" y="880072"/>
            <a:ext cx="3781321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0"/>
              </a:lnSpc>
            </a:pPr>
            <a:r>
              <a:rPr lang="en-US" sz="5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Sugo Display"/>
                <a:cs typeface="Times New Roman" panose="02020603050405020304" pitchFamily="18" charset="0"/>
                <a:sym typeface="Sugo Display"/>
              </a:rPr>
              <a:t>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4350" y="2298141"/>
            <a:ext cx="5154930" cy="2238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Dengue is a major public-health concern in Sri Lanka. Timely risk identification, understandable predictions, appropriate interventions, and reliable public-health information are required to support dengue prevention and control.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research proposes an integrated AI-based mobile decision-support system for the Colombo District.</a:t>
            </a:r>
          </a:p>
          <a:p>
            <a:pPr algn="just">
              <a:lnSpc>
                <a:spcPts val="2450"/>
              </a:lnSpc>
            </a:pPr>
            <a:endParaRPr lang="en-US" sz="1750" dirty="0">
              <a:solidFill>
                <a:srgbClr val="FFFFFF"/>
              </a:solidFill>
              <a:latin typeface="Times New Roman" panose="02020603050405020304" pitchFamily="18" charset="0"/>
              <a:ea typeface="Anek Bangla SemiCondensed"/>
              <a:cs typeface="Times New Roman" panose="02020603050405020304" pitchFamily="18" charset="0"/>
              <a:sym typeface="Anek Bangla SemiCondense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0" y="4893022"/>
            <a:ext cx="9144002" cy="298835"/>
            <a:chOff x="0" y="-19050"/>
            <a:chExt cx="4816594" cy="157410"/>
          </a:xfrm>
          <a:solidFill>
            <a:schemeClr val="accent1">
              <a:lumMod val="75000"/>
            </a:schemeClr>
          </a:solidFill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119310"/>
            </a:xfrm>
            <a:custGeom>
              <a:avLst/>
              <a:gdLst/>
              <a:ahLst/>
              <a:cxnLst/>
              <a:rect l="l" t="t" r="r" b="b"/>
              <a:pathLst>
                <a:path w="4816592" h="119310">
                  <a:moveTo>
                    <a:pt x="0" y="0"/>
                  </a:moveTo>
                  <a:lnTo>
                    <a:pt x="4816592" y="0"/>
                  </a:lnTo>
                  <a:lnTo>
                    <a:pt x="4816592" y="119310"/>
                  </a:lnTo>
                  <a:lnTo>
                    <a:pt x="0" y="11931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" y="-19050"/>
              <a:ext cx="4816593" cy="157410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>
                <a:lnSpc>
                  <a:spcPts val="1330"/>
                </a:lnSpc>
              </a:pPr>
              <a:r>
                <a:rPr lang="en-US" sz="1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Canva Sans Bold"/>
                  <a:cs typeface="Times New Roman" panose="02020603050405020304" pitchFamily="18" charset="0"/>
                  <a:sym typeface="Canva Sans Bold"/>
                </a:rPr>
                <a:t>R26 - IT - 061 | </a:t>
              </a:r>
              <a:r>
                <a:rPr lang="en-US" sz="1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 AI-Based Dengue Outbreak Prediction and Intervention Optimization System for the Colombo District, Sri Lanka</a:t>
              </a:r>
              <a:endParaRPr lang="en-US"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3DDF9ED-FF91-AF14-FC1B-0DDCED5ED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06" y="880071"/>
            <a:ext cx="2717944" cy="31084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4B685B-0265-3F86-D5DA-C5F3BC6A7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444640"/>
              </p:ext>
            </p:extLst>
          </p:nvPr>
        </p:nvGraphicFramePr>
        <p:xfrm>
          <a:off x="239713" y="800100"/>
          <a:ext cx="8440737" cy="3550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3579">
                  <a:extLst>
                    <a:ext uri="{9D8B030D-6E8A-4147-A177-3AD203B41FA5}">
                      <a16:colId xmlns:a16="http://schemas.microsoft.com/office/drawing/2014/main" val="2287664206"/>
                    </a:ext>
                  </a:extLst>
                </a:gridCol>
                <a:gridCol w="2813579">
                  <a:extLst>
                    <a:ext uri="{9D8B030D-6E8A-4147-A177-3AD203B41FA5}">
                      <a16:colId xmlns:a16="http://schemas.microsoft.com/office/drawing/2014/main" val="203101621"/>
                    </a:ext>
                  </a:extLst>
                </a:gridCol>
                <a:gridCol w="2813579">
                  <a:extLst>
                    <a:ext uri="{9D8B030D-6E8A-4147-A177-3AD203B41FA5}">
                      <a16:colId xmlns:a16="http://schemas.microsoft.com/office/drawing/2014/main" val="1910950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Number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Panel Comments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Actions Taken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117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IT2243980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progress for the PP2 milestone. Work on the research paper.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Finalized the component and continued working on the research paper.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438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IT22165848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progress for the PP2 milestone. Address component overlap and use XAI to explain the changes in the three values.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Corrected the overlapping functionality and improved the XAI component to clearly explain the factors influencing changes in the three values.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656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IT22214034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progress for the PP2 milestone. Work on the research paper.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Finalized the component and continued working on the research paper.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617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IT22281982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progress for the PP2 milestone. Work on the research paper.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Finalized the component and continued working on the research paper.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4907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E3194C-17FB-4FC2-CD60-21C21F29F831}"/>
              </a:ext>
            </a:extLst>
          </p:cNvPr>
          <p:cNvSpPr txBox="1"/>
          <p:nvPr/>
        </p:nvSpPr>
        <p:spPr>
          <a:xfrm>
            <a:off x="3085088" y="165705"/>
            <a:ext cx="2749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PP2 Panel Comments</a:t>
            </a:r>
          </a:p>
        </p:txBody>
      </p:sp>
    </p:spTree>
    <p:extLst>
      <p:ext uri="{BB962C8B-B14F-4D97-AF65-F5344CB8AC3E}">
        <p14:creationId xmlns:p14="http://schemas.microsoft.com/office/powerpoint/2010/main" val="328527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8863131-FF2C-F30F-6218-6220748F0190}"/>
              </a:ext>
            </a:extLst>
          </p:cNvPr>
          <p:cNvSpPr txBox="1"/>
          <p:nvPr/>
        </p:nvSpPr>
        <p:spPr>
          <a:xfrm>
            <a:off x="1320800" y="30942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73253C-620E-D771-06F0-A94EDB7C9CB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0CF90441-8FA7-8614-D895-6C0FCF773011}"/>
              </a:ext>
            </a:extLst>
          </p:cNvPr>
          <p:cNvSpPr/>
          <p:nvPr/>
        </p:nvSpPr>
        <p:spPr>
          <a:xfrm>
            <a:off x="4" y="4952706"/>
            <a:ext cx="9143998" cy="226504"/>
          </a:xfrm>
          <a:custGeom>
            <a:avLst/>
            <a:gdLst/>
            <a:ahLst/>
            <a:cxnLst/>
            <a:rect l="l" t="t" r="r" b="b"/>
            <a:pathLst>
              <a:path w="4816592" h="119310">
                <a:moveTo>
                  <a:pt x="0" y="0"/>
                </a:moveTo>
                <a:lnTo>
                  <a:pt x="4816592" y="0"/>
                </a:lnTo>
                <a:lnTo>
                  <a:pt x="4816592" y="119310"/>
                </a:lnTo>
                <a:lnTo>
                  <a:pt x="0" y="119310"/>
                </a:lnTo>
                <a:close/>
              </a:path>
            </a:pathLst>
          </a:custGeom>
          <a:solidFill>
            <a:srgbClr val="ED8013"/>
          </a:solidFill>
        </p:spPr>
        <p:txBody>
          <a:bodyPr/>
          <a:lstStyle/>
          <a:p>
            <a:endParaRPr lang="en-GB" sz="900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46A0B1F6-670D-7385-22F3-4F94686C4207}"/>
              </a:ext>
            </a:extLst>
          </p:cNvPr>
          <p:cNvSpPr txBox="1"/>
          <p:nvPr/>
        </p:nvSpPr>
        <p:spPr>
          <a:xfrm>
            <a:off x="2" y="4933518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8DC75-E7AB-18F8-9A4B-C6136D78E24F}"/>
              </a:ext>
            </a:extLst>
          </p:cNvPr>
          <p:cNvSpPr txBox="1"/>
          <p:nvPr/>
        </p:nvSpPr>
        <p:spPr>
          <a:xfrm>
            <a:off x="724737" y="27432"/>
            <a:ext cx="7694526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Overview</a:t>
            </a:r>
          </a:p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Dengue Decision Support Platform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integrates:</a:t>
            </a:r>
          </a:p>
          <a:p>
            <a:pPr lvl="0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Dengue outbreak risk prediction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prediction explanations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RL-based intervention recommendations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dengue health intelligence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 field inspection support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dashboard, alerts, and follow-up records</a:t>
            </a:r>
          </a:p>
          <a:p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69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9723" y="89882"/>
            <a:ext cx="71323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23C3D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003" y="666188"/>
            <a:ext cx="7223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A6F71"/>
                </a:solidFill>
                <a:latin typeface="Aptos"/>
              </a:defRPr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Dengue outbreak management requires timely and informed decisions</a:t>
            </a:r>
            <a:endParaRPr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0583" y="1189776"/>
            <a:ext cx="3925300" cy="333756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Dengue risk is often identified only after cases have increased.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conditions and historical dengue patterns are difficult to analyze manually.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prediction systems may show a risk level but do not explain the reasons clearly.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PHI/MOH officers must manually decide which intervention is most suitable.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Follow-up outcomes are not consistently used to improve future intervention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8119" y="1148731"/>
            <a:ext cx="4170554" cy="33375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1004275"/>
            <a:ext cx="3403352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A6F71"/>
                </a:solidFill>
                <a:latin typeface="Aptos"/>
              </a:defRPr>
            </a:pPr>
            <a:endParaRPr lang="en-US" sz="1400" b="1" dirty="0">
              <a:solidFill>
                <a:srgbClr val="2A6F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2A6F71"/>
                </a:solidFill>
                <a:latin typeface="Aptos"/>
              </a:defRPr>
            </a:pPr>
            <a:r>
              <a:rPr lang="en-US" sz="1400" b="1" dirty="0">
                <a:solidFill>
                  <a:srgbClr val="120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PAIN POINTS IN CURRENT DENGUE MANAGEMENT</a:t>
            </a:r>
          </a:p>
          <a:p>
            <a:pPr>
              <a:defRPr sz="1400" b="1">
                <a:solidFill>
                  <a:srgbClr val="2A6F71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96022" y="1132335"/>
            <a:ext cx="34573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EB7428"/>
                </a:solidFill>
                <a:latin typeface="Aptos"/>
              </a:defRPr>
            </a:pPr>
            <a:r>
              <a:rPr lang="en-US" sz="1400" b="1" dirty="0">
                <a:solidFill>
                  <a:srgbClr val="EB74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FOR DENGUE RESPONSE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50766" y="1231947"/>
            <a:ext cx="3625189" cy="32953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Risk Identification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Ability to identify possible dengue-risk conditions before an outbreak becomes severe. </a:t>
            </a:r>
          </a:p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Predictions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Ability to understand the factors that influence the predicted risk level. </a:t>
            </a:r>
          </a:p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 Guidance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Ability to receive a suitable recommended action based on dengue and weather conditions. </a:t>
            </a:r>
          </a:p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PHI Alerts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Ability to notify the responsible PHI officer for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HIGH-risk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advisory situations. </a:t>
            </a:r>
          </a:p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Ability to record intervention outcomes and improve future recommendations through the RL feedback loop.</a:t>
            </a:r>
          </a:p>
          <a:p>
            <a:pPr>
              <a:lnSpc>
                <a:spcPct val="150000"/>
              </a:lnSpc>
              <a:defRPr sz="1900" b="1">
                <a:solidFill>
                  <a:srgbClr val="223C3D"/>
                </a:solidFill>
                <a:latin typeface="Aptos"/>
              </a:defRPr>
            </a:pPr>
            <a:endParaRPr sz="12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reeform 12">
            <a:extLst>
              <a:ext uri="{FF2B5EF4-FFF2-40B4-BE49-F238E27FC236}">
                <a16:creationId xmlns:a16="http://schemas.microsoft.com/office/drawing/2014/main" id="{88B34EB8-AF47-73D5-2003-A5FFE97A7676}"/>
              </a:ext>
            </a:extLst>
          </p:cNvPr>
          <p:cNvSpPr/>
          <p:nvPr/>
        </p:nvSpPr>
        <p:spPr>
          <a:xfrm>
            <a:off x="4" y="4928593"/>
            <a:ext cx="9143998" cy="226504"/>
          </a:xfrm>
          <a:custGeom>
            <a:avLst/>
            <a:gdLst/>
            <a:ahLst/>
            <a:cxnLst/>
            <a:rect l="l" t="t" r="r" b="b"/>
            <a:pathLst>
              <a:path w="4816592" h="119310">
                <a:moveTo>
                  <a:pt x="0" y="0"/>
                </a:moveTo>
                <a:lnTo>
                  <a:pt x="4816592" y="0"/>
                </a:lnTo>
                <a:lnTo>
                  <a:pt x="4816592" y="119310"/>
                </a:lnTo>
                <a:lnTo>
                  <a:pt x="0" y="119310"/>
                </a:lnTo>
                <a:close/>
              </a:path>
            </a:pathLst>
          </a:custGeom>
          <a:solidFill>
            <a:srgbClr val="ED8013"/>
          </a:solidFill>
        </p:spPr>
        <p:txBody>
          <a:bodyPr/>
          <a:lstStyle/>
          <a:p>
            <a:endParaRPr lang="en-GB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124CA53E-9B18-84F1-7712-501CDF523E28}"/>
              </a:ext>
            </a:extLst>
          </p:cNvPr>
          <p:cNvSpPr/>
          <p:nvPr/>
        </p:nvSpPr>
        <p:spPr>
          <a:xfrm>
            <a:off x="0" y="4929188"/>
            <a:ext cx="9143998" cy="226504"/>
          </a:xfrm>
          <a:custGeom>
            <a:avLst/>
            <a:gdLst/>
            <a:ahLst/>
            <a:cxnLst/>
            <a:rect l="l" t="t" r="r" b="b"/>
            <a:pathLst>
              <a:path w="4816592" h="119310">
                <a:moveTo>
                  <a:pt x="0" y="0"/>
                </a:moveTo>
                <a:lnTo>
                  <a:pt x="4816592" y="0"/>
                </a:lnTo>
                <a:lnTo>
                  <a:pt x="4816592" y="119310"/>
                </a:lnTo>
                <a:lnTo>
                  <a:pt x="0" y="119310"/>
                </a:lnTo>
                <a:close/>
              </a:path>
            </a:pathLst>
          </a:custGeom>
          <a:solidFill>
            <a:srgbClr val="ED8013"/>
          </a:solidFill>
        </p:spPr>
        <p:txBody>
          <a:bodyPr/>
          <a:lstStyle/>
          <a:p>
            <a:endParaRPr lang="en-GB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AB41A942-2059-4CFB-DA29-B7C0EA1826D9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8" grpId="0" animBg="1"/>
      <p:bldP spid="9" grpId="0" animBg="1"/>
      <p:bldP spid="11" grpId="0"/>
      <p:bldP spid="20" grpId="0"/>
      <p:bldP spid="21" grpId="0"/>
      <p:bldP spid="26" grpId="0" animBg="1"/>
      <p:bldP spid="27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50096"/>
            <a:ext cx="71323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23C3D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58368"/>
            <a:ext cx="7223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A6F71"/>
                </a:solidFill>
                <a:latin typeface="Aptos"/>
              </a:defRPr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dengue solutions focus on separate functions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" y="4985040"/>
            <a:ext cx="9144000" cy="158460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0202" y="1078992"/>
            <a:ext cx="3938597" cy="33832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 only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clear prediction explanation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intervention selection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PHI follow-up support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health-information support</a:t>
            </a:r>
          </a:p>
          <a:p>
            <a:pPr algn="ctr"/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26280" y="1078992"/>
            <a:ext cx="4114800" cy="33832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130759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B7428"/>
                </a:solidFill>
                <a:latin typeface="Aptos"/>
              </a:defRPr>
            </a:pPr>
            <a:r>
              <a:rPr lang="en-US" sz="1400" b="1" dirty="0">
                <a:solidFill>
                  <a:srgbClr val="EB74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08082" y="1376955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2A6F71"/>
                </a:solidFill>
                <a:latin typeface="Aptos"/>
              </a:defRPr>
            </a:pPr>
            <a:r>
              <a:rPr lang="en-US" sz="1400" b="1" dirty="0">
                <a:solidFill>
                  <a:srgbClr val="2A6F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RESEARCH GAP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49803" y="1281648"/>
            <a:ext cx="3474720" cy="2925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AI-based dengue decision-support system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risk predictions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RL-based intervention recommendations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 alerts and follow-up feedback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dengue health intelligence</a:t>
            </a:r>
          </a:p>
          <a:p>
            <a:pPr>
              <a:lnSpc>
                <a:spcPct val="200000"/>
              </a:lnSpc>
              <a:defRPr sz="1900" b="1">
                <a:solidFill>
                  <a:srgbClr val="223C3D"/>
                </a:solidFill>
                <a:latin typeface="Aptos"/>
              </a:defRPr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C390AEF2-1EE1-CF88-8A89-1F3D24FCBF38}"/>
              </a:ext>
            </a:extLst>
          </p:cNvPr>
          <p:cNvSpPr txBox="1"/>
          <p:nvPr/>
        </p:nvSpPr>
        <p:spPr>
          <a:xfrm>
            <a:off x="2" y="4924468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7" grpId="0" animBg="1"/>
      <p:bldP spid="8" grpId="0" animBg="1"/>
      <p:bldP spid="9" grpId="0" animBg="1"/>
      <p:bldP spid="10" grpId="0"/>
      <p:bldP spid="21" grpId="0"/>
      <p:bldP spid="22" grpId="0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FE13D7-AB42-B502-BB24-C405160AB518}"/>
              </a:ext>
            </a:extLst>
          </p:cNvPr>
          <p:cNvSpPr txBox="1"/>
          <p:nvPr/>
        </p:nvSpPr>
        <p:spPr>
          <a:xfrm>
            <a:off x="495300" y="135922"/>
            <a:ext cx="7345680" cy="453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dengue outbreak risk as Low, Medium, or High.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factors influencing dengue predictions using SHAP.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suitable interventions using Q-Learning.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multilingual dengue health information and misinformation analysis.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PHI officers with AI-assisted field inspection.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all components into one Flutter mobile application.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F745D6BB-9B5A-139E-2A16-3B505B021A8C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93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F5DAC3-BEE9-D0FB-6DE0-0BFAB869C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47"/>
          <a:stretch>
            <a:fillRect/>
          </a:stretch>
        </p:blipFill>
        <p:spPr>
          <a:xfrm>
            <a:off x="1324927" y="204287"/>
            <a:ext cx="7023968" cy="4472216"/>
          </a:xfrm>
          <a:prstGeom prst="rect">
            <a:avLst/>
          </a:prstGeom>
        </p:spPr>
      </p:pic>
      <p:sp>
        <p:nvSpPr>
          <p:cNvPr id="5" name="TextBox 13">
            <a:extLst>
              <a:ext uri="{FF2B5EF4-FFF2-40B4-BE49-F238E27FC236}">
                <a16:creationId xmlns:a16="http://schemas.microsoft.com/office/drawing/2014/main" id="{90F55B81-BDE2-06B5-F84B-91E8D5E5B831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173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E07A7D0B-4231-5E0A-A95C-638B6E20E126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IT22214034|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Keenavinna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K.A.A.I.U. | R26 - IT - 061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9F9652C-E642-816F-FFBC-6ADF77FAF09D}"/>
              </a:ext>
            </a:extLst>
          </p:cNvPr>
          <p:cNvSpPr txBox="1"/>
          <p:nvPr/>
        </p:nvSpPr>
        <p:spPr>
          <a:xfrm>
            <a:off x="958056" y="1144926"/>
            <a:ext cx="7227888" cy="2403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i="1" dirty="0">
                <a:effectLst>
                  <a:outerShdw sx="0" sy="0">
                    <a:srgbClr val="000000"/>
                  </a:outerShdw>
                </a:effectLst>
              </a:rPr>
              <a:t>Machine Learning-Based Dengue Outbreak Prediction</a:t>
            </a:r>
          </a:p>
          <a:p>
            <a:pPr algn="ctr">
              <a:lnSpc>
                <a:spcPts val="8849"/>
              </a:lnSpc>
            </a:pPr>
            <a:endParaRPr lang="en-US" sz="6000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3C787A7-51D1-AEB1-16E1-053BEB64104C}"/>
              </a:ext>
            </a:extLst>
          </p:cNvPr>
          <p:cNvSpPr txBox="1"/>
          <p:nvPr/>
        </p:nvSpPr>
        <p:spPr>
          <a:xfrm>
            <a:off x="2398296" y="3540013"/>
            <a:ext cx="4178968" cy="34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300" dirty="0" err="1">
                <a:solidFill>
                  <a:srgbClr val="050F0F"/>
                </a:solidFill>
                <a:latin typeface="Canva Sans"/>
                <a:ea typeface="Canva Sans"/>
                <a:cs typeface="Canva Sans"/>
                <a:sym typeface="Canva Sans"/>
              </a:rPr>
              <a:t>Keenavinna</a:t>
            </a:r>
            <a:r>
              <a:rPr lang="en-US" sz="2300" dirty="0">
                <a:solidFill>
                  <a:srgbClr val="050F0F"/>
                </a:solidFill>
                <a:latin typeface="Canva Sans"/>
                <a:ea typeface="Canva Sans"/>
                <a:cs typeface="Canva Sans"/>
                <a:sym typeface="Canva Sans"/>
              </a:rPr>
              <a:t> K.A.A.I.U | IT22214034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AC99D-83C5-2757-04B0-2F1DCBBE736C}"/>
              </a:ext>
            </a:extLst>
          </p:cNvPr>
          <p:cNvSpPr txBox="1"/>
          <p:nvPr/>
        </p:nvSpPr>
        <p:spPr>
          <a:xfrm>
            <a:off x="1193512" y="4361669"/>
            <a:ext cx="7329953" cy="348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4"/>
              </a:lnSpc>
            </a:pP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SPECIALIZATION : INFORMATION TECHNOLOGY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84591E2-EEDD-7FFA-BBFF-442B5ABB6888}"/>
              </a:ext>
            </a:extLst>
          </p:cNvPr>
          <p:cNvSpPr/>
          <p:nvPr/>
        </p:nvSpPr>
        <p:spPr>
          <a:xfrm>
            <a:off x="886172" y="3067099"/>
            <a:ext cx="7576753" cy="0"/>
          </a:xfrm>
          <a:prstGeom prst="line">
            <a:avLst/>
          </a:prstGeom>
          <a:ln w="3810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A483F-BB52-93F6-CA37-025505856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4" y="49515"/>
            <a:ext cx="1306286" cy="12255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624FD-B0E9-A7C6-B559-7FB19779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99165-EB99-7A41-5241-1B7BDB94D22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52653-FC6B-25E8-3E84-4444DF54738F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28875E19-94AF-5BD4-47EE-C179F3A4234F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IT22214034|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Keenavinna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K.A.A.I.U. | R26 - IT - 061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FB28B-EA0C-45AD-E4C1-D16852A0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243" y="1146763"/>
            <a:ext cx="3891257" cy="2188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0C5B59-7E95-F374-7926-311D1C339FE1}"/>
              </a:ext>
            </a:extLst>
          </p:cNvPr>
          <p:cNvSpPr txBox="1"/>
          <p:nvPr/>
        </p:nvSpPr>
        <p:spPr>
          <a:xfrm>
            <a:off x="190500" y="670560"/>
            <a:ext cx="470154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Dengue Outbreak Risk Prediction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historical dengue surveillance and weather data.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include dengue patterns, rainfall, humidity, temperature, year, week, and month.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 predicts: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Risk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Risk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Risk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displayed through the mobile application.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996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3E8AA-694D-FD55-B6C1-418F7185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22D46E-38BE-E804-7421-E25D94593CA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120D6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A4742F-62C6-EA73-DA05-62BB708BAAD4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87FA9EEB-D432-2DB8-238E-BFC5E549EF56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IT22165848 | Hettiarachchi A T  | R26 - IT - 061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D8C3008-59C7-C6FC-9F75-48CE5DD30E95}"/>
              </a:ext>
            </a:extLst>
          </p:cNvPr>
          <p:cNvSpPr txBox="1"/>
          <p:nvPr/>
        </p:nvSpPr>
        <p:spPr>
          <a:xfrm>
            <a:off x="958056" y="1143019"/>
            <a:ext cx="7227888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ctr" fontAlgn="base"/>
            <a:r>
              <a:rPr lang="en-US" sz="4400" b="1" i="1" dirty="0">
                <a:effectLst>
                  <a:outerShdw sx="0" sy="0">
                    <a:srgbClr val="000000"/>
                  </a:outerShdw>
                </a:effectLst>
              </a:rPr>
              <a:t>SHAP-Based Explainable Artificial Intelligence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369AACF-59E3-6527-1EE7-9072F55F62DB}"/>
              </a:ext>
            </a:extLst>
          </p:cNvPr>
          <p:cNvSpPr txBox="1"/>
          <p:nvPr/>
        </p:nvSpPr>
        <p:spPr>
          <a:xfrm>
            <a:off x="1956676" y="3587470"/>
            <a:ext cx="4932948" cy="263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2400" dirty="0">
                <a:latin typeface="Canva Sans"/>
                <a:ea typeface="Canva Sans"/>
                <a:cs typeface="Canva Sans"/>
                <a:sym typeface="Canva Sans"/>
              </a:rPr>
              <a:t>Hettiarachchi A.T.| IT22165848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13E32-DF4D-231B-E9EA-B0FBF48A00F5}"/>
              </a:ext>
            </a:extLst>
          </p:cNvPr>
          <p:cNvSpPr txBox="1"/>
          <p:nvPr/>
        </p:nvSpPr>
        <p:spPr>
          <a:xfrm>
            <a:off x="1193512" y="4361669"/>
            <a:ext cx="7329953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4"/>
              </a:lnSpc>
            </a:pP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SPECIALIZATION : INFORMATION TECHNOLOGY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903AEBD5-1A0E-4571-9653-442F62736BF6}"/>
              </a:ext>
            </a:extLst>
          </p:cNvPr>
          <p:cNvSpPr/>
          <p:nvPr/>
        </p:nvSpPr>
        <p:spPr>
          <a:xfrm>
            <a:off x="886172" y="3067099"/>
            <a:ext cx="7576753" cy="0"/>
          </a:xfrm>
          <a:prstGeom prst="line">
            <a:avLst/>
          </a:prstGeom>
          <a:ln w="3810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C9C7B2-7997-6A24-F70F-918C6CBB5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752" y="50048"/>
            <a:ext cx="1271248" cy="134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3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C1EDC-B954-01B6-2834-17F65596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D63A9A-D664-DA0E-F921-53A79E7B444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60A5E3-AB59-8E58-9CD4-4596C0A4FEEB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B54139FE-B0E7-4C0F-E012-F8E989C2B740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IT22165848 | Hettiarachchi A T  | R26 - IT - 061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C5BD75-C6D1-47B1-D0BB-F2199E8BA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597" y="1349200"/>
            <a:ext cx="3798173" cy="21362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56A975-1DD8-DFED-A915-536CA66F5EC4}"/>
              </a:ext>
            </a:extLst>
          </p:cNvPr>
          <p:cNvSpPr txBox="1"/>
          <p:nvPr/>
        </p:nvSpPr>
        <p:spPr>
          <a:xfrm>
            <a:off x="-3266" y="583377"/>
            <a:ext cx="5267597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Using SHAP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explains why the ML model produced a risk prediction by showing each feature’s contribution.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explanation identifies factors affecting one specific prediction and their positive or negative impact.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important factors such as historical dengue cases and environmental conditions.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transparency, interpretability, and trust in AI-generated predictions.</a:t>
            </a:r>
          </a:p>
        </p:txBody>
      </p:sp>
    </p:spTree>
    <p:extLst>
      <p:ext uri="{BB962C8B-B14F-4D97-AF65-F5344CB8AC3E}">
        <p14:creationId xmlns:p14="http://schemas.microsoft.com/office/powerpoint/2010/main" val="101510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0236A-D4B4-5B0F-DCD4-AC7F2033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EAEAD-EE4F-8CF9-5F2B-501665C41E5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120D6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9227A-4841-B215-A5B7-B8A9FBAF4CD4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7BCA4D28-3C98-E3A0-F9E7-C521EB8E8066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IT22243980 | Wickramarachchi T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| R26 - IT - 061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24C1F8E-FDF3-7628-7336-A4377FC46606}"/>
              </a:ext>
            </a:extLst>
          </p:cNvPr>
          <p:cNvSpPr txBox="1"/>
          <p:nvPr/>
        </p:nvSpPr>
        <p:spPr>
          <a:xfrm>
            <a:off x="958056" y="874533"/>
            <a:ext cx="7227888" cy="2403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i="1" dirty="0">
                <a:effectLst>
                  <a:outerShdw sx="0" sy="0">
                    <a:srgbClr val="000000"/>
                  </a:outerShdw>
                </a:effectLst>
              </a:rPr>
              <a:t>Reinforcement Learning-Based Intervention Recommendation</a:t>
            </a:r>
          </a:p>
          <a:p>
            <a:pPr algn="ctr">
              <a:lnSpc>
                <a:spcPts val="8849"/>
              </a:lnSpc>
            </a:pPr>
            <a:endParaRPr lang="en-US" sz="6000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9D648E9-650D-02C2-0140-A7722258063F}"/>
              </a:ext>
            </a:extLst>
          </p:cNvPr>
          <p:cNvSpPr txBox="1"/>
          <p:nvPr/>
        </p:nvSpPr>
        <p:spPr>
          <a:xfrm>
            <a:off x="2398296" y="3540013"/>
            <a:ext cx="542744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14"/>
              </a:lnSpc>
            </a:pPr>
            <a:r>
              <a:rPr lang="en-US" sz="2400" dirty="0">
                <a:latin typeface="Canva Sans"/>
                <a:ea typeface="Canva Sans"/>
                <a:cs typeface="Canva Sans"/>
                <a:sym typeface="Canva Sans"/>
              </a:rPr>
              <a:t>Wickramarachchi T.T.</a:t>
            </a: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| IT22243980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FEC62-427A-9AA3-D5A6-D9B45BDD4CBA}"/>
              </a:ext>
            </a:extLst>
          </p:cNvPr>
          <p:cNvSpPr txBox="1"/>
          <p:nvPr/>
        </p:nvSpPr>
        <p:spPr>
          <a:xfrm>
            <a:off x="1193512" y="4361669"/>
            <a:ext cx="7329953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4"/>
              </a:lnSpc>
            </a:pP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SPECIALIZATION : INFORMATION TECHNOLOGY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49568195-EE48-8632-942E-AAFB0CA5DBF2}"/>
              </a:ext>
            </a:extLst>
          </p:cNvPr>
          <p:cNvSpPr/>
          <p:nvPr/>
        </p:nvSpPr>
        <p:spPr>
          <a:xfrm>
            <a:off x="886172" y="3067099"/>
            <a:ext cx="7576753" cy="0"/>
          </a:xfrm>
          <a:prstGeom prst="line">
            <a:avLst/>
          </a:prstGeom>
          <a:ln w="3810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89F0F-19C4-5F10-73B4-755561AC8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143" y="54864"/>
            <a:ext cx="1008857" cy="134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7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D16ED-B53D-FAB4-D09A-7F9A6F41E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1F622D-C6A8-C0B8-7113-0E247FCCA29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0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C3A6E-4C0F-03D8-6704-CB27AA95BABE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5C1E1E76-D568-1838-28CB-F1B4483249D4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rgbClr val="120D6D"/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IT22243980 | Wickramarachchi T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| R26 - IT - 061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A305A1-57C9-BC26-5A55-1A90B259E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500" y="1367789"/>
            <a:ext cx="3976859" cy="22367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31684A-7E87-D41C-FFA4-77F693D6B090}"/>
              </a:ext>
            </a:extLst>
          </p:cNvPr>
          <p:cNvSpPr txBox="1"/>
          <p:nvPr/>
        </p:nvSpPr>
        <p:spPr>
          <a:xfrm>
            <a:off x="198119" y="646806"/>
            <a:ext cx="504661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Learning-Based Intervention Optimization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Q-Learning to recommend suitable dengue interventions.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context 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Dengue cases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selects the best intervention based on previous rewards.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actions: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Only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Fumigation Teams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Public Health Alert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Hospital Readiness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Cleanup Campaign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69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E2C44-5A24-D966-3442-29228A07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E4B70B-FB5D-BA9B-680B-3DFC50D529E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54E0C-CC03-0A26-1A76-0CCBD56E9211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DE858363-D5EA-426C-200B-407E521EEF50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IT22281982 | Adithya A 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 | R26 - IT - 061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58796C9-3E63-CB90-ADDC-1E7CDF9C24E2}"/>
              </a:ext>
            </a:extLst>
          </p:cNvPr>
          <p:cNvSpPr txBox="1"/>
          <p:nvPr/>
        </p:nvSpPr>
        <p:spPr>
          <a:xfrm>
            <a:off x="958056" y="798070"/>
            <a:ext cx="7227888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i="1" dirty="0">
                <a:solidFill>
                  <a:sysClr val="windowText" lastClr="000000"/>
                </a:solidFill>
                <a:effectLst>
                  <a:outerShdw sx="0" sy="0">
                    <a:srgbClr val="000000"/>
                  </a:outerShdw>
                </a:effectLst>
              </a:rPr>
              <a:t>PHI Field Inspection Multilingual Dengue Health Intelligence</a:t>
            </a:r>
            <a:endParaRPr lang="en-US" sz="6000" b="1" dirty="0">
              <a:solidFill>
                <a:sysClr val="windowText" lastClr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B71E6CF-52FC-4E99-1573-B4ECD08C3DF1}"/>
              </a:ext>
            </a:extLst>
          </p:cNvPr>
          <p:cNvSpPr txBox="1"/>
          <p:nvPr/>
        </p:nvSpPr>
        <p:spPr>
          <a:xfrm>
            <a:off x="2398296" y="3540013"/>
            <a:ext cx="417896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4"/>
              </a:lnSpc>
            </a:pPr>
            <a:r>
              <a:rPr lang="en-US" sz="2400" dirty="0">
                <a:latin typeface="Canva Sans"/>
                <a:ea typeface="Canva Sans"/>
                <a:cs typeface="Canva Sans"/>
                <a:sym typeface="Canva Sans"/>
              </a:rPr>
              <a:t>Adithya A.A.H.</a:t>
            </a: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| </a:t>
            </a:r>
            <a:r>
              <a:rPr lang="en-US" sz="2400" dirty="0">
                <a:latin typeface="Canva Sans"/>
                <a:ea typeface="Canva Sans"/>
                <a:cs typeface="Canva Sans"/>
                <a:sym typeface="Canva Sans"/>
              </a:rPr>
              <a:t>IT22281982</a:t>
            </a:r>
            <a:endParaRPr lang="en-US" sz="2300" dirty="0"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91465-CED5-D3E7-50DF-48DD74FCE51F}"/>
              </a:ext>
            </a:extLst>
          </p:cNvPr>
          <p:cNvSpPr txBox="1"/>
          <p:nvPr/>
        </p:nvSpPr>
        <p:spPr>
          <a:xfrm>
            <a:off x="1193512" y="4361669"/>
            <a:ext cx="7329953" cy="34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4"/>
              </a:lnSpc>
            </a:pPr>
            <a:r>
              <a:rPr lang="en-US" sz="2300" dirty="0">
                <a:latin typeface="Canva Sans"/>
                <a:ea typeface="Canva Sans"/>
                <a:cs typeface="Canva Sans"/>
                <a:sym typeface="Canva Sans"/>
              </a:rPr>
              <a:t>SPECIALIZATION : INFORMATION TECHNOLOGY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A1C5040C-9A1B-0142-155F-FF00201E0904}"/>
              </a:ext>
            </a:extLst>
          </p:cNvPr>
          <p:cNvSpPr/>
          <p:nvPr/>
        </p:nvSpPr>
        <p:spPr>
          <a:xfrm>
            <a:off x="886172" y="3067099"/>
            <a:ext cx="7576753" cy="0"/>
          </a:xfrm>
          <a:prstGeom prst="line">
            <a:avLst/>
          </a:prstGeom>
          <a:ln w="3810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D3B17-3853-6217-6632-040DA20FB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468" y="54864"/>
            <a:ext cx="1177001" cy="117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0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/>
      <p:bldP spid="10" grpId="0"/>
      <p:bldP spid="11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55A15-25E6-20C9-865A-24A99C81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9B11E9-0DDC-5211-F6E7-E0ABA89F424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33672C-83E3-BFCE-9E1D-5A089071B6A5}"/>
              </a:ext>
            </a:extLst>
          </p:cNvPr>
          <p:cNvSpPr/>
          <p:nvPr/>
        </p:nvSpPr>
        <p:spPr>
          <a:xfrm>
            <a:off x="0" y="5005137"/>
            <a:ext cx="9144000" cy="138363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9E7300B2-1F84-1D23-5755-2A3245E6AEC7}"/>
              </a:ext>
            </a:extLst>
          </p:cNvPr>
          <p:cNvSpPr txBox="1"/>
          <p:nvPr/>
        </p:nvSpPr>
        <p:spPr>
          <a:xfrm>
            <a:off x="0" y="4924900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IT22281982 | Adithya A  </a:t>
            </a:r>
            <a:r>
              <a:rPr lang="en-US" sz="949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sz="94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 | R26 - IT - 061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42CC9-7F66-37A5-2F0C-9EE23460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742" y="1306830"/>
            <a:ext cx="3836277" cy="2157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0058BB-8759-7811-5FC8-0149D2E52060}"/>
              </a:ext>
            </a:extLst>
          </p:cNvPr>
          <p:cNvSpPr txBox="1"/>
          <p:nvPr/>
        </p:nvSpPr>
        <p:spPr>
          <a:xfrm>
            <a:off x="110882" y="701045"/>
            <a:ext cx="4975860" cy="3741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Dengue Health Intelligence and AI-Assisted PHI Field Inspection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symptoms, prevention, treatment-related information, risk factors, official guidelines, and misinformation detection.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 officers upload multiple inspection images with location and inspection details.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vision identifies possible mosquito breeding-risk conditions, while PHI officers review results and take final field action.</a:t>
            </a:r>
          </a:p>
        </p:txBody>
      </p:sp>
    </p:spTree>
    <p:extLst>
      <p:ext uri="{BB962C8B-B14F-4D97-AF65-F5344CB8AC3E}">
        <p14:creationId xmlns:p14="http://schemas.microsoft.com/office/powerpoint/2010/main" val="3461963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4914900"/>
            <a:ext cx="9144000" cy="228600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3090D5D3-E3E9-BA21-E4A7-AEED1213B3D5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1000" b="1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R26 - IT - 061 | </a:t>
            </a:r>
            <a:r>
              <a:rPr lang="en-US" sz="1000">
                <a:solidFill>
                  <a:schemeClr val="bg1"/>
                </a:solidFill>
                <a:latin typeface="Aptos"/>
              </a:rPr>
              <a:t>An AI-Based Dengue Outbreak Prediction and Intervention Optimization System for the Colombo District, Sri Lanka</a:t>
            </a:r>
            <a:endParaRPr lang="en-US" sz="1000" b="1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E1445-10F2-EEDD-4BC7-A6A6CF354EDD}"/>
              </a:ext>
            </a:extLst>
          </p:cNvPr>
          <p:cNvSpPr txBox="1"/>
          <p:nvPr/>
        </p:nvSpPr>
        <p:spPr>
          <a:xfrm>
            <a:off x="1374564" y="79846"/>
            <a:ext cx="6394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Testimonials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ABB234-ED5D-CCC2-B088-DF7C01529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724783"/>
              </p:ext>
            </p:extLst>
          </p:nvPr>
        </p:nvGraphicFramePr>
        <p:xfrm>
          <a:off x="414229" y="1617105"/>
          <a:ext cx="5115141" cy="2374003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030663">
                  <a:extLst>
                    <a:ext uri="{9D8B030D-6E8A-4147-A177-3AD203B41FA5}">
                      <a16:colId xmlns:a16="http://schemas.microsoft.com/office/drawing/2014/main" val="4165840097"/>
                    </a:ext>
                  </a:extLst>
                </a:gridCol>
                <a:gridCol w="1182292">
                  <a:extLst>
                    <a:ext uri="{9D8B030D-6E8A-4147-A177-3AD203B41FA5}">
                      <a16:colId xmlns:a16="http://schemas.microsoft.com/office/drawing/2014/main" val="1365195349"/>
                    </a:ext>
                  </a:extLst>
                </a:gridCol>
                <a:gridCol w="1065654">
                  <a:extLst>
                    <a:ext uri="{9D8B030D-6E8A-4147-A177-3AD203B41FA5}">
                      <a16:colId xmlns:a16="http://schemas.microsoft.com/office/drawing/2014/main" val="1011134678"/>
                    </a:ext>
                  </a:extLst>
                </a:gridCol>
                <a:gridCol w="918266">
                  <a:extLst>
                    <a:ext uri="{9D8B030D-6E8A-4147-A177-3AD203B41FA5}">
                      <a16:colId xmlns:a16="http://schemas.microsoft.com/office/drawing/2014/main" val="4072515720"/>
                    </a:ext>
                  </a:extLst>
                </a:gridCol>
                <a:gridCol w="918266">
                  <a:extLst>
                    <a:ext uri="{9D8B030D-6E8A-4147-A177-3AD203B41FA5}">
                      <a16:colId xmlns:a16="http://schemas.microsoft.com/office/drawing/2014/main" val="2077530924"/>
                    </a:ext>
                  </a:extLst>
                </a:gridCol>
              </a:tblGrid>
              <a:tr h="70297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6342089"/>
                  </a:ext>
                </a:extLst>
              </a:tr>
              <a:tr h="84210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86.35%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86.37%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86.35%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86.36%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9405662"/>
                  </a:ext>
                </a:extLst>
              </a:tr>
              <a:tr h="8289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10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85.58%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85.65%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85.58%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85.60%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64651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499AC3D-8E3F-81A7-9F75-273D6E1E0EC2}"/>
              </a:ext>
            </a:extLst>
          </p:cNvPr>
          <p:cNvSpPr txBox="1"/>
          <p:nvPr/>
        </p:nvSpPr>
        <p:spPr>
          <a:xfrm>
            <a:off x="2271305" y="859264"/>
            <a:ext cx="4601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Model Performance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B702D-935A-E1D2-3D89-14C31066E9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945" y="1579070"/>
            <a:ext cx="2932204" cy="24120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80537-81E6-5CF4-112C-512BF2631B1B}"/>
              </a:ext>
            </a:extLst>
          </p:cNvPr>
          <p:cNvSpPr txBox="1"/>
          <p:nvPr/>
        </p:nvSpPr>
        <p:spPr>
          <a:xfrm>
            <a:off x="238329" y="397472"/>
            <a:ext cx="8442198" cy="5006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685800">
              <a:lnSpc>
                <a:spcPct val="7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cap="all" baseline="0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Feedback from Users 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939C7F5-7B25-468D-A5C3-27BC99497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330" y="1330393"/>
            <a:ext cx="4011798" cy="442608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Student – national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health sciences (nihs)</a:t>
            </a:r>
          </a:p>
        </p:txBody>
      </p:sp>
      <p:pic>
        <p:nvPicPr>
          <p:cNvPr id="5" name="WhatsApp Video 2026-09-01 at 12.47.01">
            <a:hlinkClick r:id="" action="ppaction://media"/>
            <a:extLst>
              <a:ext uri="{FF2B5EF4-FFF2-40B4-BE49-F238E27FC236}">
                <a16:creationId xmlns:a16="http://schemas.microsoft.com/office/drawing/2014/main" id="{6E4D127E-BFD0-60B9-8BAD-DEB191CA9A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30270" y="1776357"/>
            <a:ext cx="1627917" cy="2894076"/>
          </a:xfrm>
          <a:prstGeom prst="rect">
            <a:avLst/>
          </a:prstGeom>
          <a:noFill/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4884F17-3C68-7A54-87AD-F31078173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8597" y="1330393"/>
            <a:ext cx="4011930" cy="328590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 undergraduate - university of Plymouth , uk </a:t>
            </a:r>
          </a:p>
        </p:txBody>
      </p:sp>
      <p:pic>
        <p:nvPicPr>
          <p:cNvPr id="3" name="WhatsApp Video 2026-10-17 at 21.18.52">
            <a:hlinkClick r:id="" action="ppaction://media"/>
            <a:extLst>
              <a:ext uri="{FF2B5EF4-FFF2-40B4-BE49-F238E27FC236}">
                <a16:creationId xmlns:a16="http://schemas.microsoft.com/office/drawing/2014/main" id="{F90C9790-6753-B22E-ABC5-F701136EC36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32695" y="1776357"/>
            <a:ext cx="2083734" cy="2894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5657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9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36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100441"/>
            <a:ext cx="71323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23C3D"/>
                </a:solidFill>
                <a:latin typeface="Aptos"/>
              </a:defRPr>
            </a:pPr>
            <a:r>
              <a:rPr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&amp; Potential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947652"/>
            <a:ext cx="9144000" cy="195848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DFCF2-0AC3-5A28-4F0F-A733D9753421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1000" b="1" dirty="0">
                <a:solidFill>
                  <a:schemeClr val="bg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R26 - IT - 061 | 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AI-Based Dengue Outbreak Prediction and Intervention Optimization System for the Colombo District, Sri Lanka</a:t>
            </a:r>
            <a:endParaRPr lang="en-US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AC3D0-EEE3-3F78-9D85-AAB348D4A812}"/>
              </a:ext>
            </a:extLst>
          </p:cNvPr>
          <p:cNvSpPr txBox="1"/>
          <p:nvPr/>
        </p:nvSpPr>
        <p:spPr>
          <a:xfrm>
            <a:off x="335280" y="917139"/>
            <a:ext cx="6515100" cy="323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awareness of potential dengue risks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understandable AI predictions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intervention recommendations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PHI/MOH decision support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follow-up record keeping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access to dengue health information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proactive dengue prevention in Sri Lanka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BE906-0367-CC51-D574-61D5ABD3B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193E4AF-3646-F860-7E7A-ABC88FBC3888}"/>
              </a:ext>
            </a:extLst>
          </p:cNvPr>
          <p:cNvSpPr/>
          <p:nvPr/>
        </p:nvSpPr>
        <p:spPr>
          <a:xfrm>
            <a:off x="4763586" y="999434"/>
            <a:ext cx="3866048" cy="344193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925FC6-8570-5053-0B7D-56F9A03ADA84}"/>
              </a:ext>
            </a:extLst>
          </p:cNvPr>
          <p:cNvSpPr/>
          <p:nvPr/>
        </p:nvSpPr>
        <p:spPr>
          <a:xfrm>
            <a:off x="366846" y="1135422"/>
            <a:ext cx="3685408" cy="330594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A56EC-8234-7476-F996-DC4CC296B64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33A00-DDB1-1425-3F06-EE8872954A84}"/>
              </a:ext>
            </a:extLst>
          </p:cNvPr>
          <p:cNvSpPr txBox="1"/>
          <p:nvPr/>
        </p:nvSpPr>
        <p:spPr>
          <a:xfrm>
            <a:off x="1005840" y="132548"/>
            <a:ext cx="713232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223C3D"/>
                </a:solidFill>
                <a:latin typeface="Aptos"/>
              </a:defRPr>
            </a:pPr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Commercialization</a:t>
            </a:r>
            <a:endParaRPr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08BFD-13CF-C43C-04E3-F3E3A3E772A1}"/>
              </a:ext>
            </a:extLst>
          </p:cNvPr>
          <p:cNvSpPr txBox="1"/>
          <p:nvPr/>
        </p:nvSpPr>
        <p:spPr>
          <a:xfrm>
            <a:off x="960120" y="644529"/>
            <a:ext cx="7223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A6F71"/>
                </a:solidFill>
                <a:latin typeface="Aptos"/>
              </a:defRPr>
            </a:pPr>
            <a:r>
              <a:rPr lang="en-GB" sz="1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Commercialization Approach</a:t>
            </a:r>
            <a:endParaRPr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C5FDF8-5249-C0E8-B24B-16374BFECB41}"/>
              </a:ext>
            </a:extLst>
          </p:cNvPr>
          <p:cNvSpPr/>
          <p:nvPr/>
        </p:nvSpPr>
        <p:spPr>
          <a:xfrm>
            <a:off x="2" y="4914900"/>
            <a:ext cx="9144000" cy="228600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3B0D4-5BBB-6F69-12E3-DF35699DA34A}"/>
              </a:ext>
            </a:extLst>
          </p:cNvPr>
          <p:cNvSpPr txBox="1"/>
          <p:nvPr/>
        </p:nvSpPr>
        <p:spPr>
          <a:xfrm>
            <a:off x="1071696" y="1622258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A6F71"/>
                </a:solidFill>
                <a:latin typeface="Aptos"/>
              </a:defRPr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C13E1-FA92-831D-847C-CE02966F9468}"/>
              </a:ext>
            </a:extLst>
          </p:cNvPr>
          <p:cNvSpPr txBox="1"/>
          <p:nvPr/>
        </p:nvSpPr>
        <p:spPr>
          <a:xfrm>
            <a:off x="869691" y="1954661"/>
            <a:ext cx="3866048" cy="1887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of Health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Dengue Control Unit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 offices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Health Inspectors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and local authorities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2C73FC-9A4E-6544-1FD7-063B9088F9FB}"/>
              </a:ext>
            </a:extLst>
          </p:cNvPr>
          <p:cNvSpPr txBox="1"/>
          <p:nvPr/>
        </p:nvSpPr>
        <p:spPr>
          <a:xfrm>
            <a:off x="5532120" y="1385371"/>
            <a:ext cx="21031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A6F71"/>
                </a:solidFill>
                <a:latin typeface="Aptos"/>
              </a:defRPr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8B259-9419-5871-AE6D-7680BD21B8AB}"/>
              </a:ext>
            </a:extLst>
          </p:cNvPr>
          <p:cNvSpPr txBox="1"/>
          <p:nvPr/>
        </p:nvSpPr>
        <p:spPr>
          <a:xfrm>
            <a:off x="5134088" y="1482518"/>
            <a:ext cx="3436112" cy="2459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dengue decision-support platform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informed intervention planning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outputs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access for field officers 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Expandable to other districts in Sri Lanka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300" b="1">
                <a:solidFill>
                  <a:srgbClr val="223C3D"/>
                </a:solidFill>
                <a:latin typeface="Aptos"/>
              </a:defRPr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397A673D-C379-32A1-0CED-42F33BB4E700}"/>
              </a:ext>
            </a:extLst>
          </p:cNvPr>
          <p:cNvSpPr txBox="1"/>
          <p:nvPr/>
        </p:nvSpPr>
        <p:spPr>
          <a:xfrm>
            <a:off x="2" y="4883915"/>
            <a:ext cx="9144000" cy="29883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lIns="25400" tIns="25400" rIns="25400" bIns="25400" rtlCol="0" anchor="ctr"/>
          <a:lstStyle/>
          <a:p>
            <a:pPr>
              <a:lnSpc>
                <a:spcPts val="1330"/>
              </a:lnSpc>
            </a:pPr>
            <a:r>
              <a:rPr lang="en-US" sz="1000" b="1" dirty="0">
                <a:solidFill>
                  <a:schemeClr val="bg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R26 - IT - 061 | </a:t>
            </a: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AI-Based Dengue Outbreak Prediction and Intervention Optimization System for the Colombo District, Sri Lanka</a:t>
            </a:r>
            <a:endParaRPr lang="en-US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23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2" grpId="0" animBg="1"/>
      <p:bldP spid="3" grpId="0"/>
      <p:bldP spid="4" grpId="0"/>
      <p:bldP spid="7" grpId="0" animBg="1"/>
      <p:bldP spid="9" grpId="0"/>
      <p:bldP spid="10" grpId="0"/>
      <p:bldP spid="21" grpId="0"/>
      <p:bldP spid="22" grpId="0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4894241"/>
            <a:ext cx="9144000" cy="244687"/>
          </a:xfrm>
          <a:prstGeom prst="rect">
            <a:avLst/>
          </a:prstGeom>
          <a:solidFill>
            <a:srgbClr val="EB7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72735"/>
            <a:ext cx="54864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223C3D"/>
                </a:solidFill>
                <a:latin typeface="Aptos"/>
              </a:defRPr>
            </a:pPr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FCAA5217-BB1D-B839-5D9B-4FDCA965289E}"/>
              </a:ext>
            </a:extLst>
          </p:cNvPr>
          <p:cNvSpPr txBox="1"/>
          <p:nvPr/>
        </p:nvSpPr>
        <p:spPr>
          <a:xfrm>
            <a:off x="0" y="4828012"/>
            <a:ext cx="9144000" cy="31091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lIns="50800" tIns="50800" rIns="50800" bIns="50800" rtlCol="0" anchor="ctr"/>
          <a:lstStyle/>
          <a:p>
            <a:pPr>
              <a:lnSpc>
                <a:spcPts val="1330"/>
              </a:lnSpc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R26 - IT - 061 | 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AI-Based Dengue Outbreak Prediction and Intervention Optimization System for the Colombo District, Sri Lanka</a:t>
            </a:r>
            <a:endParaRPr lang="en-US" sz="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C206E-DEA2-D4B5-9248-2439644ADACE}"/>
              </a:ext>
            </a:extLst>
          </p:cNvPr>
          <p:cNvSpPr txBox="1"/>
          <p:nvPr/>
        </p:nvSpPr>
        <p:spPr>
          <a:xfrm>
            <a:off x="360317" y="657510"/>
            <a:ext cx="7917180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proposes an integrated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dengue decision-support platform for the Colombo District.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outbreak risk prediction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explanations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RL-based intervention optimization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health intelligence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PHI field inspection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mobile application and backend integration 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support more proactive, transparent, and data-driven dengue prevention and control.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09335-27FC-2DF7-62EE-466DFD29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5635C3-E58A-BDDA-20E6-244D0953892D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8764B-4970-0174-B894-930D10BF8236}"/>
              </a:ext>
            </a:extLst>
          </p:cNvPr>
          <p:cNvSpPr txBox="1"/>
          <p:nvPr/>
        </p:nvSpPr>
        <p:spPr>
          <a:xfrm>
            <a:off x="1874519" y="3568779"/>
            <a:ext cx="539496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A6F71"/>
                </a:solidFill>
                <a:latin typeface="Aptos"/>
              </a:defRPr>
            </a:pPr>
            <a:r>
              <a:rPr sz="60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/>
              </a:rPr>
              <a:t>THANK YOU</a:t>
            </a:r>
            <a:r>
              <a:rPr lang="en-US" sz="60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/>
              </a:rPr>
              <a:t>.</a:t>
            </a:r>
            <a:endParaRPr sz="6000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/>
            </a:endParaRP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98FD0B6C-2F9D-AEFB-4E7B-12A85EA92C76}"/>
              </a:ext>
            </a:extLst>
          </p:cNvPr>
          <p:cNvGrpSpPr/>
          <p:nvPr/>
        </p:nvGrpSpPr>
        <p:grpSpPr>
          <a:xfrm>
            <a:off x="0" y="4907413"/>
            <a:ext cx="9144000" cy="298835"/>
            <a:chOff x="0" y="-32148"/>
            <a:chExt cx="4816593" cy="157410"/>
          </a:xfrm>
          <a:solidFill>
            <a:srgbClr val="C00000"/>
          </a:solidFill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0192383B-16E8-7C4C-69C2-65ED22A5B74D}"/>
                </a:ext>
              </a:extLst>
            </p:cNvPr>
            <p:cNvSpPr/>
            <p:nvPr/>
          </p:nvSpPr>
          <p:spPr>
            <a:xfrm>
              <a:off x="0" y="-13098"/>
              <a:ext cx="4816592" cy="119310"/>
            </a:xfrm>
            <a:custGeom>
              <a:avLst/>
              <a:gdLst/>
              <a:ahLst/>
              <a:cxnLst/>
              <a:rect l="l" t="t" r="r" b="b"/>
              <a:pathLst>
                <a:path w="4816592" h="119310">
                  <a:moveTo>
                    <a:pt x="0" y="0"/>
                  </a:moveTo>
                  <a:lnTo>
                    <a:pt x="4816592" y="0"/>
                  </a:lnTo>
                  <a:lnTo>
                    <a:pt x="4816592" y="119310"/>
                  </a:lnTo>
                  <a:lnTo>
                    <a:pt x="0" y="119310"/>
                  </a:ln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BDEE6659-0246-4C4E-B002-04D059536621}"/>
                </a:ext>
              </a:extLst>
            </p:cNvPr>
            <p:cNvSpPr txBox="1"/>
            <p:nvPr/>
          </p:nvSpPr>
          <p:spPr>
            <a:xfrm>
              <a:off x="0" y="-32148"/>
              <a:ext cx="4816593" cy="157410"/>
            </a:xfrm>
            <a:prstGeom prst="rect">
              <a:avLst/>
            </a:prstGeom>
            <a:grpFill/>
            <a:ln>
              <a:solidFill>
                <a:srgbClr val="C00000"/>
              </a:solidFill>
            </a:ln>
          </p:spPr>
          <p:txBody>
            <a:bodyPr lIns="25400" tIns="25400" rIns="25400" bIns="25400" rtlCol="0" anchor="ctr"/>
            <a:lstStyle/>
            <a:p>
              <a:pPr>
                <a:lnSpc>
                  <a:spcPts val="1330"/>
                </a:lnSpc>
              </a:pPr>
              <a:r>
                <a:rPr lang="en-US" sz="900" b="1" dirty="0">
                  <a:solidFill>
                    <a:schemeClr val="bg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R26 - IT - 061 | </a:t>
              </a:r>
              <a:r>
                <a:rPr lang="en-US" sz="900" dirty="0">
                  <a:solidFill>
                    <a:schemeClr val="bg1"/>
                  </a:solidFill>
                  <a:latin typeface="Aptos"/>
                </a:rPr>
                <a:t>An AI-Based Dengue Outbreak Prediction and Intervention Optimization System for the Colombo District, Sri Lanka</a:t>
              </a:r>
              <a:endParaRPr lang="en-US" sz="900" b="1" dirty="0">
                <a:solidFill>
                  <a:schemeClr val="bg1"/>
                </a:solidFill>
                <a:latin typeface="Canva Sans" panose="020B0604020202020204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A0B2091-F8CC-EA02-8751-902B5867C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702" y="525701"/>
            <a:ext cx="3024596" cy="302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56695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3837</TotalTime>
  <Words>1347</Words>
  <Application>Microsoft Office PowerPoint</Application>
  <PresentationFormat>On-screen Show (16:9)</PresentationFormat>
  <Paragraphs>194</Paragraphs>
  <Slides>22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Arial</vt:lpstr>
      <vt:lpstr>Canva Sans</vt:lpstr>
      <vt:lpstr>Canva Sans Bold</vt:lpstr>
      <vt:lpstr>Felix Titling</vt:lpstr>
      <vt:lpstr>Goudy Old Style</vt:lpstr>
      <vt:lpstr>Haettenschweiler</vt:lpstr>
      <vt:lpstr>Times New Roman</vt:lpstr>
      <vt:lpstr>Trade Gothic Next Light</vt:lpstr>
      <vt:lpstr>Archway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Addiction Recovery App – Proposal</dc:title>
  <dc:subject>PptxGenJS Presentation</dc:subject>
  <dc:creator>PptxGenJS</dc:creator>
  <cp:lastModifiedBy>Ayanima Hettiarachchi</cp:lastModifiedBy>
  <cp:revision>73</cp:revision>
  <dcterms:created xsi:type="dcterms:W3CDTF">2026-03-10T16:55:03Z</dcterms:created>
  <dcterms:modified xsi:type="dcterms:W3CDTF">2026-10-18T04:56:13Z</dcterms:modified>
</cp:coreProperties>
</file>